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1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143000"/>
            <a:ext cx="10607040" cy="9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Đặc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tả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và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tích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hợp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kiểm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soát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truy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cập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dựa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trên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vai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trò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trong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Thiết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kế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hướng</a:t>
            </a:r>
            <a:r>
              <a:rPr lang="en-US" sz="31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Cambria"/>
              </a:rPr>
              <a:t>miền</a:t>
            </a:r>
            <a:endParaRPr sz="31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480060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800600"/>
            <a:ext cx="212140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PlantUML + OCL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36976" y="511606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38728" y="480060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8" y="4800600"/>
            <a:ext cx="212140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UDM — AST hợp nhất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2744" y="511606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54496" y="480060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1656" y="4800600"/>
            <a:ext cx="212140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Kiểm chứng USE / OCL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68512" y="5116068"/>
            <a:ext cx="274320" cy="237744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70264" y="4800600"/>
            <a:ext cx="2395728" cy="86868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4800600"/>
            <a:ext cx="212140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Monorepo NestJS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Vấn đề &amp; động lực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600200"/>
            <a:ext cx="60350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7292D"/>
                </a:solidFill>
                <a:latin typeface="Calibri"/>
              </a:rPr>
              <a:t>RBAC viết tay, rải rác khắp hệ thống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7278"/>
                </a:solidFill>
                <a:latin typeface="Calibri"/>
              </a:rPr>
              <a:t>Guard, decorator, check quyền lặp lại ở từng service. Thêm một role mới phải sửa nhiều nơi — dễ sai, khó truy vết.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127248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81528"/>
            <a:ext cx="60350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7292D"/>
                </a:solidFill>
                <a:latin typeface="Calibri"/>
              </a:rPr>
              <a:t>Ràng buộc xuyên miền không được hình thức hóa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7278"/>
                </a:solidFill>
                <a:latin typeface="Calibri"/>
              </a:rPr>
              <a:t>SSD/DSD giữa các bounded context, leo thang đặc quyền qua chuỗi role mapping… thường chỉ nằm trong tài liệu, không kiểm chứng được.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4608576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562856"/>
            <a:ext cx="60350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7292D"/>
                </a:solidFill>
                <a:latin typeface="Calibri"/>
              </a:rPr>
              <a:t>Model và code nhanh chóng lệch nhau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7278"/>
                </a:solidFill>
                <a:latin typeface="Calibri"/>
              </a:rPr>
              <a:t>Sơ đồ thiết kế lỗi thời ngay sau vài sprint; không có cơ chế bảo đảm code đúng với mô hình đã được duyệt.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00200"/>
            <a:ext cx="3886200" cy="3657600"/>
          </a:xfrm>
          <a:prstGeom prst="roundRect">
            <a:avLst>
              <a:gd name="adj" fmla="val 5500"/>
            </a:avLst>
          </a:prstGeom>
          <a:solidFill>
            <a:srgbClr val="0A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9659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CÂU HỎI NGHIÊN CỨU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468880"/>
            <a:ext cx="31546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Làm thế nào đặc tả RBAC cross-domain như một concern hạng nhất trong DDD,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kiểm chứng nó ngay ở mức thiết kế,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và tự động sinh ra hệ thống NestJS thực thi đúng đặc tả?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Bối cảnh nghiên cứu &amp; khoảng trống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11018520" cy="74980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Nền tảng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554480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alibri"/>
              </a:rPr>
              <a:t>Sandhu et al. 1996 · Ray–Li–France 2004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3891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Mô hình tham chiếu RBAC₀–₃; UML template + OCL + violation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74980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aDSL cho DDD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41448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alibri"/>
              </a:rPr>
              <a:t>DCSL 2018 · AGL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41448"/>
            <a:ext cx="43891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Đặc tả cấu trúc / hành vi bằng annotation; biến đổi UML → đặc tả → mã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28415"/>
            <a:ext cx="11018520" cy="74980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328415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Hợp nhất concern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328415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alibri"/>
              </a:rPr>
              <a:t>UDML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328415"/>
            <a:ext cx="43891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Compose nhiều concern vào một AST; tính trực giao và truy vết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215383"/>
            <a:ext cx="11018520" cy="749808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215383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Kiến trúc đích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215383"/>
            <a:ext cx="35661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alibri"/>
              </a:rPr>
              <a:t>TMSA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215383"/>
            <a:ext cx="43891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7278"/>
                </a:solidFill>
                <a:latin typeface="Calibri"/>
              </a:rPr>
              <a:t>Layered microservices trên multitree, hướng bounded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212079"/>
            <a:ext cx="11018520" cy="1234440"/>
          </a:xfrm>
          <a:prstGeom prst="roundRect">
            <a:avLst>
              <a:gd name="adj" fmla="val 5500"/>
            </a:avLst>
          </a:prstGeom>
          <a:solidFill>
            <a:srgbClr val="0A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394959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KHOẢNG
TRỐNG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340095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UDML mới liệt kê RBAC như một concern khả thi — chưa có aDSL ngang hàng DCSL/AGL.  TMSA chưa coi access control là concern compose được.  RBAC cross-domain (Li et al. 2022) chưa từng đi kèm một bộ sinh mã chính thống.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Ý tưởng cốt lõi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>
                <a:solidFill>
                  <a:srgbClr val="5A7278"/>
                </a:solidFill>
                <a:latin typeface="Calibri"/>
              </a:rPr>
              <a:t>Một pipeline duy nhất: từ sơ đồ đến hệ thống chạy được, có kiểm chứng ở giữa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606040" cy="18288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28090"/>
                </a:solidFill>
                <a:latin typeface="Calibri"/>
              </a:rPr>
              <a:t>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720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PlantUML class diagram + file OCL đồng hành (.puml / .ocl)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14116" y="2569464"/>
            <a:ext cx="292608" cy="256032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20440" y="1783080"/>
            <a:ext cx="2606040" cy="182880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96596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28090"/>
                </a:solidFill>
                <a:latin typeface="Calibri"/>
              </a:rPr>
              <a:t>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0720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Unified Domain Model — 3 concern trên cùng một cây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40196" y="2569464"/>
            <a:ext cx="292608" cy="256032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46520" y="1783080"/>
            <a:ext cx="2606040" cy="18288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28090"/>
                </a:solidFill>
                <a:latin typeface="Calibri"/>
              </a:rPr>
              <a:t>VERIFIED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0720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USE / Eclipse OCL kiểm chứng toàn bộ invariant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66276" y="2569464"/>
            <a:ext cx="292608" cy="256032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372600" y="1783080"/>
            <a:ext cx="2606040" cy="182880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196596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28090"/>
                </a:solidFill>
                <a:latin typeface="Calibri"/>
              </a:rP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80720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Monorepo NestJS: gateway + N domain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977639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1">
                <a:solidFill>
                  <a:srgbClr val="0A3438"/>
                </a:solidFill>
                <a:latin typeface="Calibri"/>
              </a:rPr>
              <a:t>Pipeline một chiều, deterministic — mọi thay đổi bắt đầu từ mô hình, không sửa tay code sinh 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617720"/>
            <a:ext cx="3584448" cy="14173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782312"/>
            <a:ext cx="3127248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RBAC là concern hạng nhất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Ngang hàng Structure (DCSL) và Behavior (AGL), compose theo cơ chế UDML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4617720"/>
            <a:ext cx="3584448" cy="14173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5424" y="4782312"/>
            <a:ext cx="3127248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Kiểm chứng trước khi sinh mã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Model sai bị chặn từ Stage 4 — lỗi phân quyền không lọt xuống runtime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9288" y="4617720"/>
            <a:ext cx="3584448" cy="141732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4782312"/>
            <a:ext cx="3127248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Truy vết model ↔ code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Mỗi file sinh ra chỉ ngược về phần tử sơ đồ và invariant OCL gốc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Mục tiêu &amp; đóng góp chính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45920"/>
            <a:ext cx="5440680" cy="21488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" y="192024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01952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RBAC-aDSL cross-domain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Metamodel mở rộng UDML; cú pháp cụ thể là decorator NestJS (@Role, @RequiresRole, @SSD, @DSD, @RoleMapping…); ngữ nghĩa OCL đầy đủ, gồm cả ràng buộc liên miền.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5440680" cy="21488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73952" y="192024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8312" y="1901952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Pipeline Diagram → AST → Verified Model →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606040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UDM hợp nhất 3 concern: Structure (DCSL), Behavior (AGL), RBAC. Mỗi giai đoạn có input/output rõ ràng, kiểm thử độc lập được.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59352"/>
            <a:ext cx="5440680" cy="21488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4233672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215384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Bộ sinh mã udm-gen (TypeScript)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19472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Handlebars + ts-morph: sinh entity TypeORM, DTO, service, controller, guard, decorator, role-mapper và cấu hình gateway.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959352"/>
            <a:ext cx="5440680" cy="21488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73952" y="4233672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4215384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Case study CourseMan đa miền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919472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Hai bounded context Academic × Finance; 7 kịch bản kiểm thử e2e; khung đánh giá 5 tiêu chí kế thừa từ nhóm nghiên cứu.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Nền tảng lý thuyết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>
                <a:solidFill>
                  <a:srgbClr val="5A7278"/>
                </a:solidFill>
                <a:latin typeface="Calibri"/>
              </a:rPr>
              <a:t>Bốn mạch nghiên cứu hợp lưu trong một metamodel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3584448" cy="178308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56232"/>
            <a:ext cx="3127248" cy="1453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DCSL — cấu trúc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DClass, DAttr, DAssoc: domain model đặc tả bằng annotation, sinh mã theo mẫu MOSA.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691640"/>
            <a:ext cx="3584448" cy="178308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5424" y="1856232"/>
            <a:ext cx="3127248" cy="1453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AGL — hành vi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Activity graph, ANode, MAct: use case là chuỗi hành động ở tầng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9288" y="1691640"/>
            <a:ext cx="3584448" cy="178308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47888" y="1856232"/>
            <a:ext cx="3127248" cy="1453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RBAC₀–₃ (Sandhu 1996)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User – Role – Permission – Session; role hierarchy (RBAC₁); ràng buộc SSD/DSD (RBAC₂).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75887"/>
            <a:ext cx="5440679" cy="16002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79"/>
            <a:ext cx="4983479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UDML — compose concern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Annotable / Annotation: gắn nhiều concern vào một AST; cross-DSL referencing; trực giao + truy vết.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3675887"/>
            <a:ext cx="5440679" cy="16002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1655" y="3840479"/>
            <a:ext cx="4983479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TMSA — kiến trúc đích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Multitree microservice: mỗi bounded context một cây dịch vụ; gateway nối các cây.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04688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5A7278"/>
                </a:solidFill>
                <a:latin typeface="Calibri"/>
              </a:rPr>
              <a:t>Đề tài chuyển toàn bộ tinh thần annotation-based DSL (Java) sang decorator TypeScript — tương đương trực tiếp về ngữ nghĩa.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Pipeline 6 giai đoạn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74520"/>
            <a:ext cx="31272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28090"/>
                </a:solidFill>
                <a:latin typeface="Cambria"/>
              </a:rPr>
              <a:t>1 · PARSE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31272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plantuml-parser / mermaid-parser / ocl-parser → AST trung gian từng nguồn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691640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5424" y="1874520"/>
            <a:ext cx="31272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28090"/>
                </a:solidFill>
                <a:latin typeface="Cambria"/>
              </a:rPr>
              <a:t>2 · UNIFY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2331720"/>
            <a:ext cx="31272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Lifter đưa các AST về Unified Domain Model — 3 concern, Annotable/Annotation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1691640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874520"/>
            <a:ext cx="31272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28090"/>
                </a:solidFill>
                <a:latin typeface="Cambria"/>
              </a:rPr>
              <a:t>3 ·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331720"/>
            <a:ext cx="31272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Tree-merging; bao đóng role hierarchy; cross-domain binding (role mapping, federation)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4297680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4480560"/>
            <a:ext cx="31272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28090"/>
                </a:solidFill>
                <a:latin typeface="Cambria"/>
              </a:rPr>
              <a:t>4 ·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937760"/>
            <a:ext cx="31272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Export sang .use → chạy invariant WF + RBAC; báo lỗi theo violation pattern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4297680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4480560"/>
            <a:ext cx="31272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28090"/>
                </a:solidFill>
                <a:latin typeface="Cambria"/>
              </a:rPr>
              <a:t>5 · 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4937760"/>
            <a:ext cx="31272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Handlebars render template + ts-morph hậu xử lý → monorepo NestJS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97680"/>
            <a:ext cx="3584448" cy="19202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31272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28090"/>
                </a:solidFill>
                <a:latin typeface="Cambria"/>
              </a:rPr>
              <a:t>6 ·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31272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Gateway + N domain service; JWT propagation, RolesGuard, PDP cross-domain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169664" y="2532888"/>
            <a:ext cx="155448" cy="23774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7882127" y="2532888"/>
            <a:ext cx="155448" cy="23774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 rot="5400000">
            <a:off x="9692640" y="3721608"/>
            <a:ext cx="237744" cy="457200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 rot="10800000">
            <a:off x="4160520" y="5138928"/>
            <a:ext cx="155448" cy="23774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 rot="10800000">
            <a:off x="7872983" y="5138928"/>
            <a:ext cx="155448" cy="23774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Đầu vào: profile PlantUML + OCL đồng hành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5486400" cy="3657600"/>
          </a:xfrm>
          <a:prstGeom prst="roundRect">
            <a:avLst>
              <a:gd name="adj" fmla="val 5500"/>
            </a:avLst>
          </a:prstGeom>
          <a:solidFill>
            <a:srgbClr val="0E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50292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9EDDE2"/>
                </a:solidFill>
                <a:latin typeface="Courier New"/>
              </a:rPr>
              <a:t>' academic.puml — concern Structure + RBAC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Courier New"/>
              </a:rPr>
              <a:t>class Student &lt;&lt;Entity&gt;&gt; {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CFE9EB"/>
                </a:solidFill>
                <a:latin typeface="Courier New"/>
              </a:rPr>
              <a:t>  +id: Int &lt;&lt;Id, Auto&gt;&gt;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CFE9EB"/>
                </a:solidFill>
                <a:latin typeface="Courier New"/>
              </a:rPr>
              <a:t>  +name: String &lt;&lt;Length=30&gt;&gt;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Courier New"/>
              </a:rPr>
              <a:t>}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9E795"/>
                </a:solidFill>
                <a:latin typeface="Courier New"/>
              </a:rPr>
              <a:t>class Registrar &lt;&lt;Role&gt;&gt;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F9E795"/>
                </a:solidFill>
                <a:latin typeface="Courier New"/>
              </a:rPr>
              <a:t>class WriteStudent &lt;&lt;Permission&gt;&gt; {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CFE9EB"/>
                </a:solidFill>
                <a:latin typeface="Courier New"/>
              </a:rPr>
              <a:t>  +target: Student   +operation: "write"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F9E795"/>
                </a:solidFill>
                <a:latin typeface="Courier New"/>
              </a:rPr>
              <a:t>}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8AE6C9"/>
                </a:solidFill>
                <a:latin typeface="Courier New"/>
              </a:rPr>
              <a:t>Registrar ..&gt; WriteStudent : &lt;&lt;grants&gt;&gt;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8AE6C9"/>
                </a:solidFill>
                <a:latin typeface="Courier New"/>
              </a:rPr>
              <a:t>note: &lt;&lt;SSD&gt;&gt; with Finance::Auditor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554480"/>
            <a:ext cx="5257800" cy="2148840"/>
          </a:xfrm>
          <a:prstGeom prst="roundRect">
            <a:avLst>
              <a:gd name="adj" fmla="val 5500"/>
            </a:avLst>
          </a:prstGeom>
          <a:solidFill>
            <a:srgbClr val="0E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0" y="178308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9EDDE2"/>
                </a:solidFill>
                <a:latin typeface="Courier New"/>
              </a:rPr>
              <a:t>-- academic.ocl — ràng buộc hình thức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F9E795"/>
                </a:solidFill>
                <a:latin typeface="Courier New"/>
              </a:rPr>
              <a:t>context RoleMapping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CFE9EB"/>
                </a:solidFill>
                <a:latin typeface="Courier New"/>
              </a:rPr>
              <a:t>  inv Acyclic: not self.target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CFE9EB"/>
                </a:solidFill>
                <a:latin typeface="Courier New"/>
              </a:rPr>
              <a:t>    .transitiveMappings()-&gt;includes(self.source)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8AE6C9"/>
                </a:solidFill>
                <a:latin typeface="Courier New"/>
              </a:rPr>
              <a:t>  inv NoPrivilegeEscalation: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CFE9EB"/>
                </a:solidFill>
                <a:latin typeface="Courier New"/>
              </a:rPr>
              <a:t>    self.target.permissions-&gt;forAll(p | ...)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3886200"/>
            <a:ext cx="5257800" cy="132588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406908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17292D"/>
                </a:solidFill>
                <a:latin typeface="Calibri"/>
              </a:rPr>
              <a:t>Diagram = phần trực quan vẽ được; OCL = phần chính xác hình thức.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Stereotype = annotation mức model.  Namespace Domain::Role tách miền.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440680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5A7278"/>
                </a:solidFill>
                <a:latin typeface="Calibri"/>
              </a:rPr>
              <a:t>Mỗi sơ đồ X.puml có một file X.ocl đi kèm — sơ đồ không bị rối, còn ràng buộc vẫn đầy đủ để kiểm chứng. Mermaid là đầu vào tùy chọn cho sơ đồ nhỏ.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Unified Domain Model — một AST, ba concern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5760720" cy="10058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STRUCTURE  (DCSL)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69164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DomainClass · DomainField · DAssoc · mutable/immutable</a:t>
            </a:r>
          </a:p>
        </p:txBody>
      </p:sp>
      <p:sp>
        <p:nvSpPr>
          <p:cNvPr id="6" name="Right Arrow 5"/>
          <p:cNvSpPr/>
          <p:nvPr/>
        </p:nvSpPr>
        <p:spPr>
          <a:xfrm rot="5400000">
            <a:off x="1463040" y="2734056"/>
            <a:ext cx="219456" cy="38404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4519" y="275234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A7278"/>
                </a:solidFill>
                <a:latin typeface="Courier New"/>
              </a:rPr>
              <a:t>Permission.target  →  DomainClass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0400"/>
            <a:ext cx="5760720" cy="10058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004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Role · Permission · Grant · SSD/DSD · RoleMapping · Cardinality</a:t>
            </a:r>
          </a:p>
        </p:txBody>
      </p:sp>
      <p:sp>
        <p:nvSpPr>
          <p:cNvPr id="11" name="Right Arrow 10"/>
          <p:cNvSpPr/>
          <p:nvPr/>
        </p:nvSpPr>
        <p:spPr>
          <a:xfrm rot="5400000">
            <a:off x="1463040" y="4242816"/>
            <a:ext cx="219456" cy="38404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74519" y="426110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A7278"/>
                </a:solidFill>
                <a:latin typeface="Courier New"/>
              </a:rPr>
              <a:t>Permission.operation  ↔  DomainMethod / module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709160"/>
            <a:ext cx="5760720" cy="10058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BEHAVIOR  (AGL)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70916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7292D"/>
                </a:solidFill>
                <a:latin typeface="Calibri"/>
              </a:rPr>
              <a:t>ActivityGraph · ANode · MAct — giữ ở mức tối thiểu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691640"/>
            <a:ext cx="4892040" cy="2377440"/>
          </a:xfrm>
          <a:prstGeom prst="roundRect">
            <a:avLst>
              <a:gd name="adj" fmla="val 5500"/>
            </a:avLst>
          </a:prstGeom>
          <a:solidFill>
            <a:srgbClr val="0A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4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CƠ CHẾ UDML: ANNOTABLE /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331720"/>
            <a:ext cx="42519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Mọi phần tử (class, field, method…) là Annotable. Mỗi annotation thuộc một concern (DCSL / AGL / RBAC) và giữ back-reference tới target.</a:t>
            </a:r>
          </a:p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8AE6C9"/>
                </a:solidFill>
                <a:latin typeface="Calibri"/>
              </a:rPr>
              <a:t>→ Cross-DSL referencing ngay trong AST: RBAC trỏ thẳng vào phần tử cấu trúc.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251960"/>
            <a:ext cx="4892040" cy="14630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4416552"/>
            <a:ext cx="443484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Vì sao Behavior tối thiểu?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Cross-domain RBAC + OCL đầy đủ đã là khối lượng lớn; phần hành vi chỉ giữ orchestration cần thiết cho use case, đúng khuyến nghị phạm vi luận văn.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Compose concern — dệt RBAC vào mô hình lõi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82496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64592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7292D"/>
                </a:solidFill>
                <a:latin typeface="Calibri"/>
              </a:rPr>
              <a:t>Kiểm tra tính trực giao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A7278"/>
                </a:solidFill>
                <a:latin typeface="Calibri"/>
              </a:rPr>
              <a:t>Annotation RBAC chỉ được gắn vào Annotable hợp lệ (không gắn Role vào Field…)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798064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761488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7292D"/>
                </a:solidFill>
                <a:latin typeface="Calibri"/>
              </a:rPr>
              <a:t>Bao đóng role hierarchy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A7278"/>
                </a:solidFill>
                <a:latin typeface="Calibri"/>
              </a:rPr>
              <a:t>Transitive closure + kế thừa permission qua hierarchy — tính bằng vòng lặp fixed-point (RBAC₁)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913632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877056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7292D"/>
                </a:solidFill>
                <a:latin typeface="Calibri"/>
              </a:rPr>
              <a:t>Liên kết cross-domain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A7278"/>
                </a:solidFill>
                <a:latin typeface="Calibri"/>
              </a:rPr>
              <a:t>Role mapping giữa các miền: kiểm tra trust realm, thêm induced permission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992624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7292D"/>
                </a:solidFill>
                <a:latin typeface="Calibri"/>
              </a:rPr>
              <a:t>Phát sinh phần tử dẫn xuất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A7278"/>
                </a:solidFill>
                <a:latin typeface="Calibri"/>
              </a:rPr>
              <a:t>CRUD mặc định cho AggregateRoot, route handler, IRepository — như structural mapping của DCSL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54480"/>
            <a:ext cx="4206240" cy="502920"/>
          </a:xfrm>
          <a:prstGeom prst="roundRect">
            <a:avLst>
              <a:gd name="adj" fmla="val 55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57276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alibri"/>
              </a:rPr>
              <a:t>BA BẤT BIẾN SAU COMPOSE (UDML)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057400"/>
            <a:ext cx="4206240" cy="12344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2221992"/>
            <a:ext cx="3749039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Orthogonality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Thêm / bớt concern RBAC không phá vỡ Structure và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429000"/>
            <a:ext cx="4206240" cy="12344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3593592"/>
            <a:ext cx="3749039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Cohesion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Mọi tham chiếu cross-DSL đều resolve được sau compose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800600"/>
            <a:ext cx="4206240" cy="12344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4965192"/>
            <a:ext cx="3749039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Traceability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7292D"/>
                </a:solidFill>
                <a:latin typeface="Calibri"/>
              </a:rPr>
              <a:t>Mỗi annotation giữ source trỏ về vị trí trong .puml / .ocl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Kiểm chứng thiết kế bằng OCL — USE (Bremen)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45920"/>
            <a:ext cx="2606040" cy="7772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1645920"/>
            <a:ext cx="238658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250" b="1" i="0">
                <a:solidFill>
                  <a:srgbClr val="0A3438"/>
                </a:solidFill>
                <a:latin typeface="Calibri"/>
              </a:rPr>
              <a:t>UDM (AST)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18688" y="1924812"/>
            <a:ext cx="274320" cy="219456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20440" y="1645920"/>
            <a:ext cx="2606040" cy="7772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30168" y="1645920"/>
            <a:ext cx="238658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250" b="1" i="0">
                <a:solidFill>
                  <a:srgbClr val="0A3438"/>
                </a:solidFill>
                <a:latin typeface="Calibri"/>
              </a:rPr>
              <a:t>Exporter → file .use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44768" y="1924812"/>
            <a:ext cx="274320" cy="219456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6520" y="1645920"/>
            <a:ext cx="2606040" cy="7772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6248" y="1645920"/>
            <a:ext cx="238658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250" b="1" i="0">
                <a:solidFill>
                  <a:srgbClr val="0A3438"/>
                </a:solidFill>
                <a:latin typeface="Calibri"/>
              </a:rPr>
              <a:t>USE chạy invariant WF + RBAC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70848" y="1924812"/>
            <a:ext cx="274320" cy="219456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72600" y="1645920"/>
            <a:ext cx="2606040" cy="7772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82328" y="1645920"/>
            <a:ext cx="238658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250" b="1" i="0">
                <a:solidFill>
                  <a:srgbClr val="0A3438"/>
                </a:solidFill>
                <a:latin typeface="Calibri"/>
              </a:rPr>
              <a:t>Diagnostic + sourceLocation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173736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907792"/>
            <a:ext cx="4937760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Hai vai của OCL — tách bạch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Design-time: invariant trên metamodel + RBAC, kiểm chứng tĩnh bằng USE (Eclipse OCL kiểm tra chéo).
Runtime: một subset OCL được dịch sang TypeScript, sinh thẳng vào guard và validator.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1737360"/>
          </a:xfrm>
          <a:prstGeom prst="roundRect">
            <a:avLst>
              <a:gd name="adj" fmla="val 5500"/>
            </a:avLst>
          </a:prstGeom>
          <a:solidFill>
            <a:srgbClr val="0A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alibri"/>
              </a:rPr>
              <a:t>VÍ DỤ DIAGNOSTIC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10128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User “Peter” được gán cả Academic::Registrar lẫn Finance::Auditor — vi phạm SSD cross-domain</a:t>
            </a:r>
          </a:p>
          <a:p>
            <a:pPr algn="l"/>
            <a:r>
              <a:rPr sz="1150" b="0" i="0">
                <a:solidFill>
                  <a:srgbClr val="8AE6C9"/>
                </a:solidFill>
                <a:latin typeface="Courier New"/>
              </a:rPr>
              <a:t>inv NoConflictAcrossDomains  (courseman.ocl:23)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09160"/>
            <a:ext cx="11018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A7278"/>
                </a:solidFill>
                <a:latin typeface="Calibri"/>
              </a:rPr>
              <a:t>Violation của USE được khớp với violation pattern kiểu Ray–Li–France rồi phát ra Diagnostic trỏ về đúng dòng .puml/.ocl gốc — IDE highlight được. Model sai dừng ở đây, không bao giờ đi tiếp tới bước sinh mã.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Bộ sinh mã udm-gen: Handlebars + ts-morph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00200"/>
            <a:ext cx="5120640" cy="713232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2514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alibri"/>
              </a:rPr>
              <a:t>PlannerEngine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quyết định artifact cần sinh</a:t>
            </a:r>
          </a:p>
        </p:txBody>
      </p:sp>
      <p:sp>
        <p:nvSpPr>
          <p:cNvPr id="6" name="Right Arrow 5"/>
          <p:cNvSpPr/>
          <p:nvPr/>
        </p:nvSpPr>
        <p:spPr>
          <a:xfrm rot="5400000">
            <a:off x="1234440" y="2322576"/>
            <a:ext cx="18288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120640" cy="71323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514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alibri"/>
              </a:rPr>
              <a:t>ContextBuilder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5146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UDM AST → view model phẳng cho template</a:t>
            </a:r>
          </a:p>
        </p:txBody>
      </p:sp>
      <p:sp>
        <p:nvSpPr>
          <p:cNvPr id="10" name="Right Arrow 9"/>
          <p:cNvSpPr/>
          <p:nvPr/>
        </p:nvSpPr>
        <p:spPr>
          <a:xfrm rot="5400000">
            <a:off x="1234440" y="3236976"/>
            <a:ext cx="18288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3429000"/>
            <a:ext cx="5120640" cy="713232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514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alibri"/>
              </a:rPr>
              <a:t>HandlebarsEngine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290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render .hbs → mã TypeScript</a:t>
            </a:r>
          </a:p>
        </p:txBody>
      </p:sp>
      <p:sp>
        <p:nvSpPr>
          <p:cNvPr id="14" name="Right Arrow 13"/>
          <p:cNvSpPr/>
          <p:nvPr/>
        </p:nvSpPr>
        <p:spPr>
          <a:xfrm rot="5400000">
            <a:off x="1234440" y="4151376"/>
            <a:ext cx="18288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4343400"/>
            <a:ext cx="5120640" cy="713232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2514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alibri"/>
              </a:rPr>
              <a:t>PostProcessor (ts-morph)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3434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merge import, chèn decorator, format</a:t>
            </a:r>
          </a:p>
        </p:txBody>
      </p:sp>
      <p:sp>
        <p:nvSpPr>
          <p:cNvPr id="18" name="Right Arrow 17"/>
          <p:cNvSpPr/>
          <p:nvPr/>
        </p:nvSpPr>
        <p:spPr>
          <a:xfrm rot="5400000">
            <a:off x="1234440" y="5065776"/>
            <a:ext cx="18288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4360" y="5257800"/>
            <a:ext cx="5120640" cy="713232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257800"/>
            <a:ext cx="2514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alibri"/>
              </a:rPr>
              <a:t>FileEmitter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2578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7292D"/>
                </a:solidFill>
                <a:latin typeface="Calibri"/>
              </a:rPr>
              <a:t>ghi ra monorepo NestJS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600200"/>
            <a:ext cx="5623560" cy="169164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764792"/>
            <a:ext cx="5166360" cy="136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Phân công trách nhiệm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Handlebars (logic-less): sinh file mới — entity, DTO, guard, module; mọi logic đẩy về ContextBuilder.
ts-morph: thao tác AST — merge app.module.ts, chèn @UseGuards vào code có sẵn.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456432"/>
            <a:ext cx="5623560" cy="150876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621024"/>
            <a:ext cx="5166360" cy="1179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Idempotency &amp; truy vết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Header GENERATED chỉ ngược về class/invariant nguồn (.puml#class:Student). Protected region giữ code viết tay khi sinh lại — diff sạch, regression kiểm soát được.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120640"/>
            <a:ext cx="5623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5A7278"/>
                </a:solidFill>
                <a:latin typeface="Calibri"/>
              </a:rPr>
              <a:t>Sinh ra: entity TypeORM · DTO · service · controller · roles.guard · ssd.checker · role-mapper · cấu hình gateway &amp; JWT.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Kiến trúc runtime NestJS sinh 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0" y="1508760"/>
            <a:ext cx="4114800" cy="1234440"/>
          </a:xfrm>
          <a:prstGeom prst="roundRect">
            <a:avLst>
              <a:gd name="adj" fmla="val 5500"/>
            </a:avLst>
          </a:prstGeom>
          <a:solidFill>
            <a:srgbClr val="0A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51960" y="164592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API GATEWAY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8AE6C9"/>
                </a:solidFill>
                <a:latin typeface="Calibri"/>
              </a:rPr>
              <a:t>JwtStrategy · CrossDomainGuard · RoleMapperService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798064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A7278"/>
                </a:solidFill>
                <a:latin typeface="Courier New"/>
              </a:rPr>
              <a:t>JWT: sub · activeRoles · sessionId · domain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291840"/>
            <a:ext cx="4160520" cy="13716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42900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ACADEMIC SERVICE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7292D"/>
                </a:solidFill>
                <a:latin typeface="Calibri"/>
              </a:rPr>
              <a:t>Student · CourseModule · Enrolment</a:t>
            </a:r>
          </a:p>
          <a:p>
            <a:pPr algn="l"/>
            <a:r>
              <a:rPr sz="1050" b="0" i="0">
                <a:solidFill>
                  <a:srgbClr val="5A7278"/>
                </a:solidFill>
                <a:latin typeface="Courier New"/>
              </a:rPr>
              <a:t>JwtGuard · RolesGuard · SsdChecker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291840"/>
            <a:ext cx="4160520" cy="13716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342900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28090"/>
                </a:solidFill>
                <a:latin typeface="Calibri"/>
              </a:rPr>
              <a:t>FINANCE SERVICE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7292D"/>
                </a:solidFill>
                <a:latin typeface="Calibri"/>
              </a:rPr>
              <a:t>Invoice · Payment · Scholarship</a:t>
            </a:r>
          </a:p>
          <a:p>
            <a:pPr algn="l"/>
            <a:r>
              <a:rPr sz="1050" b="0" i="0">
                <a:solidFill>
                  <a:srgbClr val="5A7278"/>
                </a:solidFill>
                <a:latin typeface="Courier New"/>
              </a:rPr>
              <a:t>JwtGuard · RolesGuard · SsdChecker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127248" y="2743200"/>
            <a:ext cx="1444752" cy="548640"/>
          </a:xfrm>
          <a:prstGeom prst="bentConnector3">
            <a:avLst/>
          </a:prstGeom>
          <a:ln w="28575">
            <a:solidFill>
              <a:srgbClr val="02C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20" y="2743200"/>
            <a:ext cx="1435608" cy="548640"/>
          </a:xfrm>
          <a:prstGeom prst="bentConnector3">
            <a:avLst/>
          </a:prstGeom>
          <a:ln w="28575">
            <a:solidFill>
              <a:srgbClr val="02C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40080" y="4937760"/>
            <a:ext cx="292608" cy="29260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9194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292D"/>
                </a:solidFill>
                <a:latin typeface="Calibri"/>
              </a:rPr>
              <a:t>Gateway xác thực JWT, gắn user + activeRoles vào request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340096"/>
            <a:ext cx="292608" cy="29260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32180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292D"/>
                </a:solidFill>
                <a:latin typeface="Calibri"/>
              </a:rPr>
              <a:t>Route nội miền → forward thẳng; RolesGuard + SsdChecker cục bộ quyết định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742432"/>
            <a:ext cx="292608" cy="29260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72414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292D"/>
                </a:solidFill>
                <a:latin typeface="Calibri"/>
              </a:rPr>
              <a:t>Route cross-domain → RoleMapper dịch role nguồn → đích, check NoPrivilegeEscalation runtime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6144768"/>
            <a:ext cx="292608" cy="29260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6126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292D"/>
                </a:solidFill>
                <a:latin typeface="Calibri"/>
              </a:rPr>
              <a:t>Mọi vi phạm → 403 Forbidden kèm truy vết về OCL invariant bị vi phạm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RBAC cross-domain: ba lớp bất biến mới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3584448" cy="196596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No privilege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312724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Chuỗi mapping r₁ → r₂ → r₃ không được tạo ra quyền ở miền đích vượt quá quyền tương đương của role gốc.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691640"/>
            <a:ext cx="3584448" cy="196596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5424" y="1920240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Acyclic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2560320"/>
            <a:ext cx="312724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Đồ thị role mapping giữa các miền phải là DAG — chặn đứng vòng nâng quyền qua nhiều bước.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1691640"/>
            <a:ext cx="3584448" cy="196596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920240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Cross-domain SSD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560320"/>
            <a:ext cx="312724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Tập role kích hoạt của một user trên MỌI miền không được chứa cặp xung đột đã khai báo.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77639"/>
            <a:ext cx="11018520" cy="960120"/>
          </a:xfrm>
          <a:prstGeom prst="roundRect">
            <a:avLst>
              <a:gd name="adj" fmla="val 5500"/>
            </a:avLst>
          </a:prstGeom>
          <a:solidFill>
            <a:srgbClr val="0A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Kiểm chứng KÉP:  tĩnh bằng USE ở Stage 4  +  động trong cross-domain.guard.ts sinh ra ở runtime.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12080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7278"/>
                </a:solidFill>
                <a:latin typeface="Courier New"/>
              </a:rPr>
              <a:t>Ví dụ mapping hợp lệ:   Academic::Lecturer  →  Finance::ReadInvoice   (trust: limited)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Case study: CourseMan đa miền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5029200" cy="16002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4572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ACADEMIC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7292D"/>
                </a:solidFill>
                <a:latin typeface="Calibri"/>
              </a:rPr>
              <a:t>Student · CourseModule · SClass · Enrolment</a:t>
            </a:r>
          </a:p>
          <a:p>
            <a:pPr algn="l"/>
            <a:r>
              <a:rPr sz="1150" b="1" i="0">
                <a:solidFill>
                  <a:srgbClr val="5A7278"/>
                </a:solidFill>
                <a:latin typeface="Calibri"/>
              </a:rPr>
              <a:t>Roles: Registrar · Lecturer · Student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029200" cy="160020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0" y="1691640"/>
            <a:ext cx="4572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FINANCE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7292D"/>
                </a:solidFill>
                <a:latin typeface="Calibri"/>
              </a:rPr>
              <a:t>Invoice · Payment · Scholarship</a:t>
            </a:r>
          </a:p>
          <a:p>
            <a:pPr algn="l"/>
            <a:r>
              <a:rPr sz="1150" b="1" i="0">
                <a:solidFill>
                  <a:srgbClr val="5A7278"/>
                </a:solidFill>
                <a:latin typeface="Calibri"/>
              </a:rPr>
              <a:t>Roles: Bursar · Auditor · Student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2194560"/>
            <a:ext cx="777240" cy="320040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2040" y="26060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A7278"/>
                </a:solidFill>
                <a:latin typeface="Courier New"/>
              </a:rPr>
              <a:t>Lecturer → ReadInvoice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1018520" cy="51206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ourier New"/>
              </a:rPr>
              <a:t>TC1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29000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Calibri"/>
              </a:rPr>
              <a:t>ALLOWED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429000"/>
            <a:ext cx="85039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7292D"/>
                </a:solidFill>
                <a:latin typeface="Calibri"/>
              </a:rPr>
              <a:t>Lecturer đọc danh sách Student của lớp mình — permission hợp lệ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05072"/>
            <a:ext cx="11018520" cy="51206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005072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ourier New"/>
              </a:rPr>
              <a:t>TC3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05072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BLOCKED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05072"/>
            <a:ext cx="85039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7292D"/>
                </a:solidFill>
                <a:latin typeface="Calibri"/>
              </a:rPr>
              <a:t>Gán đồng thời Registrar + Lecturer → SSD violation ngay lúc gán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81144"/>
            <a:ext cx="11018520" cy="51206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581144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ourier New"/>
              </a:rPr>
              <a:t>TC4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81144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81144"/>
            <a:ext cx="85039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7292D"/>
                </a:solidFill>
                <a:latin typeface="Calibri"/>
              </a:rPr>
              <a:t>Lecturer (Academic) truy cập Finance như Auditor → cross-domain SSD chặn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157216"/>
            <a:ext cx="11018520" cy="51206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157216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ourier New"/>
              </a:rPr>
              <a:t>TC5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57216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Calibri"/>
              </a:rPr>
              <a:t>ALLOWED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157216"/>
            <a:ext cx="85039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7292D"/>
                </a:solidFill>
                <a:latin typeface="Calibri"/>
              </a:rPr>
              <a:t>Lecturer đọc Invoice của sinh viên mình qua role mapping ReadInvoice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733288"/>
            <a:ext cx="11018520" cy="512064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733288"/>
            <a:ext cx="731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7292D"/>
                </a:solidFill>
                <a:latin typeface="Courier New"/>
              </a:rPr>
              <a:t>TC6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733288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BLOCKED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733288"/>
            <a:ext cx="85039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7292D"/>
                </a:solidFill>
                <a:latin typeface="Calibri"/>
              </a:rPr>
              <a:t>Tạo chuỗi mapping vòng trong UDM → USE bắt lỗi ngay từ Stage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327647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5A7278"/>
                </a:solidFill>
                <a:latin typeface="Calibri"/>
              </a:rPr>
              <a:t>5 kịch bản tiêu biểu trong bộ 7 test case e2e (@nestjs/testing), chạy thật trên monorepo sinh 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292D"/>
                </a:solidFill>
                <a:latin typeface="Cambria"/>
              </a:rPr>
              <a:t>Kế hoạch đánh giá — 5 nhóm tiêu chí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91640"/>
            <a:ext cx="3584448" cy="196596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56232"/>
            <a:ext cx="3127248" cy="1636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Feasibility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Pipeline chạy end-to-end trên case study; code sinh ra compile sạch, deploy bằng Docker; TC1–TC7 đúng kỳ vọng.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6824" y="1691640"/>
            <a:ext cx="3584448" cy="196596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35424" y="1856232"/>
            <a:ext cx="3127248" cy="1636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Productivity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So LoC viết tay (sơ đồ + OCL) với LoC sinh ra; đo thời gian thêm một role/permission mới so với code tay.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8" y="1691640"/>
            <a:ext cx="3584448" cy="1965960"/>
          </a:xfrm>
          <a:prstGeom prst="roundRect">
            <a:avLst>
              <a:gd name="adj" fmla="val 5500"/>
            </a:avLst>
          </a:prstGeom>
          <a:solidFill>
            <a:srgbClr val="F5FAFA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47888" y="1856232"/>
            <a:ext cx="3127248" cy="1636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Understandability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Đặt sơ đồ + OCL cạnh code sinh ra; survey GVHD/đồng nghiệp về truy vết và khả năng giải thích.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840480"/>
            <a:ext cx="5440679" cy="16916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005072"/>
            <a:ext cx="4983479" cy="136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Đúng đắn &amp; trực giao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Mutation test trên UDM: cố tình vi phạm SSD → pipeline phải bắt; thêm/bớt concern đo mức thay đổi chéo.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3840480"/>
            <a:ext cx="5440679" cy="1691640"/>
          </a:xfrm>
          <a:prstGeom prst="roundRect">
            <a:avLst>
              <a:gd name="adj" fmla="val 5500"/>
            </a:avLst>
          </a:prstGeom>
          <a:solidFill>
            <a:srgbClr val="E9F4F5"/>
          </a:solidFill>
          <a:ln w="9525">
            <a:solidFill>
              <a:srgbClr val="CF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5" y="4005072"/>
            <a:ext cx="4983479" cy="136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Truy vết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7292D"/>
                </a:solidFill>
                <a:latin typeface="Calibri"/>
              </a:rPr>
              <a:t>Lấy ngẫu nhiên 20 dòng code sinh ra — header phải chỉ ngược về đúng phần tử UDM.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mbria"/>
              </a:rPr>
              <a:t>Kết luận &amp; lộ trình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1408176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3438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5577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Concern hạng nhất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4DDDF"/>
                </a:solidFill>
                <a:latin typeface="Calibri"/>
              </a:rPr>
              <a:t>RBAC cross-domain có metamodel, cú pháp decorator và ngữ nghĩa OCL đầy đủ — ngang hàng DCSL/AGL.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688336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343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51760"/>
            <a:ext cx="5577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Một pipeline, có kiểm chứng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4DDDF"/>
                </a:solidFill>
                <a:latin typeface="Calibri"/>
              </a:rPr>
              <a:t>Từ PlantUML + OCL đến monorepo NestJS chạy được; model sai bị chặn trước khi sinh mã.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3438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5577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Mở rộng mạch nghiên cứu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4DDDF"/>
                </a:solidFill>
                <a:latin typeface="Calibri"/>
              </a:rPr>
              <a:t>Đưa hệ sinh thái DCSL / AGL / UDML / TMSA sang stack TypeScript đang phổ biến trong công nghiệp.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371600"/>
            <a:ext cx="4206240" cy="3657600"/>
          </a:xfrm>
          <a:prstGeom prst="roundRect">
            <a:avLst>
              <a:gd name="adj" fmla="val 5500"/>
            </a:avLst>
          </a:prstGeom>
          <a:solidFill>
            <a:srgbClr val="0F454C"/>
          </a:solidFill>
          <a:ln w="9525">
            <a:solidFill>
              <a:srgbClr val="1E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1554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Lộ trình 16 tuần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0116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8AE6C9"/>
                </a:solidFill>
                <a:latin typeface="Courier New"/>
              </a:rPr>
              <a:t>T1–2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011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P0 · Chốt scope, metamodel v0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496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8AE6C9"/>
                </a:solidFill>
                <a:latin typeface="Courier New"/>
              </a:rPr>
              <a:t>T3–4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4963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P1 · Profile PlantUML +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98094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8AE6C9"/>
                </a:solidFill>
                <a:latin typeface="Courier New"/>
              </a:rPr>
              <a:t>T5–6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8094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P2 · Compose + kiểm chứng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46557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8AE6C9"/>
                </a:solidFill>
                <a:latin typeface="Courier New"/>
              </a:rPr>
              <a:t>T7–11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46557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P3 · Generator + cross-domain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95020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8AE6C9"/>
                </a:solidFill>
                <a:latin typeface="Courier New"/>
              </a:rPr>
              <a:t>T12–14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9502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P4 · Case study + đánh giá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434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8AE6C9"/>
                </a:solidFill>
                <a:latin typeface="Courier New"/>
              </a:rPr>
              <a:t>T15–16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4348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P5 · Hoàn thiện luận văn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6172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FC9CD"/>
                </a:solidFill>
                <a:latin typeface="Calibri"/>
              </a:rPr>
              <a:t>Hướng phát triển:  OIDC federation đầy đủ · đầu vào Mermaid · RBAC₃ và lai ABAC.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893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Trân trọng cảm ơn thầy/cô và hội đồng —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2383</Words>
  <Application>Microsoft Office PowerPoint</Application>
  <PresentationFormat>Widescreen</PresentationFormat>
  <Paragraphs>263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 nhat</cp:lastModifiedBy>
  <cp:revision>2</cp:revision>
  <dcterms:created xsi:type="dcterms:W3CDTF">2013-01-27T09:14:16Z</dcterms:created>
  <dcterms:modified xsi:type="dcterms:W3CDTF">2026-07-09T15:29:45Z</dcterms:modified>
  <cp:category/>
</cp:coreProperties>
</file>