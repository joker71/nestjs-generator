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Luận văn Thạc sĩ  ·  Báo cáo tiến độ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Cambria"/>
              </a:rPr>
              <a:t>Đặc tả và tích hợp kiểm soát truy cập dựa trên vai trò trong Thiết kế hướng miền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FE3E6"/>
                </a:solidFill>
                <a:latin typeface="Calibri"/>
              </a:rPr>
              <a:t>Specification and Integration of Role-Based Access Control in Domain-Driven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C9CD"/>
                </a:solidFill>
                <a:latin typeface="Calibri"/>
              </a:rPr>
              <a:t>Học viên: [Họ tên]      GVHD: [Người hướng dẫn]     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754880"/>
            <a:ext cx="21214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PlantUML + OCL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36976" y="507034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8728" y="475488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4754880"/>
            <a:ext cx="21214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Metamodel hợp nhất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2744" y="507034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4496" y="475488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4754880"/>
            <a:ext cx="21214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ddd-codegen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68512" y="507034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70264" y="475488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4754880"/>
            <a:ext cx="21214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NestJS DDD + RBAC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Nội dung trình bày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10515600" cy="987552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1975104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37944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92D"/>
                </a:solidFill>
                <a:latin typeface="Calibri"/>
              </a:rPr>
              <a:t>Giới thiệu bài toán và động lực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585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7278"/>
                </a:solidFill>
                <a:latin typeface="Calibri"/>
              </a:rPr>
              <a:t>Vấn đề phân quyền trong DDD · khoảng trống nghiên cứu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43784"/>
            <a:ext cx="10515600" cy="98755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127248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900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92D"/>
                </a:solidFill>
                <a:latin typeface="Calibri"/>
              </a:rPr>
              <a:t>Hướng tiếp cận giải quyết và đóng góp của Luận văn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107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7278"/>
                </a:solidFill>
                <a:latin typeface="Calibri"/>
              </a:rPr>
              <a:t>RBAC là concern hạng nhất · metamodel hợp nhất · pipeline sinh mã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95928"/>
            <a:ext cx="10515600" cy="987552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" y="4279392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42232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92D"/>
                </a:solidFill>
                <a:latin typeface="Calibri"/>
              </a:rPr>
              <a:t>Các kết quả đạt được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6285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7278"/>
                </a:solidFill>
                <a:latin typeface="Calibri"/>
              </a:rPr>
              <a:t>Công cụ ddd-codegen · profile đặc tả RBAC · 4 parser · case study CourseMan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48072"/>
            <a:ext cx="10515600" cy="98755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5431536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9437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92D"/>
                </a:solidFill>
                <a:latin typeface="Calibri"/>
              </a:rPr>
              <a:t>Tiến độ viết luận văn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7278"/>
                </a:solidFill>
                <a:latin typeface="Calibri"/>
              </a:rPr>
              <a:t>Trạng thái 5 chương · kế hoạch hoàn thiện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1 · Giới thiệu bài toán và động lực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Bài toán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6035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7292D"/>
                </a:solidFill>
                <a:latin typeface="Calibri"/>
              </a:rPr>
              <a:t>Logic phân quyền viết tay, rải rác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7278"/>
                </a:solidFill>
                <a:latin typeface="Calibri"/>
              </a:rPr>
              <a:t>Guard, decorator, check quyền lặp lại ở từng module. Thêm một role mới phải sửa nhiều nơi — dễ sai, khó truy vết, khó kiểm thử.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08960"/>
            <a:ext cx="6035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7292D"/>
                </a:solidFill>
                <a:latin typeface="Calibri"/>
              </a:rPr>
              <a:t>RBAC đứng ngoài mô hình miền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7278"/>
                </a:solidFill>
                <a:latin typeface="Calibri"/>
              </a:rPr>
              <a:t>DDD đặc tả cấu trúc và hành vi, nhưng phân quyền thường bị đẩy xuống tầng hạ tầng — không xuất hiện trong class diagram, không được thiết kế cùng mô hình.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526280"/>
            <a:ext cx="6035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7292D"/>
                </a:solidFill>
                <a:latin typeface="Calibri"/>
              </a:rPr>
              <a:t>Mô hình và mã nguồn lệch nhau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7278"/>
                </a:solidFill>
                <a:latin typeface="Calibri"/>
              </a:rPr>
              <a:t>Sơ đồ thiết kế lỗi thời nhanh chóng; không có cơ chế bảo đảm code phân quyền đúng với thiết kế đã được phê duyệt.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691640"/>
            <a:ext cx="3886200" cy="365760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574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Câu hỏi nghiên cứu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560320"/>
            <a:ext cx="3154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Làm thế nào đặc tả RBAC như một phần hạng nhất của mô hình miền,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và tự động tích hợp nó vào mã nguồn sinh ra từ chính mô hình đó?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1 · Giới thiệu bài toán và động lực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Động lực &amp; khoảng trống nghiên cứu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11018520" cy="7315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Nền tảng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Sandhu et al. 1996 · Ray–Li–France 2004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663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RBAC₀–₃: role, permission, hierarchy, SSD/DSD; biểu diễn UML + OCL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05456"/>
            <a:ext cx="11018520" cy="7315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05456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aDSL cho DDD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05456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DCSL 2018 · AGL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05456"/>
            <a:ext cx="4663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Đặc tả cấu trúc / hành vi bằng annotation; biến đổi UML → đặc tả → mã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364992"/>
            <a:ext cx="11018520" cy="7315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Hợp nhất concern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64992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UDML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364992"/>
            <a:ext cx="4663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Compose nhiều concern vào một mô hình thống nhất; trực giao &amp; truy vết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24528"/>
            <a:ext cx="11018520" cy="7315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Kiến trúc đích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24528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TMSA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24528"/>
            <a:ext cx="4663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Layered microservices hướng bounded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193792"/>
            <a:ext cx="11018520" cy="128016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Khoảng trống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330952"/>
            <a:ext cx="8595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RBAC mới được nhắc đến như một concern khả thi — chưa có đặc tả ngang hàng DCSL/AGL, chưa có metamodel hợp nhất, và chưa có bộ sinh mã nào tích hợp RBAC vào scaffolding DDD một cách tự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2 · Hướng tiếp cận giải quyết và đóng góp của Luận văn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Hướng tiếp cận: RBAC là một concern trong DDD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606040" cy="210312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Đặc tả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7208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RBAC ngay trong PlantUML class diagram: &lt;&lt;Role&gt;&gt;, permission có target.action [scope], hierarchy — kèm ràng buộc OCL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4116" y="2706623"/>
            <a:ext cx="292608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783080"/>
            <a:ext cx="2606040" cy="21031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659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4144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Hợp nhất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07208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Metamodel thống nhất DCSL (cấu trúc) + AGL (hành vi) + RBAC₀/₁ (phân quyền) trên một AST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40196" y="2706623"/>
            <a:ext cx="292608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2606040" cy="210312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4144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Biến đổi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07208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Làm giàu mô hình: CRUD mặc định, repository tự sinh, lan truyền quyền qua role hierarchy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66276" y="2706623"/>
            <a:ext cx="292608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72600" y="1783080"/>
            <a:ext cx="2606040" cy="21031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9659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44144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Sinh mã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807208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NestJS DDD scaffolding + guard, decorator, enum phân quyền — bằng template Handlebars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60520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0A3438"/>
                </a:solidFill>
                <a:latin typeface="Calibri"/>
              </a:rPr>
              <a:t>Một nguồn sự thật duy nhất: sơ đồ thay đổi → sinh lại — mã phân quyền không bao giờ lệch khỏi thiết kế.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800600"/>
            <a:ext cx="3584448" cy="14173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65192"/>
            <a:ext cx="312724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Concern hạng nhất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RBAC xuất hiện trong chính class diagram, ngang hàng cấu trúc và hành vi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4800600"/>
            <a:ext cx="3584448" cy="14173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4965192"/>
            <a:ext cx="312724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Khai báo, không lập trình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Thêm role / permission = sửa sơ đồ, không viết lại guard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4800600"/>
            <a:ext cx="3584448" cy="14173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965192"/>
            <a:ext cx="312724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Truy vết thiết kế ↔ mã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Mỗi phần tử sinh ra có comment đối chiếu về stereotype nguồn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2 · Hướng tiếp cận giải quyết và đóng góp của Luận văn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Metamodel hợp nhất ba nguồn lý thuyết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3584448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312724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DCSL — cấu trúc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DClass · DAttr · DAssoc: lớp miền, thuộc tính, quan hệ — phần tĩnh của mô hình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737360"/>
            <a:ext cx="3584448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901952"/>
            <a:ext cx="312724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AGL — hành vi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ANode · MAct: chuỗi hành động use-case ở tầng application, đọc từ activity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9288" y="1737360"/>
            <a:ext cx="3584448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901952"/>
            <a:ext cx="312724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RBAC₀/₁ — phân quyền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Role · Permission · role hierarchy (Sandhu 1996); quyền lan truyền qua kế thừa vai trò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1101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7292D"/>
                </a:solidFill>
                <a:latin typeface="Calibri"/>
              </a:rPr>
              <a:t>Ánh xạ 8 stereotype PlantUML → khái niệm metamodel: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69080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«AggregateRoot»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DClass{mutable} + chủ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4069080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4160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«Entity»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445312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DClass{mutable}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69080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160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«ValueObject»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5312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DClass bất biến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4069080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4160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«DomainService»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45312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DOpt tầng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928616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200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«DomainEvent»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1266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DClass bất biến, MAct post-state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79" y="4928616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39" y="50200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«Repository»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39" y="531266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DAssoc → 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928616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0200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«UseCase»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31266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7278"/>
                </a:solidFill>
                <a:latin typeface="Calibri"/>
              </a:rPr>
              <a:t>AGL ANode (SAA)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19" y="4928616"/>
            <a:ext cx="2651760" cy="713232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50200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Courier New"/>
              </a:rPr>
              <a:t>«Role»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31266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RBAC Role (Sandhu96)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97880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5A7278"/>
                </a:solidFill>
                <a:latin typeface="Calibri"/>
              </a:rPr>
              <a:t>DomainMetamodel là AST trung tâm: boundedContexts[] + rbac — mọi bước sau chỉ làm việc trên AST này.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2 · Hướng tiếp cận giải quyết và đóng góp của Luận văn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Kiến trúc pipeline 3 bước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584448" cy="3063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203911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75688"/>
            <a:ext cx="2532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ourier New"/>
              </a:rPr>
              <a:t>PlantUmlParser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97480"/>
            <a:ext cx="30723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Recursive-descent trên PlantUML: package &lt;&lt;BoundedContext&gt;&gt;, 8 stereotype, field/method, quan hệ *--  o--  ..&gt;  và  --|&gt; (role hierarchy). Field trong &lt;&lt;Role&gt;&gt; = permission.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74236" y="3195828"/>
            <a:ext cx="146304" cy="23774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06824" y="1783080"/>
            <a:ext cx="3584448" cy="3063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62856" y="203911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4" y="2075688"/>
            <a:ext cx="2532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ourier New"/>
              </a:rPr>
              <a:t>ModelTransformer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697480"/>
            <a:ext cx="30723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Làm giàu mô hình: tự sinh id, createdAt/updatedAt; CRUD mặc định cho AggregateRoot; tự sinh IXRepository; lan truyền permission qua role hierarchy (RBAC₁) bằng vòng lặp fixed-point.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86699" y="3195828"/>
            <a:ext cx="146304" cy="23774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9288" y="1783080"/>
            <a:ext cx="3584448" cy="3063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203911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2075688"/>
            <a:ext cx="2532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ourier New"/>
              </a:rPr>
              <a:t>CodeGenerator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97480"/>
            <a:ext cx="30723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Handlebars với 15 template: entity, value-object, use-case, controller, module, repository, cùng bộ RBAC — roles.enum, permissions.enum, role-permission.map, rbac.guard, decorator.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11018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5A7278"/>
                </a:solidFill>
                <a:latin typeface="Calibri"/>
              </a:rPr>
              <a:t>Bổ trợ: ActivityParser đọc activity diagram AGL (.activity.puml, tự phát hiện); OCL subset parser (chevrotain) đọc file .ocl ràng buộc RBAC.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2 · Hướng tiếp cận giải quyết và đóng góp của Luận văn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Đóng góp của luận văn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440680" cy="21945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11679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93391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 i="0">
                <a:solidFill>
                  <a:srgbClr val="028090"/>
                </a:solidFill>
                <a:latin typeface="Calibri"/>
              </a:rPr>
              <a:t>Profile đặc tả RBAC trong PlantUML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920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Stereotype &lt;&lt;Role&gt;&gt;, permission dạng NAME : Resource.action [scope], kế thừa --|&gt;, ràng buộc &lt;&lt;SSD&gt;&gt;, &lt;&lt;DSD&gt;&gt;, &lt;&lt;cardinality&gt;&gt; — RBAC vẽ được ngay trong class diagram, kèm file OCL.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440680" cy="21945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3952" y="2011679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1993391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 i="0">
                <a:solidFill>
                  <a:srgbClr val="028090"/>
                </a:solidFill>
                <a:latin typeface="Calibri"/>
              </a:rPr>
              <a:t>Metamodel hợp nhất DCSL + AGL + RBAC₀/₁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697480"/>
            <a:ext cx="48920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Đưa phân quyền thành concern ngang hàng cấu trúc và hành vi trong một AST duy nhất (DomainMetamodel), theo tinh thần UDML.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96512"/>
            <a:ext cx="5440680" cy="21945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37083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5254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 i="0">
                <a:solidFill>
                  <a:srgbClr val="028090"/>
                </a:solidFill>
                <a:latin typeface="Calibri"/>
              </a:rPr>
              <a:t>Công cụ ddd-codegen hoạt động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56632"/>
            <a:ext cx="48920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CLI TypeScript: từ một sơ đồ PlantUML sinh trọn scaffolding NestJS DDD 4 tầng + bộ RBAC thực thi (guard, decorator, enum, PA map).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096512"/>
            <a:ext cx="5440680" cy="21945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3952" y="437083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435254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 i="0">
                <a:solidFill>
                  <a:srgbClr val="028090"/>
                </a:solidFill>
                <a:latin typeface="Calibri"/>
              </a:rPr>
              <a:t>Case study CourseMan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5056632"/>
            <a:ext cx="48920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Hệ quản lý đào tạo 2 bounded context + miền RBAC; chứng minh tính khả thi, làm nền cho khung đánh giá định lượng.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Tổng quan kết quả: công cụ ddd-codegen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6035040" cy="228600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38528"/>
            <a:ext cx="5522975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8AE6C9"/>
                </a:solidFill>
                <a:latin typeface="Courier New"/>
              </a:rPr>
              <a:t>$ ddd-codegen generate \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  -i course-management.puml \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  -o ./generated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/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9EDDE2"/>
                </a:solidFill>
                <a:latin typeface="Courier New"/>
              </a:rPr>
              <a:t>[1/3] Parsing PlantUML...        done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9EDDE2"/>
                </a:solidFill>
                <a:latin typeface="Courier New"/>
              </a:rPr>
              <a:t>      2 bounded context, 3 role, 4 AGL node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9EDDE2"/>
                </a:solidFill>
                <a:latin typeface="Courier New"/>
              </a:rPr>
              <a:t>[2/3] DDD + RBAC transform...    16 classes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9EDDE2"/>
                </a:solidFill>
                <a:latin typeface="Courier New"/>
              </a:rPr>
              <a:t>[3/3] Generating NestJS code...  31 files</a:t>
            </a:r>
          </a:p>
          <a:p>
            <a:pPr algn="l">
              <a:spcAft>
                <a:spcPts val="250"/>
              </a:spcAft>
            </a:pPr>
            <a:r>
              <a:rPr sz="1150" b="0" i="0">
                <a:solidFill>
                  <a:srgbClr val="F9E795"/>
                </a:solidFill>
                <a:latin typeface="Courier New"/>
              </a:rPr>
              <a:t>Hỗ trợ --dry-run; tự phát hiện .activity.puml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737360"/>
            <a:ext cx="4709160" cy="10515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737360"/>
            <a:ext cx="1691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28090"/>
                </a:solidFill>
                <a:latin typeface="Cambria"/>
              </a:rPr>
              <a:t>≈ 3.200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737360"/>
            <a:ext cx="2514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dòng TypeScript của bộ công cụ (src/)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944368"/>
            <a:ext cx="4709160" cy="10515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944368"/>
            <a:ext cx="1691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28090"/>
                </a:solidFill>
                <a:latin typeface="Cambria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944368"/>
            <a:ext cx="2514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template Handlebars cho mọi tầng DDD +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151376"/>
            <a:ext cx="4709160" cy="10515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4151376"/>
            <a:ext cx="1691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28090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51376"/>
            <a:ext cx="2514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parser: PlantUML · Activity (AGL) · OCL (chevrotain) · CLI commander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9768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7292D"/>
                </a:solidFill>
                <a:latin typeface="Calibri"/>
              </a:rPr>
              <a:t>Kiến trúc mã nguồn: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7278"/>
                </a:solidFill>
                <a:latin typeface="Courier New"/>
              </a:rPr>
              <a:t>src/model — metamodel DCSL · AGL · RBAC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7278"/>
                </a:solidFill>
                <a:latin typeface="Courier New"/>
              </a:rPr>
              <a:t>src/parser — plantuml · activity · ocl/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7278"/>
                </a:solidFill>
                <a:latin typeface="Courier New"/>
              </a:rPr>
              <a:t>src/transformer — model-transformer</a:t>
            </a:r>
          </a:p>
          <a:p>
            <a:pPr algn="l"/>
            <a:r>
              <a:rPr sz="1200" b="0" i="0">
                <a:solidFill>
                  <a:srgbClr val="5A7278"/>
                </a:solidFill>
                <a:latin typeface="Courier New"/>
              </a:rPr>
              <a:t>src/generator — code-generator + 15 .hbs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5440680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5A7278"/>
                </a:solidFill>
                <a:latin typeface="Calibri"/>
              </a:rPr>
              <a:t>Pipeline một chiều trên AST trung tâm — mỗi bước kiểm thử độc lập được.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1 — PlantUmlParser: profile cú pháp hỗ trợ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11018520" cy="60350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package "X" &lt;&lt;BoundedContext&gt;&gt;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212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Tách bounded context; namespace cho cross-domain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04872"/>
            <a:ext cx="11018520" cy="60350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class X &lt;&lt;Stereotype&gt;&gt;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04872"/>
            <a:ext cx="5212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8 stereotype DDD + RBAC (case-insensitive)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18104"/>
            <a:ext cx="11018520" cy="60350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1810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[+|-|#] name: Type [= default] · name[]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18104"/>
            <a:ext cx="5212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Thuộc tính, kiểu, giá trị mặc định, collection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31336"/>
            <a:ext cx="11018520" cy="60350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31336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method(param: Type, ...):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31336"/>
            <a:ext cx="5212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Phương thức của lớp miền / use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44568"/>
            <a:ext cx="11018520" cy="60350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44568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A "1" *-- "0..*" B : label  ·  A ..&gt;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44568"/>
            <a:ext cx="5212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Composition / aggregation / dependency có nhãn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257800"/>
            <a:ext cx="11018520" cy="60350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ourier New"/>
              </a:rPr>
              <a:t>Role1 --|&gt; Role2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257800"/>
            <a:ext cx="5212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Kế thừa vai trò — role hierarchy RBAC₁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62472"/>
            <a:ext cx="11018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1">
                <a:solidFill>
                  <a:srgbClr val="5A7278"/>
                </a:solidFill>
                <a:latin typeface="Calibri"/>
              </a:rPr>
              <a:t>Parser recursive-descent viết tay (443 dòng), không phụ thuộc PlantUML server — kiểm soát trọn vẹn thông báo lỗi theo dòng của file .puml.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2 — Đặc tả RBAC trong class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806440" cy="3977639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92808"/>
            <a:ext cx="5294375" cy="3575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package "RBAC" &lt;&lt;AccessControl&gt;&gt; {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  class Admin &lt;&lt;Role&gt;&gt; {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MANAGE_STUDENTS : Student.manage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VIEW_STUDENTS   : Student.read [all]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8AE6C9"/>
                </a:solidFill>
                <a:latin typeface="Courier New"/>
              </a:rPr>
              <a:t>    &lt;&lt;cardinality max=5&gt;&gt;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  }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  class EnrollmentOfficer &lt;&lt;Role&gt;&gt; {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ENROLL_STUDENTS : Enrolment.create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VIEW_STUDENTS   : Student.read [own]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  }</a:t>
            </a:r>
          </a:p>
          <a:p>
            <a:pPr algn="l">
              <a:spcAft>
                <a:spcPts val="250"/>
              </a:spcAft>
            </a:pPr>
            <a:r>
              <a:rPr sz="1100" b="1" i="0">
                <a:solidFill>
                  <a:srgbClr val="8AE6C9"/>
                </a:solidFill>
                <a:latin typeface="Courier New"/>
              </a:rPr>
              <a:t>  Admin --|&gt; EnrollmentOfficer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8AE6C9"/>
                </a:solidFill>
                <a:latin typeface="Courier New"/>
              </a:rPr>
              <a:t>  Admin ..&gt; Auditor : &lt;&lt;SSD&gt;&gt;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8AE6C9"/>
                </a:solidFill>
                <a:latin typeface="Courier New"/>
              </a:rPr>
              <a:t>  EnrollmentOfficer ..&gt; StudentRole :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8AE6C9"/>
                </a:solidFill>
                <a:latin typeface="Courier New"/>
              </a:rPr>
              <a:t>      &lt;&lt;DSD(maxActiveRoles=1)&gt;&gt;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91640"/>
            <a:ext cx="4983480" cy="1298448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56232"/>
            <a:ext cx="45262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Permission có ngữ nghĩa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NAME : Resource.action [scope] — trỏ thẳng vào DClass trong cùng sơ đồ (cross-concern reference), không còn là chuỗi trơ.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118104"/>
            <a:ext cx="4983480" cy="1298448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282696"/>
            <a:ext cx="45262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RBAC₁ — hierarchy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Admin --|&gt; EnrollmentOfficer: Admin tự động kế thừa ENROLL_STUDENTS, VIEW_STUDENTS… qua vòng lặp fixed-point.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544568"/>
            <a:ext cx="4983480" cy="1298448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709160"/>
            <a:ext cx="452628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RBAC₂ — ràng buộc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&lt;&lt;SSD&gt;&gt;, &lt;&lt;DSD(maxActiveRoles)&gt;&gt;, &lt;&lt;cardinality max&gt;&gt; đặc tả được trên sơ đồ; ngữ nghĩa đầy đủ nằm ở file OCL đồng hành.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52160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7278"/>
                </a:solidFill>
                <a:latin typeface="Calibri"/>
              </a:rPr>
              <a:t>Trích từ examples/course-management.puml — chạy được trực tiếp qua ddd-codegen.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3 — ModelTransformer: làm giàu mô hình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2821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7292D"/>
                </a:solidFill>
                <a:latin typeface="Calibri"/>
              </a:rPr>
              <a:t>Chuẩn hóa lớp miền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Tự sinh id, createdAt / updatedAt cho mọi Entity — quy ước DCSL, người vẽ không phải lặp lại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80720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70632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7292D"/>
                </a:solidFill>
                <a:latin typeface="Calibri"/>
              </a:rPr>
              <a:t>CRUD mặc định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AggregateRoot không khai báo method nào → tự sinh create / findAll / findById / update / delete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4962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7292D"/>
                </a:solidFill>
                <a:latin typeface="Calibri"/>
              </a:rPr>
              <a:t>Repository tự động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Mỗi AggregateRoot chưa có repository → tự sinh interface IXRepository + implementation in-memory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965192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928616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7292D"/>
                </a:solidFill>
                <a:latin typeface="Calibri"/>
              </a:rPr>
              <a:t>Lan truyền quyền RBAC₁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Vòng lặp fixed-point trên role hierarchy: quyền của role cha = quyền khai báo + quyền mọi role con, hội tụ với hierarchy nhiều tầng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691640"/>
            <a:ext cx="4389120" cy="329184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1892808"/>
            <a:ext cx="3877056" cy="2889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// roles.enum.ts (sinh ra)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export enum Role {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ADMIN = 'Admin',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ENROLLMENT_OFFICER =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    'EnrollmentOfficer',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STUDENT_ROLE = 'StudentRole',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}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// RBAC1 hierarchy (Sandhu96)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export const ROLE_HIERARCHY = {</a:t>
            </a:r>
          </a:p>
          <a:p>
            <a:pPr algn="l">
              <a:spcAft>
                <a:spcPts val="250"/>
              </a:spcAft>
            </a:pPr>
            <a:r>
              <a:rPr sz="1050" b="1" i="0">
                <a:solidFill>
                  <a:srgbClr val="8AE6C9"/>
                </a:solidFill>
                <a:latin typeface="Courier New"/>
              </a:rPr>
              <a:t>  [Role.ADMIN]:</a:t>
            </a:r>
          </a:p>
          <a:p>
            <a:pPr algn="l">
              <a:spcAft>
                <a:spcPts val="250"/>
              </a:spcAft>
            </a:pPr>
            <a:r>
              <a:rPr sz="1050" b="1" i="0">
                <a:solidFill>
                  <a:srgbClr val="8AE6C9"/>
                </a:solidFill>
                <a:latin typeface="Courier New"/>
              </a:rPr>
              <a:t>    Role.ENROLLMENT_OFFICER,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12064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A7278"/>
                </a:solidFill>
                <a:latin typeface="Calibri"/>
              </a:rPr>
              <a:t>16 lớp của CourseMan được làm giàu tự động ở bước này trước khi sinh mã.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4 — ActivityParser: hành vi AGL cho use-case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120640" cy="338328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92808"/>
            <a:ext cx="4608575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9EDDE2"/>
                </a:solidFill>
                <a:latin typeface="Courier New"/>
              </a:rPr>
              <a:t>' course-management.activity.puml</a:t>
            </a:r>
          </a:p>
          <a:p>
            <a:pPr algn="l">
              <a:spcAft>
                <a:spcPts val="250"/>
              </a:spcAft>
            </a:pPr>
            <a:r>
              <a:rPr sz="1100" b="1" i="0">
                <a:solidFill>
                  <a:srgbClr val="F9E795"/>
                </a:solidFill>
                <a:latin typeface="Courier New"/>
              </a:rPr>
              <a:t>|RegisterStudentUseCase|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start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:open;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:newObject(Student);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:setDataFieldValues(name,email);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:createObject(Student);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/>
            </a:r>
          </a:p>
          <a:p>
            <a:pPr algn="l">
              <a:spcAft>
                <a:spcPts val="250"/>
              </a:spcAft>
            </a:pPr>
            <a:r>
              <a:rPr sz="1100" b="1" i="0">
                <a:solidFill>
                  <a:srgbClr val="F9E795"/>
                </a:solidFill>
                <a:latin typeface="Courier New"/>
              </a:rPr>
              <a:t>|Student|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8AE6C9"/>
                </a:solidFill>
                <a:latin typeface="Courier New"/>
              </a:rPr>
              <a:t>if (helpRequested?) then (yes)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:requestHelp;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8AE6C9"/>
                </a:solidFill>
                <a:latin typeface="Courier New"/>
              </a:rPr>
              <a:t>endif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691640"/>
            <a:ext cx="5623560" cy="89611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01368"/>
            <a:ext cx="214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Swimlane → ANode.refClass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801368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Mỗi swimlane |X| gắn chuỗi hành động vào đúng use-case / lớp miền X trong metamodel.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715768"/>
            <a:ext cx="5623560" cy="89611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825496"/>
            <a:ext cx="214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MAct → chuỗi SAA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825496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open → newObject → setDataFieldValues → createObject gộp thành một AglActivityNode có thứ tự — đúng action sequence của AGL.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739896"/>
            <a:ext cx="5623560" cy="89611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849624"/>
            <a:ext cx="214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Decision / fork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849624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if-else, fork được parse thành Decision/Fork node với nhánh outClasses.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764024"/>
            <a:ext cx="5623560" cy="89611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73752"/>
            <a:ext cx="214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Truy vết vào mã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73752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Chuỗi hành động xuất hiện thành comment trace trong use-case sinh ra (use-case.hbs).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97880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7278"/>
                </a:solidFill>
                <a:latin typeface="Calibri"/>
              </a:rPr>
              <a:t>File .activity.puml đặt cạnh sơ đồ lớp được tự phát hiện — hoặc chỉ định qua tùy chọn -a/--activity.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5 — OCL subset parser cho ràng buộc RBAC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806440" cy="324612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92808"/>
            <a:ext cx="5294375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9EDDE2"/>
                </a:solidFill>
                <a:latin typeface="Courier New"/>
              </a:rPr>
              <a:t>-- CourseManagementRbac.ocl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context Role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inv UniqueRoleName: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Role.allInstances()-&gt;isUnique(name)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/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F9E795"/>
                </a:solidFill>
                <a:latin typeface="Courier New"/>
              </a:rPr>
              <a:t>context User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inv OnlyAssignedRolesActivated: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self.sessions-&gt;forAll(s |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  s.activeRoles-&gt;forAll(r |</a:t>
            </a:r>
          </a:p>
          <a:p>
            <a:pPr algn="l">
              <a:spcAft>
                <a:spcPts val="250"/>
              </a:spcAft>
            </a:pPr>
            <a:r>
              <a:rPr sz="1100" b="0" i="0">
                <a:solidFill>
                  <a:srgbClr val="CFE9EB"/>
                </a:solidFill>
                <a:latin typeface="Courier New"/>
              </a:rPr>
              <a:t>        self.assignedRoles-&gt;includes(r)))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91640"/>
            <a:ext cx="4983480" cy="658368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691640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ourier New"/>
              </a:rPr>
              <a:t>ocl-tokens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69164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định nghĩa token (118 dòng)</a:t>
            </a:r>
          </a:p>
        </p:txBody>
      </p:sp>
      <p:sp>
        <p:nvSpPr>
          <p:cNvPr id="9" name="Right Arrow 8"/>
          <p:cNvSpPr/>
          <p:nvPr/>
        </p:nvSpPr>
        <p:spPr>
          <a:xfrm rot="5400000">
            <a:off x="8549640" y="2359152"/>
            <a:ext cx="182880" cy="182880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560320"/>
            <a:ext cx="4983480" cy="658368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560320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ourier New"/>
              </a:rPr>
              <a:t>ocl-cst-parser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56032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văn phạm chevrotain → CST (389 dòng)</a:t>
            </a:r>
          </a:p>
        </p:txBody>
      </p:sp>
      <p:sp>
        <p:nvSpPr>
          <p:cNvPr id="13" name="Right Arrow 12"/>
          <p:cNvSpPr/>
          <p:nvPr/>
        </p:nvSpPr>
        <p:spPr>
          <a:xfrm rot="5400000">
            <a:off x="8549640" y="3227832"/>
            <a:ext cx="182880" cy="182880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3429000"/>
            <a:ext cx="4983480" cy="658368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429000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ourier New"/>
              </a:rPr>
              <a:t>ocl-ast-builder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42900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CST → AST có kiểu (307 dòng)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343400"/>
            <a:ext cx="4983480" cy="14630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507992"/>
            <a:ext cx="452628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Phạm vi subset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inv trong context; forAll / exists / includes / isUnique; navigation qua thuộc tính; biểu thức boolean. Đủ cho lớp bất biến RBAC₀–₂ chuẩn của Ray–Li–France.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5806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5A7278"/>
                </a:solidFill>
                <a:latin typeface="Calibri"/>
              </a:rPr>
              <a:t>Trạng thái: parser hoàn chỉnh + demo; bước kiểm chứng bất biến trên mô hình (trước khi sinh mã) đang tích hợp.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6 — Mã NestJS sinh 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577840" cy="393192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92808"/>
            <a:ext cx="5065775" cy="3529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/**</a:t>
            </a:r>
          </a:p>
          <a:p>
            <a:pPr algn="l">
              <a:spcAft>
                <a:spcPts val="250"/>
              </a:spcAft>
            </a:pPr>
            <a:r>
              <a:rPr sz="1050" b="1" i="0">
                <a:solidFill>
                  <a:srgbClr val="9EDDE2"/>
                </a:solidFill>
                <a:latin typeface="Courier New"/>
              </a:rPr>
              <a:t> * RegisterStudentUseCase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* Generated by ddd-codegen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* Metamodel: AGL ANode (SAA)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* Trace từ .activity.puml: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F9E795"/>
                </a:solidFill>
                <a:latin typeface="Courier New"/>
              </a:rPr>
              <a:t> *  open → newObject →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F9E795"/>
                </a:solidFill>
                <a:latin typeface="Courier New"/>
              </a:rPr>
              <a:t> *  setDataFieldValues → createObject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*/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8AE6C9"/>
                </a:solidFill>
                <a:latin typeface="Courier New"/>
              </a:rPr>
              <a:t>@CommandHandler(RegisterStudentCommand)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export class RegisterStudentUseCase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implements ICommandHandler&lt;...&gt; {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constructor(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  @Inject(STUDENT_REPOSITORY_TOKEN)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  private repo: IStudentRepository,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) {}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91640"/>
            <a:ext cx="5257800" cy="256032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92808"/>
            <a:ext cx="4745736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// rbac.guard.ts — RBAC1 runtime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canActivate(ctx): boolean {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 // 1. user → active roles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 // 2. mở rộng quyền qua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 //    ROLE_HIERARCHY (RBAC1)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 // 3. so với PA map +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9EDDE2"/>
                </a:solidFill>
                <a:latin typeface="Courier New"/>
              </a:rPr>
              <a:t>  //    @RequirePermission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  ...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8AE6C9"/>
                </a:solidFill>
                <a:latin typeface="Courier New"/>
              </a:rPr>
              <a:t>  throw new ForbiddenException();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CFE9EB"/>
                </a:solidFill>
                <a:latin typeface="Courier New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434840"/>
            <a:ext cx="5257800" cy="118872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599431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Cấu trúc DDD 4 tầng cho mỗi bounded context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domain (entities, VO, events, services, repositories) · application (use-cases) · infrastructure · presentation — cùng auth/ (rbac + guards + decorators) dùng chung.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06440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7278"/>
                </a:solidFill>
                <a:latin typeface="Calibri"/>
              </a:rPr>
              <a:t>Controller sinh kèm @UseGuards(RbacGuard) và @RequirePermission trên từng endpoint theo đúng PA map từ sơ đồ.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3 · Các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Kết quả 7 — Case study CourseMan: số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2743200" cy="1920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28090"/>
                </a:solidFill>
                <a:latin typeface="Cambria"/>
              </a:rPr>
              <a:t>331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dòng đặc tả đầu vào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7278"/>
                </a:solidFill>
                <a:latin typeface="Calibri"/>
              </a:rPr>
              <a:t>223 .puml + 22 .activity.puml + 86 .ocl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737360"/>
            <a:ext cx="2743200" cy="1920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96596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28090"/>
                </a:solidFill>
                <a:latin typeface="Cambria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697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file TypeScript sinh 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30632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7278"/>
                </a:solidFill>
                <a:latin typeface="Calibri"/>
              </a:rPr>
              <a:t>1.432 dòng mã — gấp ≈ 4,3 lần đặc tả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737360"/>
            <a:ext cx="2743200" cy="1920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6596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28090"/>
                </a:solidFill>
                <a:latin typeface="Cambria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697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lớp miền được làm giàu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0632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7278"/>
                </a:solidFill>
                <a:latin typeface="Calibri"/>
              </a:rPr>
              <a:t>2 bounded context · 4 AGL activity node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25712" y="1737360"/>
            <a:ext cx="2743200" cy="1920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96596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28090"/>
                </a:solidFill>
                <a:latin typeface="Cambria"/>
              </a:rPr>
              <a:t>3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697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role / 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0632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7278"/>
                </a:solidFill>
                <a:latin typeface="Calibri"/>
              </a:rPr>
              <a:t>sinh đủ enum, PA map, guard, decorator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77639"/>
            <a:ext cx="11018520" cy="65836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ourier New"/>
              </a:rPr>
              <a:t>EnrollmentContext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977639"/>
            <a:ext cx="7680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Student (AggregateRoot) · CourseModule · Enrolment · StudentName, Grade (VO) · 2 DomainEvent · EnrollmentService · 3 UseCase · 2 Repository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64024"/>
            <a:ext cx="11018520" cy="65836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64024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ourier New"/>
              </a:rPr>
              <a:t>SClassContext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764024"/>
            <a:ext cx="7680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SClass (AggregateRoot) · SClassRegistration · RegisterIntoClassEvent · ISClassRepository · CRUD tự sinh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50408"/>
            <a:ext cx="11018520" cy="65836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50408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ourier New"/>
              </a:rPr>
              <a:t>RBAC (AccessControl)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550408"/>
            <a:ext cx="7680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Admin · EnrollmentOfficer · StudentRole — hierarchy, SSD/DSD, cardinality; 15 permission có target.action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382512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7278"/>
                </a:solidFill>
                <a:latin typeface="Calibri"/>
              </a:rPr>
              <a:t>Toàn bộ mã sinh ra tuân thủ DDD phân tầng và pattern CQRS của NestJS; một lệnh generate tái tạo trọn dự án.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Phần 4 · Tiến độ viết luận văn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7292D"/>
                </a:solidFill>
                <a:latin typeface="Cambria"/>
              </a:rPr>
              <a:t>Tiến độ viết luận văn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234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libri"/>
              </a:rPr>
              <a:t>Chương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4480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Giới thiệu: bài toán, mục tiêu, phạm 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993391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DD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993391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73736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24328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24328"/>
            <a:ext cx="1234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libri"/>
              </a:rPr>
              <a:t>Chương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24328"/>
            <a:ext cx="4480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Cơ sở lý thuyết: DDD, DCSL/AGL, RBAC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880360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DD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2880360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2624328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11296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11296"/>
            <a:ext cx="1234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libri"/>
              </a:rPr>
              <a:t>Chương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11296"/>
            <a:ext cx="4480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Phương pháp: metamodel &amp; pipeline biến đổi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767328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DD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3767328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3511296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60%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98264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98264"/>
            <a:ext cx="1234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libri"/>
              </a:rPr>
              <a:t>Chương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398264"/>
            <a:ext cx="4480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Thực nghiệm: công cụ ddd-codegen &amp; CourseMan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654296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DD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465429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4398264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40%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285231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85231"/>
            <a:ext cx="1234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libri"/>
              </a:rPr>
              <a:t>Chương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285231"/>
            <a:ext cx="4480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5541264"/>
            <a:ext cx="3657600" cy="237744"/>
          </a:xfrm>
          <a:prstGeom prst="roundRect">
            <a:avLst>
              <a:gd name="adj" fmla="val 50000"/>
            </a:avLst>
          </a:prstGeom>
          <a:solidFill>
            <a:srgbClr val="DD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0" y="5541264"/>
            <a:ext cx="365760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5285231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92D"/>
                </a:solidFill>
                <a:latin typeface="Calibri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263639"/>
            <a:ext cx="11018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1">
                <a:solidFill>
                  <a:srgbClr val="5A7278"/>
                </a:solidFill>
                <a:latin typeface="Calibri"/>
              </a:rPr>
              <a:t>Kế hoạch: hoàn thiện Chương 3–4 song song với phần đánh giá định lượng; Chương 5 và rà soát toàn văn ở hai tuần cuối.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mbria"/>
              </a:rPr>
              <a:t>Công việc tiếp theo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453896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3438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41732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Đánh giá định lượng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4DDDF"/>
                </a:solidFill>
                <a:latin typeface="Calibri"/>
              </a:rPr>
              <a:t>Đo LoC đặc tả vs mã sinh ra; thời gian thêm role/permission mới so với viết tay; khảo sát mức dễ hiểu với người đọc sơ đồ.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79776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343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74320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Kiểm chứng ràng buộc OCL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4DDDF"/>
                </a:solidFill>
                <a:latin typeface="Calibri"/>
              </a:rPr>
              <a:t>Nối OCL subset parser vào bước kiểm chứng mô hình trước khi sinh mã; thực thi SSD/DSD, cardinality đã đặc tả.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4105656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343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06908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Hoàn thiện luận văn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4DDDF"/>
                </a:solidFill>
                <a:latin typeface="Calibri"/>
              </a:rPr>
              <a:t>Chương 3–4 hoàn chỉnh, bổ sung kết quả đánh giá vào Chương 4, viết Chương 5 và rà soát toàn văn.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977639" cy="38404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459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Hướng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031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E6C9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RBAC cross-domain giữa các bounded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803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E6C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8036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Thực thi SSD/DSD (RBAC₂) ở runtime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6576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E6C9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65760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Đầu vào Mermaid; kiểm chứng USE tự động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4348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E6C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4348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Sinh test e2e kèm theo mã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Trân trọng cảm ơn thầy/cô và hội đồng —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