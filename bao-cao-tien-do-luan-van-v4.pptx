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notesMaster" Target="notesMasters/notesMaster1.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 thích trình bày:</a:t>
            </a:r>
          </a:p>
          <a:p>
            <a:r>
              <a:t>- Đây là hiện thực của Bước 2: mọi thứ parser đọc được đều đổ về một cấu trúc DomainMetamodel.</a:t>
            </a:r>
          </a:p>
          <a:p>
            <a:r>
              <a:t>- Chỉ vào 3 comment DCSL/RBAC/OCL: mỗi concern một nhánh của AST, cùng một gốc — hiện thực hóa tư tưởng UDML.</a:t>
            </a:r>
          </a:p>
          <a:p>
            <a:r>
              <a:t>- extendsRole giữ phân cấp RBAC1 — đầu vào cho vòng lặp lan truyền quyền ở Bước 3.</a:t>
            </a:r>
          </a:p>
          <a:p>
            <a:r>
              <a:t>- Lợi thế TypeScript: tham chiếu chéo sai cấu trúc bị bắt ngay khi biên dịch công cụ.</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 thích trình bày:</a:t>
            </a:r>
          </a:p>
          <a:p>
            <a:r>
              <a:t>- Quy trình: nhấn mạnh tính lặp lại — toàn bộ hệ thống sinh bằng một lệnh, kịch bản chạy tự động.</a:t>
            </a:r>
          </a:p>
          <a:p>
            <a:r>
              <a:t>- Bước 2: kịch bản suy từ bảng gán quyền trong đặc tả: mỗi (vai trò, quyền) → kịch bản cho phép; mỗi (vai trò, quyền không có) → kịch bản bị cấm.</a:t>
            </a:r>
          </a:p>
          <a:p>
            <a:r>
              <a:t>- Bước 3: mutation test đánh giá RQ3 — làm hỏng mô hình có chủ đích, pipeline phải từ chối ở bước kiểm chứng.</a:t>
            </a:r>
          </a:p>
          <a:p>
            <a:r>
              <a:t>- Bảng phải: mỗi RQ gắn thước đo + nguồn dữ liệu rõ ràng để trả lời trong chương 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 thích trình bày:</a:t>
            </a:r>
          </a:p>
          <a:p>
            <a:r>
              <a:t>- TC1/TC2: cặp đối chứng — cùng thao tác, khác vai trò → một cho phép, một bị chặn.</a:t>
            </a:r>
          </a:p>
          <a:p>
            <a:r>
              <a:t>- TC3: điểm nhấn RBAC₁ — Admin không khai báo VIEW_STUDENTS nhưng vẫn đọc được nhờ kế thừa; chứng minh lan truyền fixed-point.</a:t>
            </a:r>
          </a:p>
          <a:p>
            <a:r>
              <a:t>- TC4/TC6: bị chặn lúc thiết kế — lỗi không bao giờ xuống mã. TC5: ràng buộc động theo phiên.</a:t>
            </a:r>
          </a:p>
          <a:p>
            <a:r>
              <a:t>- Trung thực: TC4–TC6 phụ thuộc bước 4 đang tích hợp — đã nêu ở slide toolmap.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 thích trình bày:</a:t>
            </a:r>
          </a:p>
          <a:p>
            <a:r>
              <a:t>- Mở đầu: trước khi nêu kết quả đánh giá là đáng tin đến đâu, luận văn tự đánh giá các nguy cơ ảnh hưởng tính hợp lệ theo khung chuẩn của Wohlin et al. và Runeson &amp; Höst (case study).</a:t>
            </a:r>
          </a:p>
          <a:p>
            <a:r>
              <a:t>- Internal: liệu kết quả tốt là nhờ phương pháp, hay vì kịch bản được chọn thuận lợi?</a:t>
            </a:r>
          </a:p>
          <a:p>
            <a:r>
              <a:t>- External: một case study CourseMan, một nền tảng đích — không tự động suy ra mọi hệ thống.</a:t>
            </a:r>
          </a:p>
          <a:p>
            <a:r>
              <a:t>- Construct: LoC hay thời gian chỉ là thước đo gián tiếp của năng suất/độ dễ hiểu.</a:t>
            </a:r>
          </a:p>
          <a:p>
            <a:r>
              <a:t>- Conclusion: dữ liệu ít, chưa kiểm định thống kê — kết luận phải thận trọng.</a:t>
            </a:r>
          </a:p>
          <a:p>
            <a:r>
              <a:t>- Chuyển tiếp: slide sau nêu từng nguy cơ cụ thể của luận văn và biện pháp giảm thiểu tương ứng.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 thích trình bày:</a:t>
            </a:r>
          </a:p>
          <a:p>
            <a:r>
              <a:t>- Internal: case study do chính tác giả xây → nguy cơ chọn kịch bản dễ. Giảm thiểu: kịch bản cấm/cho phép suy trực tiếp từ đặc tả trước khi chạy; mutation test sinh máy móc, không chọn tay.</a:t>
            </a:r>
          </a:p>
          <a:p>
            <a:r>
              <a:t>- External: một case study, một nền tảng sinh mã đích. Giảm thiểu: phương pháp (bước 1–5) ở mức khái niệm, không phụ thuộc công nghệ; đổi nền tảng chỉ cần thay bộ template ở bước 5.</a:t>
            </a:r>
          </a:p>
          <a:p>
            <a:r>
              <a:t>- Construct: LoC không phải là năng suất; thời gian phụ thuộc người làm. Giảm thiểu: nhiều thước đo + khảo sát định tính.</a:t>
            </a:r>
          </a:p>
          <a:p>
            <a:r>
              <a:t>- Conclusion: khảo sát cỡ mẫu nhỏ → chỉ báo cáo thống kê mô tả.</a:t>
            </a:r>
          </a:p>
          <a:p>
            <a:r>
              <a:t>- Kết: các giới hạn này được ghi rõ trong chương 4; hướng phát triển sẽ thêm case study thứ hai.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3438"/>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nchor="t" lIns="0" rIns="0" tIns="0" bIns="0">
            <a:spAutoFit/>
          </a:bodyPr>
          <a:lstStyle/>
          <a:p>
            <a:pPr algn="l"/>
            <a:r>
              <a:rPr sz="1400" b="1" i="0">
                <a:solidFill>
                  <a:srgbClr val="02C39A"/>
                </a:solidFill>
                <a:latin typeface="Calibri"/>
              </a:rPr>
              <a:t>Luận văn Thạc sĩ  ·  Báo cáo tiến độ</a:t>
            </a:r>
          </a:p>
        </p:txBody>
      </p:sp>
      <p:sp>
        <p:nvSpPr>
          <p:cNvPr id="3" name="TextBox 2"/>
          <p:cNvSpPr txBox="1"/>
          <p:nvPr/>
        </p:nvSpPr>
        <p:spPr>
          <a:xfrm>
            <a:off x="822960" y="1097280"/>
            <a:ext cx="10607040" cy="1554480"/>
          </a:xfrm>
          <a:prstGeom prst="rect">
            <a:avLst/>
          </a:prstGeom>
          <a:noFill/>
        </p:spPr>
        <p:txBody>
          <a:bodyPr wrap="square" anchor="t" lIns="0" rIns="0" tIns="0" bIns="0">
            <a:spAutoFit/>
          </a:bodyPr>
          <a:lstStyle/>
          <a:p>
            <a:pPr algn="l">
              <a:lnSpc>
                <a:spcPct val="105000"/>
              </a:lnSpc>
            </a:pPr>
            <a:r>
              <a:rPr sz="3100" b="1" i="0">
                <a:solidFill>
                  <a:srgbClr val="FFFFFF"/>
                </a:solidFill>
                <a:latin typeface="Cambria"/>
              </a:rPr>
              <a:t>Đặc tả và tích hợp kiểm soát truy cập dựa trên vai trò trong Thiết kế hướng miền</a:t>
            </a:r>
          </a:p>
        </p:txBody>
      </p:sp>
      <p:sp>
        <p:nvSpPr>
          <p:cNvPr id="4" name="TextBox 3"/>
          <p:cNvSpPr txBox="1"/>
          <p:nvPr/>
        </p:nvSpPr>
        <p:spPr>
          <a:xfrm>
            <a:off x="822960" y="2743200"/>
            <a:ext cx="10424160" cy="457200"/>
          </a:xfrm>
          <a:prstGeom prst="rect">
            <a:avLst/>
          </a:prstGeom>
          <a:noFill/>
        </p:spPr>
        <p:txBody>
          <a:bodyPr wrap="square" anchor="t" lIns="0" rIns="0" tIns="0" bIns="0">
            <a:spAutoFit/>
          </a:bodyPr>
          <a:lstStyle/>
          <a:p>
            <a:pPr algn="l"/>
            <a:r>
              <a:rPr sz="1500" b="0" i="1">
                <a:solidFill>
                  <a:srgbClr val="BFE3E6"/>
                </a:solidFill>
                <a:latin typeface="Calibri"/>
              </a:rPr>
              <a:t>Specification and Integration of Role-Based Access Control in Domain-Driven Design</a:t>
            </a:r>
          </a:p>
        </p:txBody>
      </p:sp>
      <p:sp>
        <p:nvSpPr>
          <p:cNvPr id="5" name="TextBox 4"/>
          <p:cNvSpPr txBox="1"/>
          <p:nvPr/>
        </p:nvSpPr>
        <p:spPr>
          <a:xfrm>
            <a:off x="822960" y="3291840"/>
            <a:ext cx="10058400" cy="365760"/>
          </a:xfrm>
          <a:prstGeom prst="rect">
            <a:avLst/>
          </a:prstGeom>
          <a:noFill/>
        </p:spPr>
        <p:txBody>
          <a:bodyPr wrap="square" anchor="t" lIns="0" rIns="0" tIns="0" bIns="0">
            <a:spAutoFit/>
          </a:bodyPr>
          <a:lstStyle/>
          <a:p>
            <a:pPr algn="l"/>
            <a:r>
              <a:rPr sz="1300" b="0" i="0">
                <a:solidFill>
                  <a:srgbClr val="9FC9CD"/>
                </a:solidFill>
                <a:latin typeface="Calibri"/>
              </a:rPr>
              <a:t>Học viên: [Họ tên]      GVHD: [Người hướng dẫn]      2026</a:t>
            </a:r>
          </a:p>
        </p:txBody>
      </p:sp>
      <p:sp>
        <p:nvSpPr>
          <p:cNvPr id="6" name="Rounded Rectangle 5"/>
          <p:cNvSpPr/>
          <p:nvPr/>
        </p:nvSpPr>
        <p:spPr>
          <a:xfrm>
            <a:off x="822960" y="4754880"/>
            <a:ext cx="2395728" cy="868680"/>
          </a:xfrm>
          <a:prstGeom prst="roundRect">
            <a:avLst>
              <a:gd name="adj" fmla="val 5500"/>
            </a:avLst>
          </a:prstGeom>
          <a:solidFill>
            <a:srgbClr val="0F454C"/>
          </a:solidFill>
          <a:ln w="9525">
            <a:solidFill>
              <a:srgbClr val="1E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754880"/>
            <a:ext cx="2121408" cy="868680"/>
          </a:xfrm>
          <a:prstGeom prst="rect">
            <a:avLst/>
          </a:prstGeom>
          <a:noFill/>
        </p:spPr>
        <p:txBody>
          <a:bodyPr wrap="square" anchor="ctr" lIns="0" rIns="0" tIns="0" bIns="0">
            <a:spAutoFit/>
          </a:bodyPr>
          <a:lstStyle/>
          <a:p>
            <a:pPr algn="ctr"/>
            <a:r>
              <a:rPr sz="1300" b="1" i="0">
                <a:solidFill>
                  <a:srgbClr val="FFFFFF"/>
                </a:solidFill>
                <a:latin typeface="Calibri"/>
              </a:rPr>
              <a:t>PlantUML + OCL</a:t>
            </a:r>
          </a:p>
        </p:txBody>
      </p:sp>
      <p:sp>
        <p:nvSpPr>
          <p:cNvPr id="8" name="Right Arrow 7"/>
          <p:cNvSpPr/>
          <p:nvPr/>
        </p:nvSpPr>
        <p:spPr>
          <a:xfrm>
            <a:off x="3236976" y="5070348"/>
            <a:ext cx="274320" cy="237744"/>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38728" y="4754880"/>
            <a:ext cx="2395728" cy="868680"/>
          </a:xfrm>
          <a:prstGeom prst="roundRect">
            <a:avLst>
              <a:gd name="adj" fmla="val 5500"/>
            </a:avLst>
          </a:prstGeom>
          <a:solidFill>
            <a:srgbClr val="0F454C"/>
          </a:solidFill>
          <a:ln w="9525">
            <a:solidFill>
              <a:srgbClr val="1E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5888" y="4754880"/>
            <a:ext cx="2121408" cy="868680"/>
          </a:xfrm>
          <a:prstGeom prst="rect">
            <a:avLst/>
          </a:prstGeom>
          <a:noFill/>
        </p:spPr>
        <p:txBody>
          <a:bodyPr wrap="square" anchor="ctr" lIns="0" rIns="0" tIns="0" bIns="0">
            <a:spAutoFit/>
          </a:bodyPr>
          <a:lstStyle/>
          <a:p>
            <a:pPr algn="ctr"/>
            <a:r>
              <a:rPr sz="1300" b="1" i="0">
                <a:solidFill>
                  <a:srgbClr val="FFFFFF"/>
                </a:solidFill>
                <a:latin typeface="Calibri"/>
              </a:rPr>
              <a:t>Metamodel hợp nhất</a:t>
            </a:r>
          </a:p>
        </p:txBody>
      </p:sp>
      <p:sp>
        <p:nvSpPr>
          <p:cNvPr id="11" name="Right Arrow 10"/>
          <p:cNvSpPr/>
          <p:nvPr/>
        </p:nvSpPr>
        <p:spPr>
          <a:xfrm>
            <a:off x="5952744" y="5070348"/>
            <a:ext cx="274320" cy="237744"/>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6" y="4754880"/>
            <a:ext cx="2395728" cy="868680"/>
          </a:xfrm>
          <a:prstGeom prst="roundRect">
            <a:avLst>
              <a:gd name="adj" fmla="val 5500"/>
            </a:avLst>
          </a:prstGeom>
          <a:solidFill>
            <a:srgbClr val="0F454C"/>
          </a:solidFill>
          <a:ln w="9525">
            <a:solidFill>
              <a:srgbClr val="1E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4754880"/>
            <a:ext cx="2121408" cy="868680"/>
          </a:xfrm>
          <a:prstGeom prst="rect">
            <a:avLst/>
          </a:prstGeom>
          <a:noFill/>
        </p:spPr>
        <p:txBody>
          <a:bodyPr wrap="square" anchor="ctr" lIns="0" rIns="0" tIns="0" bIns="0">
            <a:spAutoFit/>
          </a:bodyPr>
          <a:lstStyle/>
          <a:p>
            <a:pPr algn="ctr"/>
            <a:r>
              <a:rPr sz="1300" b="1" i="0">
                <a:solidFill>
                  <a:srgbClr val="FFFFFF"/>
                </a:solidFill>
                <a:latin typeface="Calibri"/>
              </a:rPr>
              <a:t>ddd-codegen</a:t>
            </a:r>
          </a:p>
        </p:txBody>
      </p:sp>
      <p:sp>
        <p:nvSpPr>
          <p:cNvPr id="14" name="Right Arrow 13"/>
          <p:cNvSpPr/>
          <p:nvPr/>
        </p:nvSpPr>
        <p:spPr>
          <a:xfrm>
            <a:off x="8668512" y="5070348"/>
            <a:ext cx="274320" cy="237744"/>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970264" y="4754880"/>
            <a:ext cx="2395728" cy="868680"/>
          </a:xfrm>
          <a:prstGeom prst="roundRect">
            <a:avLst>
              <a:gd name="adj" fmla="val 5500"/>
            </a:avLst>
          </a:prstGeom>
          <a:solidFill>
            <a:srgbClr val="0F454C"/>
          </a:solidFill>
          <a:ln w="9525">
            <a:solidFill>
              <a:srgbClr val="1E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07424" y="4754880"/>
            <a:ext cx="2121408" cy="868680"/>
          </a:xfrm>
          <a:prstGeom prst="rect">
            <a:avLst/>
          </a:prstGeom>
          <a:noFill/>
        </p:spPr>
        <p:txBody>
          <a:bodyPr wrap="square" anchor="ctr" lIns="0" rIns="0" tIns="0" bIns="0">
            <a:spAutoFit/>
          </a:bodyPr>
          <a:lstStyle/>
          <a:p>
            <a:pPr algn="ctr"/>
            <a:r>
              <a:rPr sz="1300" b="1" i="0">
                <a:solidFill>
                  <a:srgbClr val="FFFFFF"/>
                </a:solidFill>
                <a:latin typeface="Calibri"/>
              </a:rPr>
              <a:t>NestJS DDD + RBAC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640080"/>
          </a:xfrm>
          <a:prstGeom prst="rect">
            <a:avLst/>
          </a:prstGeom>
          <a:noFill/>
        </p:spPr>
        <p:txBody>
          <a:bodyPr wrap="square" anchor="t" lIns="0" rIns="0" tIns="0" bIns="0">
            <a:spAutoFit/>
          </a:bodyPr>
          <a:lstStyle/>
          <a:p>
            <a:pPr algn="l"/>
            <a:r>
              <a:rPr sz="2900" b="1" i="0">
                <a:solidFill>
                  <a:srgbClr val="17292D"/>
                </a:solidFill>
                <a:latin typeface="Cambria"/>
              </a:rPr>
              <a:t>Nội dung trình bày</a:t>
            </a:r>
          </a:p>
        </p:txBody>
      </p:sp>
      <p:sp>
        <p:nvSpPr>
          <p:cNvPr id="3" name="Rounded Rectangle 2"/>
          <p:cNvSpPr/>
          <p:nvPr/>
        </p:nvSpPr>
        <p:spPr>
          <a:xfrm>
            <a:off x="822960" y="1554480"/>
            <a:ext cx="10515600" cy="86868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43000" y="1783080"/>
            <a:ext cx="420624" cy="420624"/>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1</a:t>
            </a:r>
          </a:p>
        </p:txBody>
      </p:sp>
      <p:sp>
        <p:nvSpPr>
          <p:cNvPr id="5" name="TextBox 4"/>
          <p:cNvSpPr txBox="1"/>
          <p:nvPr/>
        </p:nvSpPr>
        <p:spPr>
          <a:xfrm>
            <a:off x="1828800" y="1664207"/>
            <a:ext cx="9144000" cy="411480"/>
          </a:xfrm>
          <a:prstGeom prst="rect">
            <a:avLst/>
          </a:prstGeom>
          <a:noFill/>
        </p:spPr>
        <p:txBody>
          <a:bodyPr wrap="square" anchor="t" lIns="0" rIns="0" tIns="0" bIns="0">
            <a:spAutoFit/>
          </a:bodyPr>
          <a:lstStyle/>
          <a:p>
            <a:pPr algn="l"/>
            <a:r>
              <a:rPr sz="1500" b="1" i="0">
                <a:solidFill>
                  <a:srgbClr val="17292D"/>
                </a:solidFill>
                <a:latin typeface="Calibri"/>
              </a:rPr>
              <a:t>Giới thiệu bài toán và động lực nghiên cứu</a:t>
            </a:r>
          </a:p>
        </p:txBody>
      </p:sp>
      <p:sp>
        <p:nvSpPr>
          <p:cNvPr id="6" name="TextBox 5"/>
          <p:cNvSpPr txBox="1"/>
          <p:nvPr/>
        </p:nvSpPr>
        <p:spPr>
          <a:xfrm>
            <a:off x="1828800" y="2057400"/>
            <a:ext cx="9144000" cy="329184"/>
          </a:xfrm>
          <a:prstGeom prst="rect">
            <a:avLst/>
          </a:prstGeom>
          <a:noFill/>
        </p:spPr>
        <p:txBody>
          <a:bodyPr wrap="square" anchor="t" lIns="0" rIns="0" tIns="0" bIns="0">
            <a:spAutoFit/>
          </a:bodyPr>
          <a:lstStyle/>
          <a:p>
            <a:pPr algn="l"/>
            <a:r>
              <a:rPr sz="1100" b="0" i="0">
                <a:solidFill>
                  <a:srgbClr val="5A7278"/>
                </a:solidFill>
                <a:latin typeface="Calibri"/>
              </a:rPr>
              <a:t>Domain model &amp; concern · thách thức tích hợp · phát biểu bài toán</a:t>
            </a:r>
          </a:p>
        </p:txBody>
      </p:sp>
      <p:sp>
        <p:nvSpPr>
          <p:cNvPr id="7" name="Rounded Rectangle 6"/>
          <p:cNvSpPr/>
          <p:nvPr/>
        </p:nvSpPr>
        <p:spPr>
          <a:xfrm>
            <a:off x="822960" y="2551176"/>
            <a:ext cx="10515600" cy="86868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 y="2779776"/>
            <a:ext cx="420624" cy="420624"/>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2</a:t>
            </a:r>
          </a:p>
        </p:txBody>
      </p:sp>
      <p:sp>
        <p:nvSpPr>
          <p:cNvPr id="9" name="TextBox 8"/>
          <p:cNvSpPr txBox="1"/>
          <p:nvPr/>
        </p:nvSpPr>
        <p:spPr>
          <a:xfrm>
            <a:off x="1828800" y="2660904"/>
            <a:ext cx="9144000" cy="411480"/>
          </a:xfrm>
          <a:prstGeom prst="rect">
            <a:avLst/>
          </a:prstGeom>
          <a:noFill/>
        </p:spPr>
        <p:txBody>
          <a:bodyPr wrap="square" anchor="t" lIns="0" rIns="0" tIns="0" bIns="0">
            <a:spAutoFit/>
          </a:bodyPr>
          <a:lstStyle/>
          <a:p>
            <a:pPr algn="l"/>
            <a:r>
              <a:rPr sz="1500" b="1" i="0">
                <a:solidFill>
                  <a:srgbClr val="17292D"/>
                </a:solidFill>
                <a:latin typeface="Calibri"/>
              </a:rPr>
              <a:t>Phương pháp: đặc tả &amp; tích hợp RBAC vào Domain Model</a:t>
            </a:r>
          </a:p>
        </p:txBody>
      </p:sp>
      <p:sp>
        <p:nvSpPr>
          <p:cNvPr id="10" name="TextBox 9"/>
          <p:cNvSpPr txBox="1"/>
          <p:nvPr/>
        </p:nvSpPr>
        <p:spPr>
          <a:xfrm>
            <a:off x="1828800" y="3054096"/>
            <a:ext cx="9144000" cy="329184"/>
          </a:xfrm>
          <a:prstGeom prst="rect">
            <a:avLst/>
          </a:prstGeom>
          <a:noFill/>
        </p:spPr>
        <p:txBody>
          <a:bodyPr wrap="square" anchor="t" lIns="0" rIns="0" tIns="0" bIns="0">
            <a:spAutoFit/>
          </a:bodyPr>
          <a:lstStyle/>
          <a:p>
            <a:pPr algn="l"/>
            <a:r>
              <a:rPr sz="1100" b="0" i="0">
                <a:solidFill>
                  <a:srgbClr val="5A7278"/>
                </a:solidFill>
                <a:latin typeface="Calibri"/>
              </a:rPr>
              <a:t>Tổng quan + chi tiết 5 bước · hai đóng góp chính</a:t>
            </a:r>
          </a:p>
        </p:txBody>
      </p:sp>
      <p:sp>
        <p:nvSpPr>
          <p:cNvPr id="11" name="Rounded Rectangle 10"/>
          <p:cNvSpPr/>
          <p:nvPr/>
        </p:nvSpPr>
        <p:spPr>
          <a:xfrm>
            <a:off x="822960" y="3547872"/>
            <a:ext cx="10515600" cy="86868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43000" y="3776472"/>
            <a:ext cx="420624" cy="420624"/>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3</a:t>
            </a:r>
          </a:p>
        </p:txBody>
      </p:sp>
      <p:sp>
        <p:nvSpPr>
          <p:cNvPr id="13" name="TextBox 12"/>
          <p:cNvSpPr txBox="1"/>
          <p:nvPr/>
        </p:nvSpPr>
        <p:spPr>
          <a:xfrm>
            <a:off x="1828800" y="3657600"/>
            <a:ext cx="9144000" cy="411480"/>
          </a:xfrm>
          <a:prstGeom prst="rect">
            <a:avLst/>
          </a:prstGeom>
          <a:noFill/>
        </p:spPr>
        <p:txBody>
          <a:bodyPr wrap="square" anchor="t" lIns="0" rIns="0" tIns="0" bIns="0">
            <a:spAutoFit/>
          </a:bodyPr>
          <a:lstStyle/>
          <a:p>
            <a:pPr algn="l"/>
            <a:r>
              <a:rPr sz="1500" b="1" i="0">
                <a:solidFill>
                  <a:srgbClr val="17292D"/>
                </a:solidFill>
                <a:latin typeface="Calibri"/>
              </a:rPr>
              <a:t>Tool support</a:t>
            </a:r>
          </a:p>
        </p:txBody>
      </p:sp>
      <p:sp>
        <p:nvSpPr>
          <p:cNvPr id="14" name="TextBox 13"/>
          <p:cNvSpPr txBox="1"/>
          <p:nvPr/>
        </p:nvSpPr>
        <p:spPr>
          <a:xfrm>
            <a:off x="1828800" y="4050791"/>
            <a:ext cx="9144000" cy="329184"/>
          </a:xfrm>
          <a:prstGeom prst="rect">
            <a:avLst/>
          </a:prstGeom>
          <a:noFill/>
        </p:spPr>
        <p:txBody>
          <a:bodyPr wrap="square" anchor="t" lIns="0" rIns="0" tIns="0" bIns="0">
            <a:spAutoFit/>
          </a:bodyPr>
          <a:lstStyle/>
          <a:p>
            <a:pPr algn="l"/>
            <a:r>
              <a:rPr sz="1100" b="0" i="0">
                <a:solidFill>
                  <a:srgbClr val="5A7278"/>
                </a:solidFill>
                <a:latin typeface="Calibri"/>
              </a:rPr>
              <a:t>Công cụ ddd-codegen hiện thực hóa phương pháp · các thành phần đã xây dựng</a:t>
            </a:r>
          </a:p>
        </p:txBody>
      </p:sp>
      <p:sp>
        <p:nvSpPr>
          <p:cNvPr id="15" name="Rounded Rectangle 14"/>
          <p:cNvSpPr/>
          <p:nvPr/>
        </p:nvSpPr>
        <p:spPr>
          <a:xfrm>
            <a:off x="822960" y="4544568"/>
            <a:ext cx="10515600" cy="86868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43000" y="4773168"/>
            <a:ext cx="420624" cy="420624"/>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4</a:t>
            </a:r>
          </a:p>
        </p:txBody>
      </p:sp>
      <p:sp>
        <p:nvSpPr>
          <p:cNvPr id="17" name="TextBox 16"/>
          <p:cNvSpPr txBox="1"/>
          <p:nvPr/>
        </p:nvSpPr>
        <p:spPr>
          <a:xfrm>
            <a:off x="1828800" y="4654296"/>
            <a:ext cx="9144000" cy="411480"/>
          </a:xfrm>
          <a:prstGeom prst="rect">
            <a:avLst/>
          </a:prstGeom>
          <a:noFill/>
        </p:spPr>
        <p:txBody>
          <a:bodyPr wrap="square" anchor="t" lIns="0" rIns="0" tIns="0" bIns="0">
            <a:spAutoFit/>
          </a:bodyPr>
          <a:lstStyle/>
          <a:p>
            <a:pPr algn="l"/>
            <a:r>
              <a:rPr sz="1500" b="1" i="0">
                <a:solidFill>
                  <a:srgbClr val="17292D"/>
                </a:solidFill>
                <a:latin typeface="Calibri"/>
              </a:rPr>
              <a:t>Đánh giá thực nghiệm</a:t>
            </a:r>
          </a:p>
        </p:txBody>
      </p:sp>
      <p:sp>
        <p:nvSpPr>
          <p:cNvPr id="18" name="TextBox 17"/>
          <p:cNvSpPr txBox="1"/>
          <p:nvPr/>
        </p:nvSpPr>
        <p:spPr>
          <a:xfrm>
            <a:off x="1828800" y="5047488"/>
            <a:ext cx="9144000" cy="329184"/>
          </a:xfrm>
          <a:prstGeom prst="rect">
            <a:avLst/>
          </a:prstGeom>
          <a:noFill/>
        </p:spPr>
        <p:txBody>
          <a:bodyPr wrap="square" anchor="t" lIns="0" rIns="0" tIns="0" bIns="0">
            <a:spAutoFit/>
          </a:bodyPr>
          <a:lstStyle/>
          <a:p>
            <a:pPr algn="l"/>
            <a:r>
              <a:rPr sz="1100" b="0" i="0">
                <a:solidFill>
                  <a:srgbClr val="5A7278"/>
                </a:solidFill>
                <a:latin typeface="Calibri"/>
              </a:rPr>
              <a:t>4 câu hỏi nghiên cứu · kết quả sơ bộ · threats to validity</a:t>
            </a:r>
          </a:p>
        </p:txBody>
      </p:sp>
      <p:sp>
        <p:nvSpPr>
          <p:cNvPr id="19" name="Rounded Rectangle 18"/>
          <p:cNvSpPr/>
          <p:nvPr/>
        </p:nvSpPr>
        <p:spPr>
          <a:xfrm>
            <a:off x="822960" y="5541264"/>
            <a:ext cx="10515600" cy="86868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43000" y="5769864"/>
            <a:ext cx="420624" cy="420624"/>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5</a:t>
            </a:r>
          </a:p>
        </p:txBody>
      </p:sp>
      <p:sp>
        <p:nvSpPr>
          <p:cNvPr id="21" name="TextBox 20"/>
          <p:cNvSpPr txBox="1"/>
          <p:nvPr/>
        </p:nvSpPr>
        <p:spPr>
          <a:xfrm>
            <a:off x="1828800" y="5650992"/>
            <a:ext cx="9144000" cy="411480"/>
          </a:xfrm>
          <a:prstGeom prst="rect">
            <a:avLst/>
          </a:prstGeom>
          <a:noFill/>
        </p:spPr>
        <p:txBody>
          <a:bodyPr wrap="square" anchor="t" lIns="0" rIns="0" tIns="0" bIns="0">
            <a:spAutoFit/>
          </a:bodyPr>
          <a:lstStyle/>
          <a:p>
            <a:pPr algn="l"/>
            <a:r>
              <a:rPr sz="1500" b="1" i="0">
                <a:solidFill>
                  <a:srgbClr val="17292D"/>
                </a:solidFill>
                <a:latin typeface="Calibri"/>
              </a:rPr>
              <a:t>Tiến độ viết luận văn</a:t>
            </a:r>
          </a:p>
        </p:txBody>
      </p:sp>
      <p:sp>
        <p:nvSpPr>
          <p:cNvPr id="22" name="TextBox 21"/>
          <p:cNvSpPr txBox="1"/>
          <p:nvPr/>
        </p:nvSpPr>
        <p:spPr>
          <a:xfrm>
            <a:off x="1828800" y="6044183"/>
            <a:ext cx="9144000" cy="329184"/>
          </a:xfrm>
          <a:prstGeom prst="rect">
            <a:avLst/>
          </a:prstGeom>
          <a:noFill/>
        </p:spPr>
        <p:txBody>
          <a:bodyPr wrap="square" anchor="t" lIns="0" rIns="0" tIns="0" bIns="0">
            <a:spAutoFit/>
          </a:bodyPr>
          <a:lstStyle/>
          <a:p>
            <a:pPr algn="l"/>
            <a:r>
              <a:rPr sz="1100" b="0" i="0">
                <a:solidFill>
                  <a:srgbClr val="5A7278"/>
                </a:solidFill>
                <a:latin typeface="Calibri"/>
              </a:rPr>
              <a:t>Trạng thái 5 chương · kế hoạch hoàn thiện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1 · Giới thiệu bài toán và động lực nghiên cứu</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Domain model và các concern</a:t>
            </a:r>
          </a:p>
        </p:txBody>
      </p:sp>
      <p:sp>
        <p:nvSpPr>
          <p:cNvPr id="4" name="Rounded Rectangle 3"/>
          <p:cNvSpPr/>
          <p:nvPr/>
        </p:nvSpPr>
        <p:spPr>
          <a:xfrm>
            <a:off x="594360" y="1600200"/>
            <a:ext cx="5852160" cy="3977639"/>
          </a:xfrm>
          <a:prstGeom prst="roundRect">
            <a:avLst>
              <a:gd name="adj" fmla="val 5500"/>
            </a:avLst>
          </a:prstGeom>
          <a:solidFill>
            <a:srgbClr val="F5FA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83080"/>
            <a:ext cx="5303520" cy="365760"/>
          </a:xfrm>
          <a:prstGeom prst="rect">
            <a:avLst/>
          </a:prstGeom>
          <a:noFill/>
        </p:spPr>
        <p:txBody>
          <a:bodyPr wrap="square" anchor="t" lIns="0" rIns="0" tIns="0" bIns="0">
            <a:spAutoFit/>
          </a:bodyPr>
          <a:lstStyle/>
          <a:p>
            <a:pPr algn="l"/>
            <a:r>
              <a:rPr sz="1400" b="1" i="0">
                <a:solidFill>
                  <a:srgbClr val="028090"/>
                </a:solidFill>
                <a:latin typeface="Calibri"/>
              </a:rPr>
              <a:t>DOMAIN MODEL — mô hình miền</a:t>
            </a:r>
          </a:p>
        </p:txBody>
      </p:sp>
      <p:sp>
        <p:nvSpPr>
          <p:cNvPr id="6" name="Rounded Rectangle 5"/>
          <p:cNvSpPr/>
          <p:nvPr/>
        </p:nvSpPr>
        <p:spPr>
          <a:xfrm>
            <a:off x="1051560" y="2377440"/>
            <a:ext cx="1600200" cy="914400"/>
          </a:xfrm>
          <a:prstGeom prst="roundRect">
            <a:avLst>
              <a:gd name="adj" fmla="val 4000"/>
            </a:avLst>
          </a:prstGeom>
          <a:solidFill>
            <a:srgbClr val="FFFFFF"/>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432304"/>
            <a:ext cx="1600200" cy="274320"/>
          </a:xfrm>
          <a:prstGeom prst="rect">
            <a:avLst/>
          </a:prstGeom>
          <a:noFill/>
        </p:spPr>
        <p:txBody>
          <a:bodyPr wrap="square" anchor="t" lIns="0" rIns="0" tIns="0" bIns="0">
            <a:spAutoFit/>
          </a:bodyPr>
          <a:lstStyle/>
          <a:p>
            <a:pPr algn="ctr"/>
            <a:r>
              <a:rPr sz="1150" b="1" i="0">
                <a:solidFill>
                  <a:srgbClr val="028090"/>
                </a:solidFill>
                <a:latin typeface="Calibri"/>
              </a:rPr>
              <a:t>Student</a:t>
            </a:r>
          </a:p>
        </p:txBody>
      </p:sp>
      <p:cxnSp>
        <p:nvCxnSpPr>
          <p:cNvPr id="8" name="Connector 7"/>
          <p:cNvCxnSpPr/>
          <p:nvPr/>
        </p:nvCxnSpPr>
        <p:spPr>
          <a:xfrm>
            <a:off x="1124712" y="2706624"/>
            <a:ext cx="1453896" cy="0"/>
          </a:xfrm>
          <a:prstGeom prst="line">
            <a:avLst/>
          </a:prstGeom>
          <a:ln w="11430">
            <a:solidFill>
              <a:srgbClr val="CFE0E2"/>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61288" y="2743200"/>
            <a:ext cx="1417320" cy="502920"/>
          </a:xfrm>
          <a:prstGeom prst="rect">
            <a:avLst/>
          </a:prstGeom>
          <a:noFill/>
        </p:spPr>
        <p:txBody>
          <a:bodyPr wrap="square" anchor="t" lIns="0" rIns="0" tIns="0" bIns="0">
            <a:spAutoFit/>
          </a:bodyPr>
          <a:lstStyle/>
          <a:p>
            <a:pPr algn="l"/>
            <a:r>
              <a:rPr sz="850" b="0" i="0">
                <a:solidFill>
                  <a:srgbClr val="5A7278"/>
                </a:solidFill>
                <a:latin typeface="Courier New"/>
              </a:rPr>
              <a:t>id, name
enroll()</a:t>
            </a:r>
          </a:p>
        </p:txBody>
      </p:sp>
      <p:sp>
        <p:nvSpPr>
          <p:cNvPr id="10" name="Rounded Rectangle 9"/>
          <p:cNvSpPr/>
          <p:nvPr/>
        </p:nvSpPr>
        <p:spPr>
          <a:xfrm>
            <a:off x="4572000" y="2377440"/>
            <a:ext cx="1600200" cy="914400"/>
          </a:xfrm>
          <a:prstGeom prst="roundRect">
            <a:avLst>
              <a:gd name="adj" fmla="val 4000"/>
            </a:avLst>
          </a:prstGeom>
          <a:solidFill>
            <a:srgbClr val="FFFFFF"/>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432304"/>
            <a:ext cx="1600200" cy="274320"/>
          </a:xfrm>
          <a:prstGeom prst="rect">
            <a:avLst/>
          </a:prstGeom>
          <a:noFill/>
        </p:spPr>
        <p:txBody>
          <a:bodyPr wrap="square" anchor="t" lIns="0" rIns="0" tIns="0" bIns="0">
            <a:spAutoFit/>
          </a:bodyPr>
          <a:lstStyle/>
          <a:p>
            <a:pPr algn="ctr"/>
            <a:r>
              <a:rPr sz="1150" b="1" i="0">
                <a:solidFill>
                  <a:srgbClr val="028090"/>
                </a:solidFill>
                <a:latin typeface="Calibri"/>
              </a:rPr>
              <a:t>CourseModule</a:t>
            </a:r>
          </a:p>
        </p:txBody>
      </p:sp>
      <p:cxnSp>
        <p:nvCxnSpPr>
          <p:cNvPr id="12" name="Connector 11"/>
          <p:cNvCxnSpPr/>
          <p:nvPr/>
        </p:nvCxnSpPr>
        <p:spPr>
          <a:xfrm>
            <a:off x="4645152" y="2706624"/>
            <a:ext cx="1453896" cy="0"/>
          </a:xfrm>
          <a:prstGeom prst="line">
            <a:avLst/>
          </a:prstGeom>
          <a:ln w="11430">
            <a:solidFill>
              <a:srgbClr val="CFE0E2"/>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681728" y="2743200"/>
            <a:ext cx="1417320" cy="502920"/>
          </a:xfrm>
          <a:prstGeom prst="rect">
            <a:avLst/>
          </a:prstGeom>
          <a:noFill/>
        </p:spPr>
        <p:txBody>
          <a:bodyPr wrap="square" anchor="t" lIns="0" rIns="0" tIns="0" bIns="0">
            <a:spAutoFit/>
          </a:bodyPr>
          <a:lstStyle/>
          <a:p>
            <a:pPr algn="l"/>
            <a:r>
              <a:rPr sz="850" b="0" i="0">
                <a:solidFill>
                  <a:srgbClr val="5A7278"/>
                </a:solidFill>
                <a:latin typeface="Courier New"/>
              </a:rPr>
              <a:t>id, name
semester</a:t>
            </a:r>
          </a:p>
        </p:txBody>
      </p:sp>
      <p:sp>
        <p:nvSpPr>
          <p:cNvPr id="14" name="Rounded Rectangle 13"/>
          <p:cNvSpPr/>
          <p:nvPr/>
        </p:nvSpPr>
        <p:spPr>
          <a:xfrm>
            <a:off x="2788920" y="3794760"/>
            <a:ext cx="1600200" cy="914400"/>
          </a:xfrm>
          <a:prstGeom prst="roundRect">
            <a:avLst>
              <a:gd name="adj" fmla="val 4000"/>
            </a:avLst>
          </a:prstGeom>
          <a:solidFill>
            <a:srgbClr val="FFFFFF"/>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88920" y="3849624"/>
            <a:ext cx="1600200" cy="274320"/>
          </a:xfrm>
          <a:prstGeom prst="rect">
            <a:avLst/>
          </a:prstGeom>
          <a:noFill/>
        </p:spPr>
        <p:txBody>
          <a:bodyPr wrap="square" anchor="t" lIns="0" rIns="0" tIns="0" bIns="0">
            <a:spAutoFit/>
          </a:bodyPr>
          <a:lstStyle/>
          <a:p>
            <a:pPr algn="ctr"/>
            <a:r>
              <a:rPr sz="1150" b="1" i="0">
                <a:solidFill>
                  <a:srgbClr val="028090"/>
                </a:solidFill>
                <a:latin typeface="Calibri"/>
              </a:rPr>
              <a:t>Enrolment</a:t>
            </a:r>
          </a:p>
        </p:txBody>
      </p:sp>
      <p:cxnSp>
        <p:nvCxnSpPr>
          <p:cNvPr id="16" name="Connector 15"/>
          <p:cNvCxnSpPr/>
          <p:nvPr/>
        </p:nvCxnSpPr>
        <p:spPr>
          <a:xfrm>
            <a:off x="2862072" y="4123944"/>
            <a:ext cx="1453896" cy="0"/>
          </a:xfrm>
          <a:prstGeom prst="line">
            <a:avLst/>
          </a:prstGeom>
          <a:ln w="11430">
            <a:solidFill>
              <a:srgbClr val="CFE0E2"/>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898648" y="4160520"/>
            <a:ext cx="1417320" cy="502920"/>
          </a:xfrm>
          <a:prstGeom prst="rect">
            <a:avLst/>
          </a:prstGeom>
          <a:noFill/>
        </p:spPr>
        <p:txBody>
          <a:bodyPr wrap="square" anchor="t" lIns="0" rIns="0" tIns="0" bIns="0">
            <a:spAutoFit/>
          </a:bodyPr>
          <a:lstStyle/>
          <a:p>
            <a:pPr algn="l"/>
            <a:r>
              <a:rPr sz="850" b="0" i="0">
                <a:solidFill>
                  <a:srgbClr val="5A7278"/>
                </a:solidFill>
                <a:latin typeface="Courier New"/>
              </a:rPr>
              <a:t>grade
status</a:t>
            </a:r>
          </a:p>
        </p:txBody>
      </p:sp>
      <p:sp>
        <p:nvSpPr>
          <p:cNvPr id="18" name="Rounded Rectangle 17"/>
          <p:cNvSpPr/>
          <p:nvPr/>
        </p:nvSpPr>
        <p:spPr>
          <a:xfrm>
            <a:off x="1051560" y="3977639"/>
            <a:ext cx="1371600" cy="548640"/>
          </a:xfrm>
          <a:prstGeom prst="roundRect">
            <a:avLst>
              <a:gd name="adj" fmla="val 4000"/>
            </a:avLst>
          </a:prstGeom>
          <a:solidFill>
            <a:srgbClr val="E9F4F5"/>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977639"/>
            <a:ext cx="1371600" cy="548640"/>
          </a:xfrm>
          <a:prstGeom prst="rect">
            <a:avLst/>
          </a:prstGeom>
          <a:noFill/>
        </p:spPr>
        <p:txBody>
          <a:bodyPr wrap="square" anchor="ctr" lIns="0" rIns="0" tIns="0" bIns="0">
            <a:spAutoFit/>
          </a:bodyPr>
          <a:lstStyle/>
          <a:p>
            <a:pPr algn="ctr"/>
            <a:r>
              <a:rPr sz="1150" b="1" i="0">
                <a:solidFill>
                  <a:srgbClr val="028090"/>
                </a:solidFill>
                <a:latin typeface="Calibri"/>
              </a:rPr>
              <a:t>«VO» Grade</a:t>
            </a:r>
          </a:p>
        </p:txBody>
      </p:sp>
      <p:cxnSp>
        <p:nvCxnSpPr>
          <p:cNvPr id="20" name="Connector 19"/>
          <p:cNvCxnSpPr/>
          <p:nvPr/>
        </p:nvCxnSpPr>
        <p:spPr>
          <a:xfrm>
            <a:off x="2148840" y="3291840"/>
            <a:ext cx="1143000" cy="502920"/>
          </a:xfrm>
          <a:prstGeom prst="line">
            <a:avLst/>
          </a:prstGeom>
          <a:ln w="15875">
            <a:solidFill>
              <a:srgbClr val="02809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3977639" y="3291840"/>
            <a:ext cx="914401" cy="502920"/>
          </a:xfrm>
          <a:prstGeom prst="line">
            <a:avLst/>
          </a:prstGeom>
          <a:ln w="15875">
            <a:solidFill>
              <a:srgbClr val="02809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828800" y="3291840"/>
            <a:ext cx="548640" cy="685799"/>
          </a:xfrm>
          <a:prstGeom prst="line">
            <a:avLst/>
          </a:prstGeom>
          <a:ln w="15875">
            <a:solidFill>
              <a:srgbClr val="CFE0E2"/>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68680" y="4983480"/>
            <a:ext cx="5303520" cy="502920"/>
          </a:xfrm>
          <a:prstGeom prst="rect">
            <a:avLst/>
          </a:prstGeom>
          <a:noFill/>
        </p:spPr>
        <p:txBody>
          <a:bodyPr wrap="square" anchor="t" lIns="0" rIns="0" tIns="0" bIns="0">
            <a:spAutoFit/>
          </a:bodyPr>
          <a:lstStyle/>
          <a:p>
            <a:pPr algn="ctr"/>
            <a:r>
              <a:rPr sz="1150" b="0" i="1">
                <a:solidFill>
                  <a:srgbClr val="5A7278"/>
                </a:solidFill>
                <a:latin typeface="Calibri"/>
              </a:rPr>
              <a:t>Khái niệm nghiệp vụ + quan hệ + hành vi — trái tim của DDD</a:t>
            </a:r>
          </a:p>
        </p:txBody>
      </p:sp>
      <p:sp>
        <p:nvSpPr>
          <p:cNvPr id="24" name="TextBox 23"/>
          <p:cNvSpPr txBox="1"/>
          <p:nvPr/>
        </p:nvSpPr>
        <p:spPr>
          <a:xfrm>
            <a:off x="6903720" y="1600200"/>
            <a:ext cx="4709160" cy="365760"/>
          </a:xfrm>
          <a:prstGeom prst="rect">
            <a:avLst/>
          </a:prstGeom>
          <a:noFill/>
        </p:spPr>
        <p:txBody>
          <a:bodyPr wrap="square" anchor="t" lIns="0" rIns="0" tIns="0" bIns="0">
            <a:spAutoFit/>
          </a:bodyPr>
          <a:lstStyle/>
          <a:p>
            <a:pPr algn="l"/>
            <a:r>
              <a:rPr sz="1300" b="1" i="0">
                <a:solidFill>
                  <a:srgbClr val="17292D"/>
                </a:solidFill>
                <a:latin typeface="Calibri"/>
              </a:rPr>
              <a:t>CONCERN = một khía cạnh quan tâm riêng biệt</a:t>
            </a:r>
          </a:p>
        </p:txBody>
      </p:sp>
      <p:sp>
        <p:nvSpPr>
          <p:cNvPr id="25" name="Rounded Rectangle 24"/>
          <p:cNvSpPr/>
          <p:nvPr/>
        </p:nvSpPr>
        <p:spPr>
          <a:xfrm>
            <a:off x="6903720" y="2103120"/>
            <a:ext cx="4709160" cy="91440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78040" y="2231136"/>
            <a:ext cx="4206240" cy="365760"/>
          </a:xfrm>
          <a:prstGeom prst="rect">
            <a:avLst/>
          </a:prstGeom>
          <a:noFill/>
        </p:spPr>
        <p:txBody>
          <a:bodyPr wrap="square" anchor="t" lIns="0" rIns="0" tIns="0" bIns="0">
            <a:spAutoFit/>
          </a:bodyPr>
          <a:lstStyle/>
          <a:p>
            <a:pPr algn="l"/>
            <a:r>
              <a:rPr sz="1350" b="1" i="0">
                <a:solidFill>
                  <a:srgbClr val="028090"/>
                </a:solidFill>
                <a:latin typeface="Calibri"/>
              </a:rPr>
              <a:t>Cấu trúc (Structure)</a:t>
            </a:r>
          </a:p>
        </p:txBody>
      </p:sp>
      <p:sp>
        <p:nvSpPr>
          <p:cNvPr id="27" name="TextBox 26"/>
          <p:cNvSpPr txBox="1"/>
          <p:nvPr/>
        </p:nvSpPr>
        <p:spPr>
          <a:xfrm>
            <a:off x="7178040" y="2587752"/>
            <a:ext cx="4206240" cy="320040"/>
          </a:xfrm>
          <a:prstGeom prst="rect">
            <a:avLst/>
          </a:prstGeom>
          <a:noFill/>
        </p:spPr>
        <p:txBody>
          <a:bodyPr wrap="square" anchor="t" lIns="0" rIns="0" tIns="0" bIns="0">
            <a:spAutoFit/>
          </a:bodyPr>
          <a:lstStyle/>
          <a:p>
            <a:pPr algn="l"/>
            <a:r>
              <a:rPr sz="1100" b="0" i="0">
                <a:solidFill>
                  <a:srgbClr val="5A7278"/>
                </a:solidFill>
                <a:latin typeface="Calibri"/>
              </a:rPr>
              <a:t>lớp, thuộc tính, quan hệ</a:t>
            </a:r>
          </a:p>
        </p:txBody>
      </p:sp>
      <p:sp>
        <p:nvSpPr>
          <p:cNvPr id="28" name="Right Arrow 27"/>
          <p:cNvSpPr/>
          <p:nvPr/>
        </p:nvSpPr>
        <p:spPr>
          <a:xfrm rot="10800000">
            <a:off x="6473952" y="2441448"/>
            <a:ext cx="365760" cy="237744"/>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903720" y="3182111"/>
            <a:ext cx="4709160" cy="91440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78040" y="3310127"/>
            <a:ext cx="4206240" cy="365760"/>
          </a:xfrm>
          <a:prstGeom prst="rect">
            <a:avLst/>
          </a:prstGeom>
          <a:noFill/>
        </p:spPr>
        <p:txBody>
          <a:bodyPr wrap="square" anchor="t" lIns="0" rIns="0" tIns="0" bIns="0">
            <a:spAutoFit/>
          </a:bodyPr>
          <a:lstStyle/>
          <a:p>
            <a:pPr algn="l"/>
            <a:r>
              <a:rPr sz="1350" b="1" i="0">
                <a:solidFill>
                  <a:srgbClr val="028090"/>
                </a:solidFill>
                <a:latin typeface="Calibri"/>
              </a:rPr>
              <a:t>Hành vi (Behavior)</a:t>
            </a:r>
          </a:p>
        </p:txBody>
      </p:sp>
      <p:sp>
        <p:nvSpPr>
          <p:cNvPr id="31" name="TextBox 30"/>
          <p:cNvSpPr txBox="1"/>
          <p:nvPr/>
        </p:nvSpPr>
        <p:spPr>
          <a:xfrm>
            <a:off x="7178040" y="3666744"/>
            <a:ext cx="4206240" cy="320040"/>
          </a:xfrm>
          <a:prstGeom prst="rect">
            <a:avLst/>
          </a:prstGeom>
          <a:noFill/>
        </p:spPr>
        <p:txBody>
          <a:bodyPr wrap="square" anchor="t" lIns="0" rIns="0" tIns="0" bIns="0">
            <a:spAutoFit/>
          </a:bodyPr>
          <a:lstStyle/>
          <a:p>
            <a:pPr algn="l"/>
            <a:r>
              <a:rPr sz="1100" b="0" i="0">
                <a:solidFill>
                  <a:srgbClr val="5A7278"/>
                </a:solidFill>
                <a:latin typeface="Calibri"/>
              </a:rPr>
              <a:t>chuỗi hành động của use case</a:t>
            </a:r>
          </a:p>
        </p:txBody>
      </p:sp>
      <p:sp>
        <p:nvSpPr>
          <p:cNvPr id="32" name="Right Arrow 31"/>
          <p:cNvSpPr/>
          <p:nvPr/>
        </p:nvSpPr>
        <p:spPr>
          <a:xfrm rot="10800000">
            <a:off x="6473952" y="3520439"/>
            <a:ext cx="365760" cy="237744"/>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903720" y="4261103"/>
            <a:ext cx="4709160" cy="914400"/>
          </a:xfrm>
          <a:prstGeom prst="roundRect">
            <a:avLst>
              <a:gd name="adj" fmla="val 5500"/>
            </a:avLst>
          </a:prstGeom>
          <a:solidFill>
            <a:srgbClr val="0A3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78040" y="4389119"/>
            <a:ext cx="4206240" cy="365760"/>
          </a:xfrm>
          <a:prstGeom prst="rect">
            <a:avLst/>
          </a:prstGeom>
          <a:noFill/>
        </p:spPr>
        <p:txBody>
          <a:bodyPr wrap="square" anchor="t" lIns="0" rIns="0" tIns="0" bIns="0">
            <a:spAutoFit/>
          </a:bodyPr>
          <a:lstStyle/>
          <a:p>
            <a:pPr algn="l"/>
            <a:r>
              <a:rPr sz="1350" b="1" i="0">
                <a:solidFill>
                  <a:srgbClr val="02C39A"/>
                </a:solidFill>
                <a:latin typeface="Calibri"/>
              </a:rPr>
              <a:t>Phân quyền (RBAC)</a:t>
            </a:r>
          </a:p>
        </p:txBody>
      </p:sp>
      <p:sp>
        <p:nvSpPr>
          <p:cNvPr id="35" name="TextBox 34"/>
          <p:cNvSpPr txBox="1"/>
          <p:nvPr/>
        </p:nvSpPr>
        <p:spPr>
          <a:xfrm>
            <a:off x="7178040" y="4745736"/>
            <a:ext cx="4206240" cy="320040"/>
          </a:xfrm>
          <a:prstGeom prst="rect">
            <a:avLst/>
          </a:prstGeom>
          <a:noFill/>
        </p:spPr>
        <p:txBody>
          <a:bodyPr wrap="square" anchor="t" lIns="0" rIns="0" tIns="0" bIns="0">
            <a:spAutoFit/>
          </a:bodyPr>
          <a:lstStyle/>
          <a:p>
            <a:pPr algn="l"/>
            <a:r>
              <a:rPr sz="1100" b="0" i="0">
                <a:solidFill>
                  <a:srgbClr val="FFFFFF"/>
                </a:solidFill>
                <a:latin typeface="Calibri"/>
              </a:rPr>
              <a:t>vai trò, quyền, ràng buộc truy cập</a:t>
            </a:r>
          </a:p>
        </p:txBody>
      </p:sp>
      <p:sp>
        <p:nvSpPr>
          <p:cNvPr id="36" name="Right Arrow 35"/>
          <p:cNvSpPr/>
          <p:nvPr/>
        </p:nvSpPr>
        <p:spPr>
          <a:xfrm rot="10800000">
            <a:off x="6473952" y="4599431"/>
            <a:ext cx="365760" cy="237744"/>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94360" y="5806440"/>
            <a:ext cx="11018520" cy="685800"/>
          </a:xfrm>
          <a:prstGeom prst="roundRect">
            <a:avLst>
              <a:gd name="adj" fmla="val 5500"/>
            </a:avLst>
          </a:prstGeom>
          <a:solidFill>
            <a:srgbClr val="0A3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8680" y="5806440"/>
            <a:ext cx="10469880" cy="685800"/>
          </a:xfrm>
          <a:prstGeom prst="rect">
            <a:avLst/>
          </a:prstGeom>
          <a:noFill/>
        </p:spPr>
        <p:txBody>
          <a:bodyPr wrap="square" anchor="ctr" lIns="0" rIns="0" tIns="0" bIns="0">
            <a:spAutoFit/>
          </a:bodyPr>
          <a:lstStyle/>
          <a:p>
            <a:pPr algn="ctr"/>
            <a:r>
              <a:rPr sz="1400" b="1" i="0">
                <a:solidFill>
                  <a:srgbClr val="FFFFFF"/>
                </a:solidFill>
                <a:latin typeface="Calibri"/>
              </a:rPr>
              <a:t>Mỗi concern có cách đặc tả riêng  →  thách thức: hợp nhất thành một mô hình thống nhất duy nhất.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1 · Giới thiệu bài toán và động lực nghiên cứu</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Thách thức tích hợp concern — RBAC cắt ngang hệ thống</a:t>
            </a:r>
          </a:p>
        </p:txBody>
      </p:sp>
      <p:sp>
        <p:nvSpPr>
          <p:cNvPr id="4" name="TextBox 3"/>
          <p:cNvSpPr txBox="1"/>
          <p:nvPr/>
        </p:nvSpPr>
        <p:spPr>
          <a:xfrm>
            <a:off x="594360" y="1554480"/>
            <a:ext cx="5577840" cy="365760"/>
          </a:xfrm>
          <a:prstGeom prst="rect">
            <a:avLst/>
          </a:prstGeom>
          <a:noFill/>
        </p:spPr>
        <p:txBody>
          <a:bodyPr wrap="square" anchor="t" lIns="0" rIns="0" tIns="0" bIns="0">
            <a:spAutoFit/>
          </a:bodyPr>
          <a:lstStyle/>
          <a:p>
            <a:pPr algn="l"/>
            <a:r>
              <a:rPr sz="1350" b="1" i="0">
                <a:solidFill>
                  <a:srgbClr val="17292D"/>
                </a:solidFill>
                <a:latin typeface="Calibri"/>
              </a:rPr>
              <a:t>Cách làm truyền thống</a:t>
            </a:r>
          </a:p>
        </p:txBody>
      </p:sp>
      <p:sp>
        <p:nvSpPr>
          <p:cNvPr id="5" name="Rounded Rectangle 4"/>
          <p:cNvSpPr/>
          <p:nvPr/>
        </p:nvSpPr>
        <p:spPr>
          <a:xfrm>
            <a:off x="594360" y="1965960"/>
            <a:ext cx="1755648" cy="274320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2039112"/>
            <a:ext cx="1755648" cy="320040"/>
          </a:xfrm>
          <a:prstGeom prst="rect">
            <a:avLst/>
          </a:prstGeom>
          <a:noFill/>
        </p:spPr>
        <p:txBody>
          <a:bodyPr wrap="square" anchor="t" lIns="0" rIns="0" tIns="0" bIns="0">
            <a:spAutoFit/>
          </a:bodyPr>
          <a:lstStyle/>
          <a:p>
            <a:pPr algn="ctr"/>
            <a:r>
              <a:rPr sz="1150" b="1" i="0">
                <a:solidFill>
                  <a:srgbClr val="028090"/>
                </a:solidFill>
                <a:latin typeface="Calibri"/>
              </a:rPr>
              <a:t>Student</a:t>
            </a:r>
          </a:p>
        </p:txBody>
      </p:sp>
      <p:sp>
        <p:nvSpPr>
          <p:cNvPr id="7" name="Rounded Rectangle 6"/>
          <p:cNvSpPr/>
          <p:nvPr/>
        </p:nvSpPr>
        <p:spPr>
          <a:xfrm>
            <a:off x="758952" y="2468880"/>
            <a:ext cx="1426464" cy="384048"/>
          </a:xfrm>
          <a:prstGeom prst="roundRect">
            <a:avLst>
              <a:gd name="adj" fmla="val 5500"/>
            </a:avLst>
          </a:prstGeom>
          <a:solidFill>
            <a:srgbClr val="FFFFFF"/>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68880"/>
            <a:ext cx="1426464" cy="384048"/>
          </a:xfrm>
          <a:prstGeom prst="rect">
            <a:avLst/>
          </a:prstGeom>
          <a:noFill/>
        </p:spPr>
        <p:txBody>
          <a:bodyPr wrap="square" anchor="ctr" lIns="0" rIns="0" tIns="0" bIns="0">
            <a:spAutoFit/>
          </a:bodyPr>
          <a:lstStyle/>
          <a:p>
            <a:pPr algn="ctr"/>
            <a:r>
              <a:rPr sz="950" b="0" i="0">
                <a:solidFill>
                  <a:srgbClr val="5A7278"/>
                </a:solidFill>
                <a:latin typeface="Calibri"/>
              </a:rPr>
              <a:t>nghiệp vụ</a:t>
            </a:r>
          </a:p>
        </p:txBody>
      </p:sp>
      <p:sp>
        <p:nvSpPr>
          <p:cNvPr id="9" name="Rounded Rectangle 8"/>
          <p:cNvSpPr/>
          <p:nvPr/>
        </p:nvSpPr>
        <p:spPr>
          <a:xfrm>
            <a:off x="758952" y="2944368"/>
            <a:ext cx="1426464" cy="384048"/>
          </a:xfrm>
          <a:prstGeom prst="roundRect">
            <a:avLst>
              <a:gd name="adj" fmla="val 5500"/>
            </a:avLst>
          </a:prstGeom>
          <a:solidFill>
            <a:srgbClr val="F9E5E2"/>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944368"/>
            <a:ext cx="1426464" cy="384048"/>
          </a:xfrm>
          <a:prstGeom prst="rect">
            <a:avLst/>
          </a:prstGeom>
          <a:noFill/>
        </p:spPr>
        <p:txBody>
          <a:bodyPr wrap="square" anchor="ctr" lIns="0" rIns="0" tIns="0" bIns="0">
            <a:spAutoFit/>
          </a:bodyPr>
          <a:lstStyle/>
          <a:p>
            <a:pPr algn="ctr"/>
            <a:r>
              <a:rPr sz="950" b="1" i="0">
                <a:solidFill>
                  <a:srgbClr val="C0392B"/>
                </a:solidFill>
                <a:latin typeface="Calibri"/>
              </a:rPr>
              <a:t>check quyền</a:t>
            </a:r>
          </a:p>
        </p:txBody>
      </p:sp>
      <p:sp>
        <p:nvSpPr>
          <p:cNvPr id="11" name="Rounded Rectangle 10"/>
          <p:cNvSpPr/>
          <p:nvPr/>
        </p:nvSpPr>
        <p:spPr>
          <a:xfrm>
            <a:off x="758952" y="3419856"/>
            <a:ext cx="1426464" cy="384048"/>
          </a:xfrm>
          <a:prstGeom prst="roundRect">
            <a:avLst>
              <a:gd name="adj" fmla="val 5500"/>
            </a:avLst>
          </a:prstGeom>
          <a:solidFill>
            <a:srgbClr val="FFFFFF"/>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419856"/>
            <a:ext cx="1426464" cy="384048"/>
          </a:xfrm>
          <a:prstGeom prst="rect">
            <a:avLst/>
          </a:prstGeom>
          <a:noFill/>
        </p:spPr>
        <p:txBody>
          <a:bodyPr wrap="square" anchor="ctr" lIns="0" rIns="0" tIns="0" bIns="0">
            <a:spAutoFit/>
          </a:bodyPr>
          <a:lstStyle/>
          <a:p>
            <a:pPr algn="ctr"/>
            <a:r>
              <a:rPr sz="950" b="0" i="0">
                <a:solidFill>
                  <a:srgbClr val="5A7278"/>
                </a:solidFill>
                <a:latin typeface="Calibri"/>
              </a:rPr>
              <a:t>nghiệp vụ</a:t>
            </a:r>
          </a:p>
        </p:txBody>
      </p:sp>
      <p:sp>
        <p:nvSpPr>
          <p:cNvPr id="13" name="Rounded Rectangle 12"/>
          <p:cNvSpPr/>
          <p:nvPr/>
        </p:nvSpPr>
        <p:spPr>
          <a:xfrm>
            <a:off x="758952" y="3895344"/>
            <a:ext cx="1426464" cy="384048"/>
          </a:xfrm>
          <a:prstGeom prst="roundRect">
            <a:avLst>
              <a:gd name="adj" fmla="val 5500"/>
            </a:avLst>
          </a:prstGeom>
          <a:solidFill>
            <a:srgbClr val="F9E5E2"/>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3895344"/>
            <a:ext cx="1426464" cy="384048"/>
          </a:xfrm>
          <a:prstGeom prst="rect">
            <a:avLst/>
          </a:prstGeom>
          <a:noFill/>
        </p:spPr>
        <p:txBody>
          <a:bodyPr wrap="square" anchor="ctr" lIns="0" rIns="0" tIns="0" bIns="0">
            <a:spAutoFit/>
          </a:bodyPr>
          <a:lstStyle/>
          <a:p>
            <a:pPr algn="ctr"/>
            <a:r>
              <a:rPr sz="950" b="1" i="0">
                <a:solidFill>
                  <a:srgbClr val="C0392B"/>
                </a:solidFill>
                <a:latin typeface="Calibri"/>
              </a:rPr>
              <a:t>check quyền</a:t>
            </a:r>
          </a:p>
        </p:txBody>
      </p:sp>
      <p:sp>
        <p:nvSpPr>
          <p:cNvPr id="15" name="Rounded Rectangle 14"/>
          <p:cNvSpPr/>
          <p:nvPr/>
        </p:nvSpPr>
        <p:spPr>
          <a:xfrm>
            <a:off x="2505456" y="1965960"/>
            <a:ext cx="1755648" cy="274320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05456" y="2039112"/>
            <a:ext cx="1755648" cy="320040"/>
          </a:xfrm>
          <a:prstGeom prst="rect">
            <a:avLst/>
          </a:prstGeom>
          <a:noFill/>
        </p:spPr>
        <p:txBody>
          <a:bodyPr wrap="square" anchor="t" lIns="0" rIns="0" tIns="0" bIns="0">
            <a:spAutoFit/>
          </a:bodyPr>
          <a:lstStyle/>
          <a:p>
            <a:pPr algn="ctr"/>
            <a:r>
              <a:rPr sz="1150" b="1" i="0">
                <a:solidFill>
                  <a:srgbClr val="028090"/>
                </a:solidFill>
                <a:latin typeface="Calibri"/>
              </a:rPr>
              <a:t>Enrolment</a:t>
            </a:r>
          </a:p>
        </p:txBody>
      </p:sp>
      <p:sp>
        <p:nvSpPr>
          <p:cNvPr id="17" name="Rounded Rectangle 16"/>
          <p:cNvSpPr/>
          <p:nvPr/>
        </p:nvSpPr>
        <p:spPr>
          <a:xfrm>
            <a:off x="2670048" y="2468880"/>
            <a:ext cx="1426464" cy="384048"/>
          </a:xfrm>
          <a:prstGeom prst="roundRect">
            <a:avLst>
              <a:gd name="adj" fmla="val 5500"/>
            </a:avLst>
          </a:prstGeom>
          <a:solidFill>
            <a:srgbClr val="FFFFFF"/>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70048" y="2468880"/>
            <a:ext cx="1426464" cy="384048"/>
          </a:xfrm>
          <a:prstGeom prst="rect">
            <a:avLst/>
          </a:prstGeom>
          <a:noFill/>
        </p:spPr>
        <p:txBody>
          <a:bodyPr wrap="square" anchor="ctr" lIns="0" rIns="0" tIns="0" bIns="0">
            <a:spAutoFit/>
          </a:bodyPr>
          <a:lstStyle/>
          <a:p>
            <a:pPr algn="ctr"/>
            <a:r>
              <a:rPr sz="950" b="0" i="0">
                <a:solidFill>
                  <a:srgbClr val="5A7278"/>
                </a:solidFill>
                <a:latin typeface="Calibri"/>
              </a:rPr>
              <a:t>nghiệp vụ</a:t>
            </a:r>
          </a:p>
        </p:txBody>
      </p:sp>
      <p:sp>
        <p:nvSpPr>
          <p:cNvPr id="19" name="Rounded Rectangle 18"/>
          <p:cNvSpPr/>
          <p:nvPr/>
        </p:nvSpPr>
        <p:spPr>
          <a:xfrm>
            <a:off x="2670048" y="2944368"/>
            <a:ext cx="1426464" cy="384048"/>
          </a:xfrm>
          <a:prstGeom prst="roundRect">
            <a:avLst>
              <a:gd name="adj" fmla="val 5500"/>
            </a:avLst>
          </a:prstGeom>
          <a:solidFill>
            <a:srgbClr val="F9E5E2"/>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70048" y="2944368"/>
            <a:ext cx="1426464" cy="384048"/>
          </a:xfrm>
          <a:prstGeom prst="rect">
            <a:avLst/>
          </a:prstGeom>
          <a:noFill/>
        </p:spPr>
        <p:txBody>
          <a:bodyPr wrap="square" anchor="ctr" lIns="0" rIns="0" tIns="0" bIns="0">
            <a:spAutoFit/>
          </a:bodyPr>
          <a:lstStyle/>
          <a:p>
            <a:pPr algn="ctr"/>
            <a:r>
              <a:rPr sz="950" b="1" i="0">
                <a:solidFill>
                  <a:srgbClr val="C0392B"/>
                </a:solidFill>
                <a:latin typeface="Calibri"/>
              </a:rPr>
              <a:t>check quyền</a:t>
            </a:r>
          </a:p>
        </p:txBody>
      </p:sp>
      <p:sp>
        <p:nvSpPr>
          <p:cNvPr id="21" name="Rounded Rectangle 20"/>
          <p:cNvSpPr/>
          <p:nvPr/>
        </p:nvSpPr>
        <p:spPr>
          <a:xfrm>
            <a:off x="2670048" y="3419856"/>
            <a:ext cx="1426464" cy="384048"/>
          </a:xfrm>
          <a:prstGeom prst="roundRect">
            <a:avLst>
              <a:gd name="adj" fmla="val 5500"/>
            </a:avLst>
          </a:prstGeom>
          <a:solidFill>
            <a:srgbClr val="FFFFFF"/>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70048" y="3419856"/>
            <a:ext cx="1426464" cy="384048"/>
          </a:xfrm>
          <a:prstGeom prst="rect">
            <a:avLst/>
          </a:prstGeom>
          <a:noFill/>
        </p:spPr>
        <p:txBody>
          <a:bodyPr wrap="square" anchor="ctr" lIns="0" rIns="0" tIns="0" bIns="0">
            <a:spAutoFit/>
          </a:bodyPr>
          <a:lstStyle/>
          <a:p>
            <a:pPr algn="ctr"/>
            <a:r>
              <a:rPr sz="950" b="0" i="0">
                <a:solidFill>
                  <a:srgbClr val="5A7278"/>
                </a:solidFill>
                <a:latin typeface="Calibri"/>
              </a:rPr>
              <a:t>nghiệp vụ</a:t>
            </a:r>
          </a:p>
        </p:txBody>
      </p:sp>
      <p:sp>
        <p:nvSpPr>
          <p:cNvPr id="23" name="Rounded Rectangle 22"/>
          <p:cNvSpPr/>
          <p:nvPr/>
        </p:nvSpPr>
        <p:spPr>
          <a:xfrm>
            <a:off x="2670048" y="3895344"/>
            <a:ext cx="1426464" cy="384048"/>
          </a:xfrm>
          <a:prstGeom prst="roundRect">
            <a:avLst>
              <a:gd name="adj" fmla="val 5500"/>
            </a:avLst>
          </a:prstGeom>
          <a:solidFill>
            <a:srgbClr val="F9E5E2"/>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70048" y="3895344"/>
            <a:ext cx="1426464" cy="384048"/>
          </a:xfrm>
          <a:prstGeom prst="rect">
            <a:avLst/>
          </a:prstGeom>
          <a:noFill/>
        </p:spPr>
        <p:txBody>
          <a:bodyPr wrap="square" anchor="ctr" lIns="0" rIns="0" tIns="0" bIns="0">
            <a:spAutoFit/>
          </a:bodyPr>
          <a:lstStyle/>
          <a:p>
            <a:pPr algn="ctr"/>
            <a:r>
              <a:rPr sz="950" b="1" i="0">
                <a:solidFill>
                  <a:srgbClr val="C0392B"/>
                </a:solidFill>
                <a:latin typeface="Calibri"/>
              </a:rPr>
              <a:t>check quyền</a:t>
            </a:r>
          </a:p>
        </p:txBody>
      </p:sp>
      <p:sp>
        <p:nvSpPr>
          <p:cNvPr id="25" name="Rounded Rectangle 24"/>
          <p:cNvSpPr/>
          <p:nvPr/>
        </p:nvSpPr>
        <p:spPr>
          <a:xfrm>
            <a:off x="4416552" y="1965960"/>
            <a:ext cx="1755648" cy="274320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16552" y="2039112"/>
            <a:ext cx="1755648" cy="320040"/>
          </a:xfrm>
          <a:prstGeom prst="rect">
            <a:avLst/>
          </a:prstGeom>
          <a:noFill/>
        </p:spPr>
        <p:txBody>
          <a:bodyPr wrap="square" anchor="t" lIns="0" rIns="0" tIns="0" bIns="0">
            <a:spAutoFit/>
          </a:bodyPr>
          <a:lstStyle/>
          <a:p>
            <a:pPr algn="ctr"/>
            <a:r>
              <a:rPr sz="1150" b="1" i="0">
                <a:solidFill>
                  <a:srgbClr val="028090"/>
                </a:solidFill>
                <a:latin typeface="Calibri"/>
              </a:rPr>
              <a:t>Invoice</a:t>
            </a:r>
          </a:p>
        </p:txBody>
      </p:sp>
      <p:sp>
        <p:nvSpPr>
          <p:cNvPr id="27" name="Rounded Rectangle 26"/>
          <p:cNvSpPr/>
          <p:nvPr/>
        </p:nvSpPr>
        <p:spPr>
          <a:xfrm>
            <a:off x="4581144" y="2468880"/>
            <a:ext cx="1426464" cy="384048"/>
          </a:xfrm>
          <a:prstGeom prst="roundRect">
            <a:avLst>
              <a:gd name="adj" fmla="val 5500"/>
            </a:avLst>
          </a:prstGeom>
          <a:solidFill>
            <a:srgbClr val="FFFFFF"/>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81144" y="2468880"/>
            <a:ext cx="1426464" cy="384048"/>
          </a:xfrm>
          <a:prstGeom prst="rect">
            <a:avLst/>
          </a:prstGeom>
          <a:noFill/>
        </p:spPr>
        <p:txBody>
          <a:bodyPr wrap="square" anchor="ctr" lIns="0" rIns="0" tIns="0" bIns="0">
            <a:spAutoFit/>
          </a:bodyPr>
          <a:lstStyle/>
          <a:p>
            <a:pPr algn="ctr"/>
            <a:r>
              <a:rPr sz="950" b="0" i="0">
                <a:solidFill>
                  <a:srgbClr val="5A7278"/>
                </a:solidFill>
                <a:latin typeface="Calibri"/>
              </a:rPr>
              <a:t>nghiệp vụ</a:t>
            </a:r>
          </a:p>
        </p:txBody>
      </p:sp>
      <p:sp>
        <p:nvSpPr>
          <p:cNvPr id="29" name="Rounded Rectangle 28"/>
          <p:cNvSpPr/>
          <p:nvPr/>
        </p:nvSpPr>
        <p:spPr>
          <a:xfrm>
            <a:off x="4581144" y="2944368"/>
            <a:ext cx="1426464" cy="384048"/>
          </a:xfrm>
          <a:prstGeom prst="roundRect">
            <a:avLst>
              <a:gd name="adj" fmla="val 5500"/>
            </a:avLst>
          </a:prstGeom>
          <a:solidFill>
            <a:srgbClr val="F9E5E2"/>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81144" y="2944368"/>
            <a:ext cx="1426464" cy="384048"/>
          </a:xfrm>
          <a:prstGeom prst="rect">
            <a:avLst/>
          </a:prstGeom>
          <a:noFill/>
        </p:spPr>
        <p:txBody>
          <a:bodyPr wrap="square" anchor="ctr" lIns="0" rIns="0" tIns="0" bIns="0">
            <a:spAutoFit/>
          </a:bodyPr>
          <a:lstStyle/>
          <a:p>
            <a:pPr algn="ctr"/>
            <a:r>
              <a:rPr sz="950" b="1" i="0">
                <a:solidFill>
                  <a:srgbClr val="C0392B"/>
                </a:solidFill>
                <a:latin typeface="Calibri"/>
              </a:rPr>
              <a:t>check quyền</a:t>
            </a:r>
          </a:p>
        </p:txBody>
      </p:sp>
      <p:sp>
        <p:nvSpPr>
          <p:cNvPr id="31" name="Rounded Rectangle 30"/>
          <p:cNvSpPr/>
          <p:nvPr/>
        </p:nvSpPr>
        <p:spPr>
          <a:xfrm>
            <a:off x="4581144" y="3419856"/>
            <a:ext cx="1426464" cy="384048"/>
          </a:xfrm>
          <a:prstGeom prst="roundRect">
            <a:avLst>
              <a:gd name="adj" fmla="val 5500"/>
            </a:avLst>
          </a:prstGeom>
          <a:solidFill>
            <a:srgbClr val="FFFFFF"/>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81144" y="3419856"/>
            <a:ext cx="1426464" cy="384048"/>
          </a:xfrm>
          <a:prstGeom prst="rect">
            <a:avLst/>
          </a:prstGeom>
          <a:noFill/>
        </p:spPr>
        <p:txBody>
          <a:bodyPr wrap="square" anchor="ctr" lIns="0" rIns="0" tIns="0" bIns="0">
            <a:spAutoFit/>
          </a:bodyPr>
          <a:lstStyle/>
          <a:p>
            <a:pPr algn="ctr"/>
            <a:r>
              <a:rPr sz="950" b="0" i="0">
                <a:solidFill>
                  <a:srgbClr val="5A7278"/>
                </a:solidFill>
                <a:latin typeface="Calibri"/>
              </a:rPr>
              <a:t>nghiệp vụ</a:t>
            </a:r>
          </a:p>
        </p:txBody>
      </p:sp>
      <p:sp>
        <p:nvSpPr>
          <p:cNvPr id="33" name="Rounded Rectangle 32"/>
          <p:cNvSpPr/>
          <p:nvPr/>
        </p:nvSpPr>
        <p:spPr>
          <a:xfrm>
            <a:off x="4581144" y="3895344"/>
            <a:ext cx="1426464" cy="384048"/>
          </a:xfrm>
          <a:prstGeom prst="roundRect">
            <a:avLst>
              <a:gd name="adj" fmla="val 5500"/>
            </a:avLst>
          </a:prstGeom>
          <a:solidFill>
            <a:srgbClr val="F9E5E2"/>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81144" y="3895344"/>
            <a:ext cx="1426464" cy="384048"/>
          </a:xfrm>
          <a:prstGeom prst="rect">
            <a:avLst/>
          </a:prstGeom>
          <a:noFill/>
        </p:spPr>
        <p:txBody>
          <a:bodyPr wrap="square" anchor="ctr" lIns="0" rIns="0" tIns="0" bIns="0">
            <a:spAutoFit/>
          </a:bodyPr>
          <a:lstStyle/>
          <a:p>
            <a:pPr algn="ctr"/>
            <a:r>
              <a:rPr sz="950" b="1" i="0">
                <a:solidFill>
                  <a:srgbClr val="C0392B"/>
                </a:solidFill>
                <a:latin typeface="Calibri"/>
              </a:rPr>
              <a:t>check quyền</a:t>
            </a:r>
          </a:p>
        </p:txBody>
      </p:sp>
      <p:sp>
        <p:nvSpPr>
          <p:cNvPr id="35" name="Rounded Rectangle 34"/>
          <p:cNvSpPr/>
          <p:nvPr/>
        </p:nvSpPr>
        <p:spPr>
          <a:xfrm>
            <a:off x="594360" y="4892040"/>
            <a:ext cx="2697480" cy="502920"/>
          </a:xfrm>
          <a:prstGeom prst="roundRect">
            <a:avLst>
              <a:gd name="adj" fmla="val 5500"/>
            </a:avLst>
          </a:prstGeom>
          <a:solidFill>
            <a:srgbClr val="F9E5E2"/>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4892040"/>
            <a:ext cx="2697480" cy="502920"/>
          </a:xfrm>
          <a:prstGeom prst="rect">
            <a:avLst/>
          </a:prstGeom>
          <a:noFill/>
        </p:spPr>
        <p:txBody>
          <a:bodyPr wrap="square" anchor="ctr" lIns="0" rIns="0" tIns="0" bIns="0">
            <a:spAutoFit/>
          </a:bodyPr>
          <a:lstStyle/>
          <a:p>
            <a:pPr algn="ctr"/>
            <a:r>
              <a:rPr sz="1150" b="1" i="0">
                <a:solidFill>
                  <a:srgbClr val="C0392B"/>
                </a:solidFill>
                <a:latin typeface="Calibri"/>
              </a:rPr>
              <a:t>Scattering — rải rác</a:t>
            </a:r>
          </a:p>
        </p:txBody>
      </p:sp>
      <p:sp>
        <p:nvSpPr>
          <p:cNvPr id="37" name="Rounded Rectangle 36"/>
          <p:cNvSpPr/>
          <p:nvPr/>
        </p:nvSpPr>
        <p:spPr>
          <a:xfrm>
            <a:off x="3429000" y="4892040"/>
            <a:ext cx="2697480" cy="502920"/>
          </a:xfrm>
          <a:prstGeom prst="roundRect">
            <a:avLst>
              <a:gd name="adj" fmla="val 5500"/>
            </a:avLst>
          </a:prstGeom>
          <a:solidFill>
            <a:srgbClr val="F9E5E2"/>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29000" y="4892040"/>
            <a:ext cx="2697480" cy="502920"/>
          </a:xfrm>
          <a:prstGeom prst="rect">
            <a:avLst/>
          </a:prstGeom>
          <a:noFill/>
        </p:spPr>
        <p:txBody>
          <a:bodyPr wrap="square" anchor="ctr" lIns="0" rIns="0" tIns="0" bIns="0">
            <a:spAutoFit/>
          </a:bodyPr>
          <a:lstStyle/>
          <a:p>
            <a:pPr algn="ctr"/>
            <a:r>
              <a:rPr sz="1150" b="1" i="0">
                <a:solidFill>
                  <a:srgbClr val="C0392B"/>
                </a:solidFill>
                <a:latin typeface="Calibri"/>
              </a:rPr>
              <a:t>Tangling — trộn lẫn</a:t>
            </a:r>
          </a:p>
        </p:txBody>
      </p:sp>
      <p:sp>
        <p:nvSpPr>
          <p:cNvPr id="39" name="TextBox 38"/>
          <p:cNvSpPr txBox="1"/>
          <p:nvPr/>
        </p:nvSpPr>
        <p:spPr>
          <a:xfrm>
            <a:off x="6537960" y="1554480"/>
            <a:ext cx="5074920" cy="365760"/>
          </a:xfrm>
          <a:prstGeom prst="rect">
            <a:avLst/>
          </a:prstGeom>
          <a:noFill/>
        </p:spPr>
        <p:txBody>
          <a:bodyPr wrap="square" anchor="t" lIns="0" rIns="0" tIns="0" bIns="0">
            <a:spAutoFit/>
          </a:bodyPr>
          <a:lstStyle/>
          <a:p>
            <a:pPr algn="l"/>
            <a:r>
              <a:rPr sz="1350" b="1" i="0">
                <a:solidFill>
                  <a:srgbClr val="17292D"/>
                </a:solidFill>
                <a:latin typeface="Calibri"/>
              </a:rPr>
              <a:t>Riêng với RBAC</a:t>
            </a:r>
          </a:p>
        </p:txBody>
      </p:sp>
      <p:sp>
        <p:nvSpPr>
          <p:cNvPr id="40" name="Rounded Rectangle 39"/>
          <p:cNvSpPr/>
          <p:nvPr/>
        </p:nvSpPr>
        <p:spPr>
          <a:xfrm>
            <a:off x="6537960" y="1965960"/>
            <a:ext cx="5074920" cy="105156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66560" y="2130552"/>
            <a:ext cx="4617720" cy="722375"/>
          </a:xfrm>
          <a:prstGeom prst="rect">
            <a:avLst/>
          </a:prstGeom>
          <a:noFill/>
        </p:spPr>
        <p:txBody>
          <a:bodyPr wrap="square" anchor="t" lIns="0" rIns="0" tIns="0" bIns="0">
            <a:spAutoFit/>
          </a:bodyPr>
          <a:lstStyle/>
          <a:p>
            <a:pPr algn="l">
              <a:spcAft>
                <a:spcPts val="400"/>
              </a:spcAft>
            </a:pPr>
            <a:r>
              <a:rPr sz="1250" b="1" i="0">
                <a:solidFill>
                  <a:srgbClr val="028090"/>
                </a:solidFill>
                <a:latin typeface="Calibri"/>
              </a:rPr>
              <a:t>Tham chiếu chéo</a:t>
            </a:r>
          </a:p>
          <a:p>
            <a:pPr algn="l">
              <a:lnSpc>
                <a:spcPct val="108000"/>
              </a:lnSpc>
            </a:pPr>
            <a:r>
              <a:rPr sz="1050" b="0" i="0">
                <a:solidFill>
                  <a:srgbClr val="17292D"/>
                </a:solidFill>
                <a:latin typeface="Calibri"/>
              </a:rPr>
              <a:t>Quyền phải trỏ vào lớp miền: Student.read [own] — vượt ranh giới concern</a:t>
            </a:r>
          </a:p>
        </p:txBody>
      </p:sp>
      <p:sp>
        <p:nvSpPr>
          <p:cNvPr id="42" name="Rounded Rectangle 41"/>
          <p:cNvSpPr/>
          <p:nvPr/>
        </p:nvSpPr>
        <p:spPr>
          <a:xfrm>
            <a:off x="6537960" y="3154680"/>
            <a:ext cx="5074920" cy="105156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766560" y="3319272"/>
            <a:ext cx="4617720" cy="722375"/>
          </a:xfrm>
          <a:prstGeom prst="rect">
            <a:avLst/>
          </a:prstGeom>
          <a:noFill/>
        </p:spPr>
        <p:txBody>
          <a:bodyPr wrap="square" anchor="t" lIns="0" rIns="0" tIns="0" bIns="0">
            <a:spAutoFit/>
          </a:bodyPr>
          <a:lstStyle/>
          <a:p>
            <a:pPr algn="l">
              <a:spcAft>
                <a:spcPts val="400"/>
              </a:spcAft>
            </a:pPr>
            <a:r>
              <a:rPr sz="1250" b="1" i="0">
                <a:solidFill>
                  <a:srgbClr val="028090"/>
                </a:solidFill>
                <a:latin typeface="Calibri"/>
              </a:rPr>
              <a:t>Phân cấp vai trò</a:t>
            </a:r>
          </a:p>
          <a:p>
            <a:pPr algn="l">
              <a:lnSpc>
                <a:spcPct val="108000"/>
              </a:lnSpc>
            </a:pPr>
            <a:r>
              <a:rPr sz="1050" b="0" i="0">
                <a:solidFill>
                  <a:srgbClr val="17292D"/>
                </a:solidFill>
                <a:latin typeface="Calibri"/>
              </a:rPr>
              <a:t>Quyền lan truyền qua kế thừa vai trò — không cục bộ trong một module</a:t>
            </a:r>
          </a:p>
        </p:txBody>
      </p:sp>
      <p:sp>
        <p:nvSpPr>
          <p:cNvPr id="44" name="Rounded Rectangle 43"/>
          <p:cNvSpPr/>
          <p:nvPr/>
        </p:nvSpPr>
        <p:spPr>
          <a:xfrm>
            <a:off x="6537960" y="4343400"/>
            <a:ext cx="5074920" cy="105156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66560" y="4507992"/>
            <a:ext cx="4617720" cy="722375"/>
          </a:xfrm>
          <a:prstGeom prst="rect">
            <a:avLst/>
          </a:prstGeom>
          <a:noFill/>
        </p:spPr>
        <p:txBody>
          <a:bodyPr wrap="square" anchor="t" lIns="0" rIns="0" tIns="0" bIns="0">
            <a:spAutoFit/>
          </a:bodyPr>
          <a:lstStyle/>
          <a:p>
            <a:pPr algn="l">
              <a:spcAft>
                <a:spcPts val="400"/>
              </a:spcAft>
            </a:pPr>
            <a:r>
              <a:rPr sz="1250" b="1" i="0">
                <a:solidFill>
                  <a:srgbClr val="028090"/>
                </a:solidFill>
                <a:latin typeface="Calibri"/>
              </a:rPr>
              <a:t>Ràng buộc toàn cục</a:t>
            </a:r>
          </a:p>
          <a:p>
            <a:pPr algn="l">
              <a:lnSpc>
                <a:spcPct val="108000"/>
              </a:lnSpc>
            </a:pPr>
            <a:r>
              <a:rPr sz="1050" b="0" i="0">
                <a:solidFill>
                  <a:srgbClr val="17292D"/>
                </a:solidFill>
                <a:latin typeface="Calibri"/>
              </a:rPr>
              <a:t>SSD/DSD, giới hạn số lượng — phát biểu trên toàn hệ thống, khó kiểm tra bằng tay</a:t>
            </a:r>
          </a:p>
        </p:txBody>
      </p:sp>
      <p:sp>
        <p:nvSpPr>
          <p:cNvPr id="46" name="Rounded Rectangle 45"/>
          <p:cNvSpPr/>
          <p:nvPr/>
        </p:nvSpPr>
        <p:spPr>
          <a:xfrm>
            <a:off x="594360" y="5715000"/>
            <a:ext cx="11018520" cy="777240"/>
          </a:xfrm>
          <a:prstGeom prst="roundRect">
            <a:avLst>
              <a:gd name="adj" fmla="val 5500"/>
            </a:avLst>
          </a:prstGeom>
          <a:solidFill>
            <a:srgbClr val="0A3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8680" y="5715000"/>
            <a:ext cx="10469880" cy="777240"/>
          </a:xfrm>
          <a:prstGeom prst="rect">
            <a:avLst/>
          </a:prstGeom>
          <a:noFill/>
        </p:spPr>
        <p:txBody>
          <a:bodyPr wrap="square" anchor="ctr" lIns="0" rIns="0" tIns="0" bIns="0">
            <a:spAutoFit/>
          </a:bodyPr>
          <a:lstStyle/>
          <a:p>
            <a:pPr algn="ctr">
              <a:lnSpc>
                <a:spcPct val="110000"/>
              </a:lnSpc>
            </a:pPr>
            <a:r>
              <a:rPr sz="1300" b="1" i="0">
                <a:solidFill>
                  <a:srgbClr val="FFFFFF"/>
                </a:solidFill>
                <a:latin typeface="Calibri"/>
              </a:rPr>
              <a:t>Tích hợp concern đúng nghĩa:  trực giao (thêm/bớt không phá phần còn lại)  ·  tham chiếu chéo giải quyết được  ·  truy vết được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1 · Giới thiệu bài toán và động lực nghiên cứu</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Phát biểu bài toán nghiên cứu</a:t>
            </a:r>
          </a:p>
        </p:txBody>
      </p:sp>
      <p:sp>
        <p:nvSpPr>
          <p:cNvPr id="4" name="Rounded Rectangle 3"/>
          <p:cNvSpPr/>
          <p:nvPr/>
        </p:nvSpPr>
        <p:spPr>
          <a:xfrm>
            <a:off x="594360" y="1645920"/>
            <a:ext cx="4480560" cy="2377440"/>
          </a:xfrm>
          <a:prstGeom prst="roundRect">
            <a:avLst>
              <a:gd name="adj" fmla="val 5500"/>
            </a:avLst>
          </a:prstGeom>
          <a:solidFill>
            <a:srgbClr val="E9F4F5"/>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83080"/>
            <a:ext cx="3931920" cy="365760"/>
          </a:xfrm>
          <a:prstGeom prst="rect">
            <a:avLst/>
          </a:prstGeom>
          <a:noFill/>
        </p:spPr>
        <p:txBody>
          <a:bodyPr wrap="square" anchor="t" lIns="0" rIns="0" tIns="0" bIns="0">
            <a:spAutoFit/>
          </a:bodyPr>
          <a:lstStyle/>
          <a:p>
            <a:pPr algn="l"/>
            <a:r>
              <a:rPr sz="1350" b="1" i="0">
                <a:solidFill>
                  <a:srgbClr val="028090"/>
                </a:solidFill>
                <a:latin typeface="Calibri"/>
              </a:rPr>
              <a:t>CHO — đặc tả mức mô hình</a:t>
            </a:r>
          </a:p>
        </p:txBody>
      </p:sp>
      <p:sp>
        <p:nvSpPr>
          <p:cNvPr id="6" name="Rounded Rectangle 5"/>
          <p:cNvSpPr/>
          <p:nvPr/>
        </p:nvSpPr>
        <p:spPr>
          <a:xfrm>
            <a:off x="868680" y="2240280"/>
            <a:ext cx="3931920" cy="475488"/>
          </a:xfrm>
          <a:prstGeom prst="roundRect">
            <a:avLst>
              <a:gd name="adj" fmla="val 5500"/>
            </a:avLst>
          </a:prstGeom>
          <a:solidFill>
            <a:srgbClr val="FFFFFF"/>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40280"/>
            <a:ext cx="3611880" cy="475488"/>
          </a:xfrm>
          <a:prstGeom prst="rect">
            <a:avLst/>
          </a:prstGeom>
          <a:noFill/>
        </p:spPr>
        <p:txBody>
          <a:bodyPr wrap="square" anchor="ctr" lIns="0" rIns="0" tIns="0" bIns="0">
            <a:spAutoFit/>
          </a:bodyPr>
          <a:lstStyle/>
          <a:p>
            <a:pPr algn="l"/>
            <a:r>
              <a:rPr sz="1050" b="0" i="0">
                <a:solidFill>
                  <a:srgbClr val="17292D"/>
                </a:solidFill>
                <a:latin typeface="Calibri"/>
              </a:rPr>
              <a:t>Sơ đồ lớp: miền + vai trò, quyền, phân cấp</a:t>
            </a:r>
          </a:p>
        </p:txBody>
      </p:sp>
      <p:sp>
        <p:nvSpPr>
          <p:cNvPr id="8" name="Rounded Rectangle 7"/>
          <p:cNvSpPr/>
          <p:nvPr/>
        </p:nvSpPr>
        <p:spPr>
          <a:xfrm>
            <a:off x="868680" y="2825496"/>
            <a:ext cx="3931920" cy="475488"/>
          </a:xfrm>
          <a:prstGeom prst="roundRect">
            <a:avLst>
              <a:gd name="adj" fmla="val 5500"/>
            </a:avLst>
          </a:prstGeom>
          <a:solidFill>
            <a:srgbClr val="FFFFFF"/>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825496"/>
            <a:ext cx="3611880" cy="475488"/>
          </a:xfrm>
          <a:prstGeom prst="rect">
            <a:avLst/>
          </a:prstGeom>
          <a:noFill/>
        </p:spPr>
        <p:txBody>
          <a:bodyPr wrap="square" anchor="ctr" lIns="0" rIns="0" tIns="0" bIns="0">
            <a:spAutoFit/>
          </a:bodyPr>
          <a:lstStyle/>
          <a:p>
            <a:pPr algn="l"/>
            <a:r>
              <a:rPr sz="1050" b="0" i="0">
                <a:solidFill>
                  <a:srgbClr val="17292D"/>
                </a:solidFill>
                <a:latin typeface="Calibri"/>
              </a:rPr>
              <a:t>Sơ đồ hoạt động: hành vi use case</a:t>
            </a:r>
          </a:p>
        </p:txBody>
      </p:sp>
      <p:sp>
        <p:nvSpPr>
          <p:cNvPr id="10" name="Rounded Rectangle 9"/>
          <p:cNvSpPr/>
          <p:nvPr/>
        </p:nvSpPr>
        <p:spPr>
          <a:xfrm>
            <a:off x="868680" y="3410712"/>
            <a:ext cx="3931920" cy="475488"/>
          </a:xfrm>
          <a:prstGeom prst="roundRect">
            <a:avLst>
              <a:gd name="adj" fmla="val 5500"/>
            </a:avLst>
          </a:prstGeom>
          <a:solidFill>
            <a:srgbClr val="FFFFFF"/>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410712"/>
            <a:ext cx="3611880" cy="475488"/>
          </a:xfrm>
          <a:prstGeom prst="rect">
            <a:avLst/>
          </a:prstGeom>
          <a:noFill/>
        </p:spPr>
        <p:txBody>
          <a:bodyPr wrap="square" anchor="ctr" lIns="0" rIns="0" tIns="0" bIns="0">
            <a:spAutoFit/>
          </a:bodyPr>
          <a:lstStyle/>
          <a:p>
            <a:pPr algn="l"/>
            <a:r>
              <a:rPr sz="1050" b="0" i="0">
                <a:solidFill>
                  <a:srgbClr val="17292D"/>
                </a:solidFill>
                <a:latin typeface="Calibri"/>
              </a:rPr>
              <a:t>Ràng buộc OCL: bất biến phân quyền</a:t>
            </a:r>
          </a:p>
        </p:txBody>
      </p:sp>
      <p:sp>
        <p:nvSpPr>
          <p:cNvPr id="12" name="Right Arrow 11"/>
          <p:cNvSpPr/>
          <p:nvPr/>
        </p:nvSpPr>
        <p:spPr>
          <a:xfrm>
            <a:off x="5257800" y="2606040"/>
            <a:ext cx="777240" cy="457200"/>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74920" y="3154680"/>
            <a:ext cx="1188720" cy="365760"/>
          </a:xfrm>
          <a:prstGeom prst="rect">
            <a:avLst/>
          </a:prstGeom>
          <a:noFill/>
        </p:spPr>
        <p:txBody>
          <a:bodyPr wrap="square" anchor="t" lIns="0" rIns="0" tIns="0" bIns="0">
            <a:spAutoFit/>
          </a:bodyPr>
          <a:lstStyle/>
          <a:p>
            <a:pPr algn="ctr"/>
            <a:r>
              <a:rPr sz="1100" b="1" i="1">
                <a:solidFill>
                  <a:srgbClr val="5A7278"/>
                </a:solidFill>
                <a:latin typeface="Calibri"/>
              </a:rPr>
              <a:t>tự động</a:t>
            </a:r>
          </a:p>
        </p:txBody>
      </p:sp>
      <p:sp>
        <p:nvSpPr>
          <p:cNvPr id="14" name="Rounded Rectangle 13"/>
          <p:cNvSpPr/>
          <p:nvPr/>
        </p:nvSpPr>
        <p:spPr>
          <a:xfrm>
            <a:off x="6263640" y="1645920"/>
            <a:ext cx="5349240" cy="2377440"/>
          </a:xfrm>
          <a:prstGeom prst="roundRect">
            <a:avLst>
              <a:gd name="adj" fmla="val 5500"/>
            </a:avLst>
          </a:prstGeom>
          <a:solidFill>
            <a:srgbClr val="F5FAFA"/>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1783080"/>
            <a:ext cx="4800600" cy="365760"/>
          </a:xfrm>
          <a:prstGeom prst="rect">
            <a:avLst/>
          </a:prstGeom>
          <a:noFill/>
        </p:spPr>
        <p:txBody>
          <a:bodyPr wrap="square" anchor="t" lIns="0" rIns="0" tIns="0" bIns="0">
            <a:spAutoFit/>
          </a:bodyPr>
          <a:lstStyle/>
          <a:p>
            <a:pPr algn="l"/>
            <a:r>
              <a:rPr sz="1350" b="1" i="0">
                <a:solidFill>
                  <a:srgbClr val="028090"/>
                </a:solidFill>
                <a:latin typeface="Calibri"/>
              </a:rPr>
              <a:t>TÌM — phương pháp &amp; công cụ sinh ra</a:t>
            </a:r>
          </a:p>
        </p:txBody>
      </p:sp>
      <p:sp>
        <p:nvSpPr>
          <p:cNvPr id="16" name="Rounded Rectangle 15"/>
          <p:cNvSpPr/>
          <p:nvPr/>
        </p:nvSpPr>
        <p:spPr>
          <a:xfrm>
            <a:off x="6537960" y="2240280"/>
            <a:ext cx="4800600" cy="731520"/>
          </a:xfrm>
          <a:prstGeom prst="roundRect">
            <a:avLst>
              <a:gd name="adj" fmla="val 5500"/>
            </a:avLst>
          </a:prstGeom>
          <a:solidFill>
            <a:srgbClr val="FFFFFF"/>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2240280"/>
            <a:ext cx="4480560" cy="731520"/>
          </a:xfrm>
          <a:prstGeom prst="rect">
            <a:avLst/>
          </a:prstGeom>
          <a:noFill/>
        </p:spPr>
        <p:txBody>
          <a:bodyPr wrap="square" anchor="ctr" lIns="0" rIns="0" tIns="0" bIns="0">
            <a:spAutoFit/>
          </a:bodyPr>
          <a:lstStyle/>
          <a:p>
            <a:pPr algn="l">
              <a:lnSpc>
                <a:spcPct val="108000"/>
              </a:lnSpc>
            </a:pPr>
            <a:r>
              <a:rPr sz="1100" b="0" i="0">
                <a:solidFill>
                  <a:srgbClr val="17292D"/>
                </a:solidFill>
                <a:latin typeface="Calibri"/>
              </a:rPr>
              <a:t>Ứng dụng phân tầng theo DDD (bounded context, 4 tầng)</a:t>
            </a:r>
          </a:p>
        </p:txBody>
      </p:sp>
      <p:sp>
        <p:nvSpPr>
          <p:cNvPr id="18" name="Rounded Rectangle 17"/>
          <p:cNvSpPr/>
          <p:nvPr/>
        </p:nvSpPr>
        <p:spPr>
          <a:xfrm>
            <a:off x="6537960" y="3099816"/>
            <a:ext cx="4800600" cy="731520"/>
          </a:xfrm>
          <a:prstGeom prst="roundRect">
            <a:avLst>
              <a:gd name="adj" fmla="val 5500"/>
            </a:avLst>
          </a:prstGeom>
          <a:solidFill>
            <a:srgbClr val="FFFFFF"/>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20840" y="3099816"/>
            <a:ext cx="4480560" cy="731520"/>
          </a:xfrm>
          <a:prstGeom prst="rect">
            <a:avLst/>
          </a:prstGeom>
          <a:noFill/>
        </p:spPr>
        <p:txBody>
          <a:bodyPr wrap="square" anchor="ctr" lIns="0" rIns="0" tIns="0" bIns="0">
            <a:spAutoFit/>
          </a:bodyPr>
          <a:lstStyle/>
          <a:p>
            <a:pPr algn="l">
              <a:lnSpc>
                <a:spcPct val="108000"/>
              </a:lnSpc>
            </a:pPr>
            <a:r>
              <a:rPr sz="1100" b="0" i="0">
                <a:solidFill>
                  <a:srgbClr val="17292D"/>
                </a:solidFill>
                <a:latin typeface="Calibri"/>
              </a:rPr>
              <a:t>Bộ thực thi phân quyền đúng đặc tả (guard, bảng gán quyền, phân cấp)</a:t>
            </a:r>
          </a:p>
        </p:txBody>
      </p:sp>
      <p:sp>
        <p:nvSpPr>
          <p:cNvPr id="20" name="TextBox 19"/>
          <p:cNvSpPr txBox="1"/>
          <p:nvPr/>
        </p:nvSpPr>
        <p:spPr>
          <a:xfrm>
            <a:off x="594360" y="4297680"/>
            <a:ext cx="11018520" cy="365760"/>
          </a:xfrm>
          <a:prstGeom prst="rect">
            <a:avLst/>
          </a:prstGeom>
          <a:noFill/>
        </p:spPr>
        <p:txBody>
          <a:bodyPr wrap="square" anchor="t" lIns="0" rIns="0" tIns="0" bIns="0">
            <a:spAutoFit/>
          </a:bodyPr>
          <a:lstStyle/>
          <a:p>
            <a:pPr algn="l"/>
            <a:r>
              <a:rPr sz="1350" b="1" i="0">
                <a:solidFill>
                  <a:srgbClr val="17292D"/>
                </a:solidFill>
                <a:latin typeface="Calibri"/>
              </a:rPr>
              <a:t>SAO CHO</a:t>
            </a:r>
          </a:p>
        </p:txBody>
      </p:sp>
      <p:sp>
        <p:nvSpPr>
          <p:cNvPr id="21" name="Rounded Rectangle 20"/>
          <p:cNvSpPr/>
          <p:nvPr/>
        </p:nvSpPr>
        <p:spPr>
          <a:xfrm>
            <a:off x="594360" y="4709160"/>
            <a:ext cx="2697480" cy="77724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709160"/>
            <a:ext cx="2423160" cy="777240"/>
          </a:xfrm>
          <a:prstGeom prst="rect">
            <a:avLst/>
          </a:prstGeom>
          <a:noFill/>
        </p:spPr>
        <p:txBody>
          <a:bodyPr wrap="square" anchor="ctr" lIns="0" rIns="0" tIns="0" bIns="0">
            <a:spAutoFit/>
          </a:bodyPr>
          <a:lstStyle/>
          <a:p>
            <a:pPr algn="ctr">
              <a:lnSpc>
                <a:spcPct val="105000"/>
              </a:lnSpc>
            </a:pPr>
            <a:r>
              <a:rPr sz="1050" b="1" i="0">
                <a:solidFill>
                  <a:srgbClr val="0A3438"/>
                </a:solidFill>
                <a:latin typeface="Calibri"/>
              </a:rPr>
              <a:t>RBAC là concern hạng nhất trong mô hình</a:t>
            </a:r>
          </a:p>
        </p:txBody>
      </p:sp>
      <p:sp>
        <p:nvSpPr>
          <p:cNvPr id="23" name="Rounded Rectangle 22"/>
          <p:cNvSpPr/>
          <p:nvPr/>
        </p:nvSpPr>
        <p:spPr>
          <a:xfrm>
            <a:off x="3364992" y="4709160"/>
            <a:ext cx="2697480" cy="77724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02152" y="4709160"/>
            <a:ext cx="2423160" cy="777240"/>
          </a:xfrm>
          <a:prstGeom prst="rect">
            <a:avLst/>
          </a:prstGeom>
          <a:noFill/>
        </p:spPr>
        <p:txBody>
          <a:bodyPr wrap="square" anchor="ctr" lIns="0" rIns="0" tIns="0" bIns="0">
            <a:spAutoFit/>
          </a:bodyPr>
          <a:lstStyle/>
          <a:p>
            <a:pPr algn="ctr">
              <a:lnSpc>
                <a:spcPct val="105000"/>
              </a:lnSpc>
            </a:pPr>
            <a:r>
              <a:rPr sz="1050" b="1" i="0">
                <a:solidFill>
                  <a:srgbClr val="0A3438"/>
                </a:solidFill>
                <a:latin typeface="Calibri"/>
              </a:rPr>
              <a:t>Trực giao — thêm/bớt không phá cấu trúc, hành vi</a:t>
            </a:r>
          </a:p>
        </p:txBody>
      </p:sp>
      <p:sp>
        <p:nvSpPr>
          <p:cNvPr id="25" name="Rounded Rectangle 24"/>
          <p:cNvSpPr/>
          <p:nvPr/>
        </p:nvSpPr>
        <p:spPr>
          <a:xfrm>
            <a:off x="6135624" y="4709160"/>
            <a:ext cx="2697480" cy="77724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72784" y="4709160"/>
            <a:ext cx="2423160" cy="777240"/>
          </a:xfrm>
          <a:prstGeom prst="rect">
            <a:avLst/>
          </a:prstGeom>
          <a:noFill/>
        </p:spPr>
        <p:txBody>
          <a:bodyPr wrap="square" anchor="ctr" lIns="0" rIns="0" tIns="0" bIns="0">
            <a:spAutoFit/>
          </a:bodyPr>
          <a:lstStyle/>
          <a:p>
            <a:pPr algn="ctr">
              <a:lnSpc>
                <a:spcPct val="105000"/>
              </a:lnSpc>
            </a:pPr>
            <a:r>
              <a:rPr sz="1050" b="1" i="0">
                <a:solidFill>
                  <a:srgbClr val="0A3438"/>
                </a:solidFill>
                <a:latin typeface="Calibri"/>
              </a:rPr>
              <a:t>Truy vết hai chiều mô hình ↔ mã</a:t>
            </a:r>
          </a:p>
        </p:txBody>
      </p:sp>
      <p:sp>
        <p:nvSpPr>
          <p:cNvPr id="27" name="Rounded Rectangle 26"/>
          <p:cNvSpPr/>
          <p:nvPr/>
        </p:nvSpPr>
        <p:spPr>
          <a:xfrm>
            <a:off x="8906256" y="4709160"/>
            <a:ext cx="2697480" cy="77724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43416" y="4709160"/>
            <a:ext cx="2423160" cy="777240"/>
          </a:xfrm>
          <a:prstGeom prst="rect">
            <a:avLst/>
          </a:prstGeom>
          <a:noFill/>
        </p:spPr>
        <p:txBody>
          <a:bodyPr wrap="square" anchor="ctr" lIns="0" rIns="0" tIns="0" bIns="0">
            <a:spAutoFit/>
          </a:bodyPr>
          <a:lstStyle/>
          <a:p>
            <a:pPr algn="ctr">
              <a:lnSpc>
                <a:spcPct val="105000"/>
              </a:lnSpc>
            </a:pPr>
            <a:r>
              <a:rPr sz="1050" b="1" i="0">
                <a:solidFill>
                  <a:srgbClr val="0A3438"/>
                </a:solidFill>
                <a:latin typeface="Calibri"/>
              </a:rPr>
              <a:t>Tự động &amp; lặp lại được (regenerate)</a:t>
            </a:r>
          </a:p>
        </p:txBody>
      </p:sp>
      <p:sp>
        <p:nvSpPr>
          <p:cNvPr id="29" name="Rounded Rectangle 28"/>
          <p:cNvSpPr/>
          <p:nvPr/>
        </p:nvSpPr>
        <p:spPr>
          <a:xfrm>
            <a:off x="594360" y="5760720"/>
            <a:ext cx="11018520" cy="731520"/>
          </a:xfrm>
          <a:prstGeom prst="roundRect">
            <a:avLst>
              <a:gd name="adj" fmla="val 5500"/>
            </a:avLst>
          </a:prstGeom>
          <a:solidFill>
            <a:srgbClr val="0A3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5760720"/>
            <a:ext cx="10469880" cy="731520"/>
          </a:xfrm>
          <a:prstGeom prst="rect">
            <a:avLst/>
          </a:prstGeom>
          <a:noFill/>
        </p:spPr>
        <p:txBody>
          <a:bodyPr wrap="square" anchor="ctr" lIns="0" rIns="0" tIns="0" bIns="0">
            <a:spAutoFit/>
          </a:bodyPr>
          <a:lstStyle/>
          <a:p>
            <a:pPr algn="ctr">
              <a:lnSpc>
                <a:spcPct val="110000"/>
              </a:lnSpc>
            </a:pPr>
            <a:r>
              <a:rPr sz="1350" b="1" i="0">
                <a:solidFill>
                  <a:srgbClr val="FFFFFF"/>
                </a:solidFill>
                <a:latin typeface="Calibri"/>
              </a:rPr>
              <a:t>Câu hỏi nghiên cứu:  làm thế nào đặc tả RBAC như một phần hạng nhất của mô hình miền, và tự động tích hợp nó vào mã sinh 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1 · Giới thiệu bài toán và động lực nghiên cứu</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Động lực &amp; khoảng trống nghiên cứu</a:t>
            </a:r>
          </a:p>
        </p:txBody>
      </p:sp>
      <p:sp>
        <p:nvSpPr>
          <p:cNvPr id="4" name="Rounded Rectangle 3"/>
          <p:cNvSpPr/>
          <p:nvPr/>
        </p:nvSpPr>
        <p:spPr>
          <a:xfrm>
            <a:off x="594360" y="1645920"/>
            <a:ext cx="11018520" cy="73152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2286000" cy="731520"/>
          </a:xfrm>
          <a:prstGeom prst="rect">
            <a:avLst/>
          </a:prstGeom>
          <a:noFill/>
        </p:spPr>
        <p:txBody>
          <a:bodyPr wrap="square" anchor="ctr" lIns="0" rIns="0" tIns="0" bIns="0">
            <a:spAutoFit/>
          </a:bodyPr>
          <a:lstStyle/>
          <a:p>
            <a:pPr algn="l"/>
            <a:r>
              <a:rPr sz="1400" b="1" i="0">
                <a:solidFill>
                  <a:srgbClr val="028090"/>
                </a:solidFill>
                <a:latin typeface="Calibri"/>
              </a:rPr>
              <a:t>Nền tảng RBAC</a:t>
            </a:r>
          </a:p>
        </p:txBody>
      </p:sp>
      <p:sp>
        <p:nvSpPr>
          <p:cNvPr id="6" name="TextBox 5"/>
          <p:cNvSpPr txBox="1"/>
          <p:nvPr/>
        </p:nvSpPr>
        <p:spPr>
          <a:xfrm>
            <a:off x="3291840" y="1645920"/>
            <a:ext cx="3291840" cy="731520"/>
          </a:xfrm>
          <a:prstGeom prst="rect">
            <a:avLst/>
          </a:prstGeom>
          <a:noFill/>
        </p:spPr>
        <p:txBody>
          <a:bodyPr wrap="square" anchor="ctr" lIns="0" rIns="0" tIns="0" bIns="0">
            <a:spAutoFit/>
          </a:bodyPr>
          <a:lstStyle/>
          <a:p>
            <a:pPr algn="l"/>
            <a:r>
              <a:rPr sz="1200" b="1" i="0">
                <a:solidFill>
                  <a:srgbClr val="17292D"/>
                </a:solidFill>
                <a:latin typeface="Calibri"/>
              </a:rPr>
              <a:t>Sandhu et al. 1996 · Ray–Li–France 2004</a:t>
            </a:r>
          </a:p>
        </p:txBody>
      </p:sp>
      <p:sp>
        <p:nvSpPr>
          <p:cNvPr id="7" name="TextBox 6"/>
          <p:cNvSpPr txBox="1"/>
          <p:nvPr/>
        </p:nvSpPr>
        <p:spPr>
          <a:xfrm>
            <a:off x="6766560" y="1645920"/>
            <a:ext cx="4663440" cy="731520"/>
          </a:xfrm>
          <a:prstGeom prst="rect">
            <a:avLst/>
          </a:prstGeom>
          <a:noFill/>
        </p:spPr>
        <p:txBody>
          <a:bodyPr wrap="square" anchor="ctr" lIns="0" rIns="0" tIns="0" bIns="0">
            <a:spAutoFit/>
          </a:bodyPr>
          <a:lstStyle/>
          <a:p>
            <a:pPr algn="l">
              <a:lnSpc>
                <a:spcPct val="105000"/>
              </a:lnSpc>
            </a:pPr>
            <a:r>
              <a:rPr sz="1150" b="0" i="0">
                <a:solidFill>
                  <a:srgbClr val="5A7278"/>
                </a:solidFill>
                <a:latin typeface="Calibri"/>
              </a:rPr>
              <a:t>RBAC₀–₃: role, permission, hierarchy, SSD/DSD; biểu diễn UML + OCL</a:t>
            </a:r>
          </a:p>
        </p:txBody>
      </p:sp>
      <p:sp>
        <p:nvSpPr>
          <p:cNvPr id="8" name="Rounded Rectangle 7"/>
          <p:cNvSpPr/>
          <p:nvPr/>
        </p:nvSpPr>
        <p:spPr>
          <a:xfrm>
            <a:off x="594360" y="2505456"/>
            <a:ext cx="11018520" cy="73152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505456"/>
            <a:ext cx="2286000" cy="731520"/>
          </a:xfrm>
          <a:prstGeom prst="rect">
            <a:avLst/>
          </a:prstGeom>
          <a:noFill/>
        </p:spPr>
        <p:txBody>
          <a:bodyPr wrap="square" anchor="ctr" lIns="0" rIns="0" tIns="0" bIns="0">
            <a:spAutoFit/>
          </a:bodyPr>
          <a:lstStyle/>
          <a:p>
            <a:pPr algn="l"/>
            <a:r>
              <a:rPr sz="1400" b="1" i="0">
                <a:solidFill>
                  <a:srgbClr val="028090"/>
                </a:solidFill>
                <a:latin typeface="Calibri"/>
              </a:rPr>
              <a:t>aDSL cho DDD</a:t>
            </a:r>
          </a:p>
        </p:txBody>
      </p:sp>
      <p:sp>
        <p:nvSpPr>
          <p:cNvPr id="10" name="TextBox 9"/>
          <p:cNvSpPr txBox="1"/>
          <p:nvPr/>
        </p:nvSpPr>
        <p:spPr>
          <a:xfrm>
            <a:off x="3291840" y="2505456"/>
            <a:ext cx="3291840" cy="731520"/>
          </a:xfrm>
          <a:prstGeom prst="rect">
            <a:avLst/>
          </a:prstGeom>
          <a:noFill/>
        </p:spPr>
        <p:txBody>
          <a:bodyPr wrap="square" anchor="ctr" lIns="0" rIns="0" tIns="0" bIns="0">
            <a:spAutoFit/>
          </a:bodyPr>
          <a:lstStyle/>
          <a:p>
            <a:pPr algn="l"/>
            <a:r>
              <a:rPr sz="1200" b="1" i="0">
                <a:solidFill>
                  <a:srgbClr val="17292D"/>
                </a:solidFill>
                <a:latin typeface="Calibri"/>
              </a:rPr>
              <a:t>DCSL 2018 · AGL 2023</a:t>
            </a:r>
          </a:p>
        </p:txBody>
      </p:sp>
      <p:sp>
        <p:nvSpPr>
          <p:cNvPr id="11" name="TextBox 10"/>
          <p:cNvSpPr txBox="1"/>
          <p:nvPr/>
        </p:nvSpPr>
        <p:spPr>
          <a:xfrm>
            <a:off x="6766560" y="2505456"/>
            <a:ext cx="4663440" cy="731520"/>
          </a:xfrm>
          <a:prstGeom prst="rect">
            <a:avLst/>
          </a:prstGeom>
          <a:noFill/>
        </p:spPr>
        <p:txBody>
          <a:bodyPr wrap="square" anchor="ctr" lIns="0" rIns="0" tIns="0" bIns="0">
            <a:spAutoFit/>
          </a:bodyPr>
          <a:lstStyle/>
          <a:p>
            <a:pPr algn="l">
              <a:lnSpc>
                <a:spcPct val="105000"/>
              </a:lnSpc>
            </a:pPr>
            <a:r>
              <a:rPr sz="1150" b="0" i="0">
                <a:solidFill>
                  <a:srgbClr val="5A7278"/>
                </a:solidFill>
                <a:latin typeface="Calibri"/>
              </a:rPr>
              <a:t>Đặc tả cấu trúc / hành vi bằng annotation; biến đổi UML → đặc tả → mã</a:t>
            </a:r>
          </a:p>
        </p:txBody>
      </p:sp>
      <p:sp>
        <p:nvSpPr>
          <p:cNvPr id="12" name="Rounded Rectangle 11"/>
          <p:cNvSpPr/>
          <p:nvPr/>
        </p:nvSpPr>
        <p:spPr>
          <a:xfrm>
            <a:off x="594360" y="3364992"/>
            <a:ext cx="11018520" cy="73152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64992"/>
            <a:ext cx="2286000" cy="731520"/>
          </a:xfrm>
          <a:prstGeom prst="rect">
            <a:avLst/>
          </a:prstGeom>
          <a:noFill/>
        </p:spPr>
        <p:txBody>
          <a:bodyPr wrap="square" anchor="ctr" lIns="0" rIns="0" tIns="0" bIns="0">
            <a:spAutoFit/>
          </a:bodyPr>
          <a:lstStyle/>
          <a:p>
            <a:pPr algn="l"/>
            <a:r>
              <a:rPr sz="1400" b="1" i="0">
                <a:solidFill>
                  <a:srgbClr val="028090"/>
                </a:solidFill>
                <a:latin typeface="Calibri"/>
              </a:rPr>
              <a:t>Hợp nhất concern</a:t>
            </a:r>
          </a:p>
        </p:txBody>
      </p:sp>
      <p:sp>
        <p:nvSpPr>
          <p:cNvPr id="14" name="TextBox 13"/>
          <p:cNvSpPr txBox="1"/>
          <p:nvPr/>
        </p:nvSpPr>
        <p:spPr>
          <a:xfrm>
            <a:off x="3291840" y="3364992"/>
            <a:ext cx="3291840" cy="731520"/>
          </a:xfrm>
          <a:prstGeom prst="rect">
            <a:avLst/>
          </a:prstGeom>
          <a:noFill/>
        </p:spPr>
        <p:txBody>
          <a:bodyPr wrap="square" anchor="ctr" lIns="0" rIns="0" tIns="0" bIns="0">
            <a:spAutoFit/>
          </a:bodyPr>
          <a:lstStyle/>
          <a:p>
            <a:pPr algn="l"/>
            <a:r>
              <a:rPr sz="1200" b="1" i="0">
                <a:solidFill>
                  <a:srgbClr val="17292D"/>
                </a:solidFill>
                <a:latin typeface="Calibri"/>
              </a:rPr>
              <a:t>UDML 2025</a:t>
            </a:r>
          </a:p>
        </p:txBody>
      </p:sp>
      <p:sp>
        <p:nvSpPr>
          <p:cNvPr id="15" name="TextBox 14"/>
          <p:cNvSpPr txBox="1"/>
          <p:nvPr/>
        </p:nvSpPr>
        <p:spPr>
          <a:xfrm>
            <a:off x="6766560" y="3364992"/>
            <a:ext cx="4663440" cy="731520"/>
          </a:xfrm>
          <a:prstGeom prst="rect">
            <a:avLst/>
          </a:prstGeom>
          <a:noFill/>
        </p:spPr>
        <p:txBody>
          <a:bodyPr wrap="square" anchor="ctr" lIns="0" rIns="0" tIns="0" bIns="0">
            <a:spAutoFit/>
          </a:bodyPr>
          <a:lstStyle/>
          <a:p>
            <a:pPr algn="l">
              <a:lnSpc>
                <a:spcPct val="105000"/>
              </a:lnSpc>
            </a:pPr>
            <a:r>
              <a:rPr sz="1150" b="0" i="0">
                <a:solidFill>
                  <a:srgbClr val="5A7278"/>
                </a:solidFill>
                <a:latin typeface="Calibri"/>
              </a:rPr>
              <a:t>Compose nhiều concern vào một mô hình thống nhất; trực giao &amp; truy vết</a:t>
            </a:r>
          </a:p>
        </p:txBody>
      </p:sp>
      <p:sp>
        <p:nvSpPr>
          <p:cNvPr id="16" name="Rounded Rectangle 15"/>
          <p:cNvSpPr/>
          <p:nvPr/>
        </p:nvSpPr>
        <p:spPr>
          <a:xfrm>
            <a:off x="594360" y="4224528"/>
            <a:ext cx="11018520" cy="73152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224528"/>
            <a:ext cx="2286000" cy="731520"/>
          </a:xfrm>
          <a:prstGeom prst="rect">
            <a:avLst/>
          </a:prstGeom>
          <a:noFill/>
        </p:spPr>
        <p:txBody>
          <a:bodyPr wrap="square" anchor="ctr" lIns="0" rIns="0" tIns="0" bIns="0">
            <a:spAutoFit/>
          </a:bodyPr>
          <a:lstStyle/>
          <a:p>
            <a:pPr algn="l"/>
            <a:r>
              <a:rPr sz="1400" b="1" i="0">
                <a:solidFill>
                  <a:srgbClr val="028090"/>
                </a:solidFill>
                <a:latin typeface="Calibri"/>
              </a:rPr>
              <a:t>Kiến trúc đích</a:t>
            </a:r>
          </a:p>
        </p:txBody>
      </p:sp>
      <p:sp>
        <p:nvSpPr>
          <p:cNvPr id="18" name="TextBox 17"/>
          <p:cNvSpPr txBox="1"/>
          <p:nvPr/>
        </p:nvSpPr>
        <p:spPr>
          <a:xfrm>
            <a:off x="3291840" y="4224528"/>
            <a:ext cx="3291840" cy="731520"/>
          </a:xfrm>
          <a:prstGeom prst="rect">
            <a:avLst/>
          </a:prstGeom>
          <a:noFill/>
        </p:spPr>
        <p:txBody>
          <a:bodyPr wrap="square" anchor="ctr" lIns="0" rIns="0" tIns="0" bIns="0">
            <a:spAutoFit/>
          </a:bodyPr>
          <a:lstStyle/>
          <a:p>
            <a:pPr algn="l"/>
            <a:r>
              <a:rPr sz="1200" b="1" i="0">
                <a:solidFill>
                  <a:srgbClr val="17292D"/>
                </a:solidFill>
                <a:latin typeface="Calibri"/>
              </a:rPr>
              <a:t>TMSA 2025</a:t>
            </a:r>
          </a:p>
        </p:txBody>
      </p:sp>
      <p:sp>
        <p:nvSpPr>
          <p:cNvPr id="19" name="TextBox 18"/>
          <p:cNvSpPr txBox="1"/>
          <p:nvPr/>
        </p:nvSpPr>
        <p:spPr>
          <a:xfrm>
            <a:off x="6766560" y="4224528"/>
            <a:ext cx="4663440" cy="731520"/>
          </a:xfrm>
          <a:prstGeom prst="rect">
            <a:avLst/>
          </a:prstGeom>
          <a:noFill/>
        </p:spPr>
        <p:txBody>
          <a:bodyPr wrap="square" anchor="ctr" lIns="0" rIns="0" tIns="0" bIns="0">
            <a:spAutoFit/>
          </a:bodyPr>
          <a:lstStyle/>
          <a:p>
            <a:pPr algn="l">
              <a:lnSpc>
                <a:spcPct val="105000"/>
              </a:lnSpc>
            </a:pPr>
            <a:r>
              <a:rPr sz="1150" b="0" i="0">
                <a:solidFill>
                  <a:srgbClr val="5A7278"/>
                </a:solidFill>
                <a:latin typeface="Calibri"/>
              </a:rPr>
              <a:t>Layered microservices hướng bounded context</a:t>
            </a:r>
          </a:p>
        </p:txBody>
      </p:sp>
      <p:sp>
        <p:nvSpPr>
          <p:cNvPr id="20" name="Rounded Rectangle 19"/>
          <p:cNvSpPr/>
          <p:nvPr/>
        </p:nvSpPr>
        <p:spPr>
          <a:xfrm>
            <a:off x="594360" y="5193792"/>
            <a:ext cx="11018520" cy="1280160"/>
          </a:xfrm>
          <a:prstGeom prst="roundRect">
            <a:avLst>
              <a:gd name="adj" fmla="val 5500"/>
            </a:avLst>
          </a:prstGeom>
          <a:solidFill>
            <a:srgbClr val="0A3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376672"/>
            <a:ext cx="1828800" cy="914400"/>
          </a:xfrm>
          <a:prstGeom prst="rect">
            <a:avLst/>
          </a:prstGeom>
          <a:noFill/>
        </p:spPr>
        <p:txBody>
          <a:bodyPr wrap="square" anchor="t" lIns="0" rIns="0" tIns="0" bIns="0">
            <a:spAutoFit/>
          </a:bodyPr>
          <a:lstStyle/>
          <a:p>
            <a:pPr algn="l"/>
            <a:r>
              <a:rPr sz="1500" b="1" i="0">
                <a:solidFill>
                  <a:srgbClr val="02C39A"/>
                </a:solidFill>
                <a:latin typeface="Calibri"/>
              </a:rPr>
              <a:t>Khoảng trống</a:t>
            </a:r>
          </a:p>
        </p:txBody>
      </p:sp>
      <p:sp>
        <p:nvSpPr>
          <p:cNvPr id="22" name="TextBox 21"/>
          <p:cNvSpPr txBox="1"/>
          <p:nvPr/>
        </p:nvSpPr>
        <p:spPr>
          <a:xfrm>
            <a:off x="2743200" y="5330952"/>
            <a:ext cx="8595360" cy="1051560"/>
          </a:xfrm>
          <a:prstGeom prst="rect">
            <a:avLst/>
          </a:prstGeom>
          <a:noFill/>
        </p:spPr>
        <p:txBody>
          <a:bodyPr wrap="square" anchor="t" lIns="0" rIns="0" tIns="0" bIns="0">
            <a:spAutoFit/>
          </a:bodyPr>
          <a:lstStyle/>
          <a:p>
            <a:pPr algn="l">
              <a:lnSpc>
                <a:spcPct val="115000"/>
              </a:lnSpc>
            </a:pPr>
            <a:r>
              <a:rPr sz="1350" b="0" i="0">
                <a:solidFill>
                  <a:srgbClr val="FFFFFF"/>
                </a:solidFill>
                <a:latin typeface="Calibri"/>
              </a:rPr>
              <a:t>RBAC mới được nhắc đến như một concern khả thi — chưa có đặc tả ngang hàng DCSL/AGL, chưa có metamodel hợp nhất, và chưa có bộ sinh mã nào tích hợp RBAC vào scaffolding DDD một cách tự động.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2 · Phương pháp: đặc tả &amp; tích hợp RBAC vào Domain Model</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Hướng tiếp cận: RBAC là một concern trong DDD</a:t>
            </a:r>
          </a:p>
        </p:txBody>
      </p:sp>
      <p:sp>
        <p:nvSpPr>
          <p:cNvPr id="4" name="Rounded Rectangle 3"/>
          <p:cNvSpPr/>
          <p:nvPr/>
        </p:nvSpPr>
        <p:spPr>
          <a:xfrm>
            <a:off x="594360" y="1783080"/>
            <a:ext cx="2606040" cy="210312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2148840" cy="457200"/>
          </a:xfrm>
          <a:prstGeom prst="rect">
            <a:avLst/>
          </a:prstGeom>
          <a:noFill/>
        </p:spPr>
        <p:txBody>
          <a:bodyPr wrap="square" anchor="t" lIns="0" rIns="0" tIns="0" bIns="0">
            <a:spAutoFit/>
          </a:bodyPr>
          <a:lstStyle/>
          <a:p>
            <a:pPr algn="l"/>
            <a:r>
              <a:rPr sz="2200" b="1" i="0">
                <a:solidFill>
                  <a:srgbClr val="02C39A"/>
                </a:solidFill>
                <a:latin typeface="Cambria"/>
              </a:rPr>
              <a:t>01</a:t>
            </a:r>
          </a:p>
        </p:txBody>
      </p:sp>
      <p:sp>
        <p:nvSpPr>
          <p:cNvPr id="6" name="TextBox 5"/>
          <p:cNvSpPr txBox="1"/>
          <p:nvPr/>
        </p:nvSpPr>
        <p:spPr>
          <a:xfrm>
            <a:off x="822960" y="2441448"/>
            <a:ext cx="2148840" cy="365760"/>
          </a:xfrm>
          <a:prstGeom prst="rect">
            <a:avLst/>
          </a:prstGeom>
          <a:noFill/>
        </p:spPr>
        <p:txBody>
          <a:bodyPr wrap="square" anchor="t" lIns="0" rIns="0" tIns="0" bIns="0">
            <a:spAutoFit/>
          </a:bodyPr>
          <a:lstStyle/>
          <a:p>
            <a:pPr algn="l"/>
            <a:r>
              <a:rPr sz="1500" b="1" i="0">
                <a:solidFill>
                  <a:srgbClr val="028090"/>
                </a:solidFill>
                <a:latin typeface="Calibri"/>
              </a:rPr>
              <a:t>Đặc tả</a:t>
            </a:r>
          </a:p>
        </p:txBody>
      </p:sp>
      <p:sp>
        <p:nvSpPr>
          <p:cNvPr id="7" name="TextBox 6"/>
          <p:cNvSpPr txBox="1"/>
          <p:nvPr/>
        </p:nvSpPr>
        <p:spPr>
          <a:xfrm>
            <a:off x="822960" y="2807208"/>
            <a:ext cx="2148840" cy="1005840"/>
          </a:xfrm>
          <a:prstGeom prst="rect">
            <a:avLst/>
          </a:prstGeom>
          <a:noFill/>
        </p:spPr>
        <p:txBody>
          <a:bodyPr wrap="square" anchor="t" lIns="0" rIns="0" tIns="0" bIns="0">
            <a:spAutoFit/>
          </a:bodyPr>
          <a:lstStyle/>
          <a:p>
            <a:pPr algn="l">
              <a:lnSpc>
                <a:spcPct val="108000"/>
              </a:lnSpc>
            </a:pPr>
            <a:r>
              <a:rPr sz="1150" b="0" i="0">
                <a:solidFill>
                  <a:srgbClr val="17292D"/>
                </a:solidFill>
                <a:latin typeface="Calibri"/>
              </a:rPr>
              <a:t>RBAC ngay trong PlantUML class diagram: &lt;&lt;Role&gt;&gt;, permission có target.action [scope], hierarchy — kèm ràng buộc OCL</a:t>
            </a:r>
          </a:p>
        </p:txBody>
      </p:sp>
      <p:sp>
        <p:nvSpPr>
          <p:cNvPr id="8" name="Right Arrow 7"/>
          <p:cNvSpPr/>
          <p:nvPr/>
        </p:nvSpPr>
        <p:spPr>
          <a:xfrm>
            <a:off x="3214116" y="2706623"/>
            <a:ext cx="292608" cy="25603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20440" y="1783080"/>
            <a:ext cx="2606040" cy="210312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39" y="1965960"/>
            <a:ext cx="2148840" cy="457200"/>
          </a:xfrm>
          <a:prstGeom prst="rect">
            <a:avLst/>
          </a:prstGeom>
          <a:noFill/>
        </p:spPr>
        <p:txBody>
          <a:bodyPr wrap="square" anchor="t" lIns="0" rIns="0" tIns="0" bIns="0">
            <a:spAutoFit/>
          </a:bodyPr>
          <a:lstStyle/>
          <a:p>
            <a:pPr algn="l"/>
            <a:r>
              <a:rPr sz="2200" b="1" i="0">
                <a:solidFill>
                  <a:srgbClr val="02C39A"/>
                </a:solidFill>
                <a:latin typeface="Cambria"/>
              </a:rPr>
              <a:t>02</a:t>
            </a:r>
          </a:p>
        </p:txBody>
      </p:sp>
      <p:sp>
        <p:nvSpPr>
          <p:cNvPr id="11" name="TextBox 10"/>
          <p:cNvSpPr txBox="1"/>
          <p:nvPr/>
        </p:nvSpPr>
        <p:spPr>
          <a:xfrm>
            <a:off x="3749039" y="2441448"/>
            <a:ext cx="2148840" cy="365760"/>
          </a:xfrm>
          <a:prstGeom prst="rect">
            <a:avLst/>
          </a:prstGeom>
          <a:noFill/>
        </p:spPr>
        <p:txBody>
          <a:bodyPr wrap="square" anchor="t" lIns="0" rIns="0" tIns="0" bIns="0">
            <a:spAutoFit/>
          </a:bodyPr>
          <a:lstStyle/>
          <a:p>
            <a:pPr algn="l"/>
            <a:r>
              <a:rPr sz="1500" b="1" i="0">
                <a:solidFill>
                  <a:srgbClr val="028090"/>
                </a:solidFill>
                <a:latin typeface="Calibri"/>
              </a:rPr>
              <a:t>Hợp nhất</a:t>
            </a:r>
          </a:p>
        </p:txBody>
      </p:sp>
      <p:sp>
        <p:nvSpPr>
          <p:cNvPr id="12" name="TextBox 11"/>
          <p:cNvSpPr txBox="1"/>
          <p:nvPr/>
        </p:nvSpPr>
        <p:spPr>
          <a:xfrm>
            <a:off x="3749039" y="2807208"/>
            <a:ext cx="2148840" cy="1005840"/>
          </a:xfrm>
          <a:prstGeom prst="rect">
            <a:avLst/>
          </a:prstGeom>
          <a:noFill/>
        </p:spPr>
        <p:txBody>
          <a:bodyPr wrap="square" anchor="t" lIns="0" rIns="0" tIns="0" bIns="0">
            <a:spAutoFit/>
          </a:bodyPr>
          <a:lstStyle/>
          <a:p>
            <a:pPr algn="l">
              <a:lnSpc>
                <a:spcPct val="108000"/>
              </a:lnSpc>
            </a:pPr>
            <a:r>
              <a:rPr sz="1150" b="0" i="0">
                <a:solidFill>
                  <a:srgbClr val="17292D"/>
                </a:solidFill>
                <a:latin typeface="Calibri"/>
              </a:rPr>
              <a:t>Metamodel thống nhất DCSL (cấu trúc) + AGL (hành vi) + RBAC₀/₁ (phân quyền) trên một AST</a:t>
            </a:r>
          </a:p>
        </p:txBody>
      </p:sp>
      <p:sp>
        <p:nvSpPr>
          <p:cNvPr id="13" name="Right Arrow 12"/>
          <p:cNvSpPr/>
          <p:nvPr/>
        </p:nvSpPr>
        <p:spPr>
          <a:xfrm>
            <a:off x="6140196" y="2706623"/>
            <a:ext cx="292608" cy="25603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46520" y="1783080"/>
            <a:ext cx="2606040" cy="210312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1965960"/>
            <a:ext cx="2148840" cy="457200"/>
          </a:xfrm>
          <a:prstGeom prst="rect">
            <a:avLst/>
          </a:prstGeom>
          <a:noFill/>
        </p:spPr>
        <p:txBody>
          <a:bodyPr wrap="square" anchor="t" lIns="0" rIns="0" tIns="0" bIns="0">
            <a:spAutoFit/>
          </a:bodyPr>
          <a:lstStyle/>
          <a:p>
            <a:pPr algn="l"/>
            <a:r>
              <a:rPr sz="2200" b="1" i="0">
                <a:solidFill>
                  <a:srgbClr val="02C39A"/>
                </a:solidFill>
                <a:latin typeface="Cambria"/>
              </a:rPr>
              <a:t>03</a:t>
            </a:r>
          </a:p>
        </p:txBody>
      </p:sp>
      <p:sp>
        <p:nvSpPr>
          <p:cNvPr id="16" name="TextBox 15"/>
          <p:cNvSpPr txBox="1"/>
          <p:nvPr/>
        </p:nvSpPr>
        <p:spPr>
          <a:xfrm>
            <a:off x="6675120" y="2441448"/>
            <a:ext cx="2148840" cy="365760"/>
          </a:xfrm>
          <a:prstGeom prst="rect">
            <a:avLst/>
          </a:prstGeom>
          <a:noFill/>
        </p:spPr>
        <p:txBody>
          <a:bodyPr wrap="square" anchor="t" lIns="0" rIns="0" tIns="0" bIns="0">
            <a:spAutoFit/>
          </a:bodyPr>
          <a:lstStyle/>
          <a:p>
            <a:pPr algn="l"/>
            <a:r>
              <a:rPr sz="1500" b="1" i="0">
                <a:solidFill>
                  <a:srgbClr val="028090"/>
                </a:solidFill>
                <a:latin typeface="Calibri"/>
              </a:rPr>
              <a:t>Biến đổi</a:t>
            </a:r>
          </a:p>
        </p:txBody>
      </p:sp>
      <p:sp>
        <p:nvSpPr>
          <p:cNvPr id="17" name="TextBox 16"/>
          <p:cNvSpPr txBox="1"/>
          <p:nvPr/>
        </p:nvSpPr>
        <p:spPr>
          <a:xfrm>
            <a:off x="6675120" y="2807208"/>
            <a:ext cx="2148840" cy="1005840"/>
          </a:xfrm>
          <a:prstGeom prst="rect">
            <a:avLst/>
          </a:prstGeom>
          <a:noFill/>
        </p:spPr>
        <p:txBody>
          <a:bodyPr wrap="square" anchor="t" lIns="0" rIns="0" tIns="0" bIns="0">
            <a:spAutoFit/>
          </a:bodyPr>
          <a:lstStyle/>
          <a:p>
            <a:pPr algn="l">
              <a:lnSpc>
                <a:spcPct val="108000"/>
              </a:lnSpc>
            </a:pPr>
            <a:r>
              <a:rPr sz="1150" b="0" i="0">
                <a:solidFill>
                  <a:srgbClr val="17292D"/>
                </a:solidFill>
                <a:latin typeface="Calibri"/>
              </a:rPr>
              <a:t>Làm giàu mô hình: CRUD mặc định, repository tự sinh, lan truyền quyền qua role hierarchy</a:t>
            </a:r>
          </a:p>
        </p:txBody>
      </p:sp>
      <p:sp>
        <p:nvSpPr>
          <p:cNvPr id="18" name="Right Arrow 17"/>
          <p:cNvSpPr/>
          <p:nvPr/>
        </p:nvSpPr>
        <p:spPr>
          <a:xfrm>
            <a:off x="9066276" y="2706623"/>
            <a:ext cx="292608" cy="25603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372600" y="1783080"/>
            <a:ext cx="2606040" cy="210312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0" y="1965960"/>
            <a:ext cx="2148840" cy="457200"/>
          </a:xfrm>
          <a:prstGeom prst="rect">
            <a:avLst/>
          </a:prstGeom>
          <a:noFill/>
        </p:spPr>
        <p:txBody>
          <a:bodyPr wrap="square" anchor="t" lIns="0" rIns="0" tIns="0" bIns="0">
            <a:spAutoFit/>
          </a:bodyPr>
          <a:lstStyle/>
          <a:p>
            <a:pPr algn="l"/>
            <a:r>
              <a:rPr sz="2200" b="1" i="0">
                <a:solidFill>
                  <a:srgbClr val="02C39A"/>
                </a:solidFill>
                <a:latin typeface="Cambria"/>
              </a:rPr>
              <a:t>04</a:t>
            </a:r>
          </a:p>
        </p:txBody>
      </p:sp>
      <p:sp>
        <p:nvSpPr>
          <p:cNvPr id="21" name="TextBox 20"/>
          <p:cNvSpPr txBox="1"/>
          <p:nvPr/>
        </p:nvSpPr>
        <p:spPr>
          <a:xfrm>
            <a:off x="9601200" y="2441448"/>
            <a:ext cx="2148840" cy="365760"/>
          </a:xfrm>
          <a:prstGeom prst="rect">
            <a:avLst/>
          </a:prstGeom>
          <a:noFill/>
        </p:spPr>
        <p:txBody>
          <a:bodyPr wrap="square" anchor="t" lIns="0" rIns="0" tIns="0" bIns="0">
            <a:spAutoFit/>
          </a:bodyPr>
          <a:lstStyle/>
          <a:p>
            <a:pPr algn="l"/>
            <a:r>
              <a:rPr sz="1500" b="1" i="0">
                <a:solidFill>
                  <a:srgbClr val="028090"/>
                </a:solidFill>
                <a:latin typeface="Calibri"/>
              </a:rPr>
              <a:t>Sinh mã</a:t>
            </a:r>
          </a:p>
        </p:txBody>
      </p:sp>
      <p:sp>
        <p:nvSpPr>
          <p:cNvPr id="22" name="TextBox 21"/>
          <p:cNvSpPr txBox="1"/>
          <p:nvPr/>
        </p:nvSpPr>
        <p:spPr>
          <a:xfrm>
            <a:off x="9601200" y="2807208"/>
            <a:ext cx="2148840" cy="1005840"/>
          </a:xfrm>
          <a:prstGeom prst="rect">
            <a:avLst/>
          </a:prstGeom>
          <a:noFill/>
        </p:spPr>
        <p:txBody>
          <a:bodyPr wrap="square" anchor="t" lIns="0" rIns="0" tIns="0" bIns="0">
            <a:spAutoFit/>
          </a:bodyPr>
          <a:lstStyle/>
          <a:p>
            <a:pPr algn="l">
              <a:lnSpc>
                <a:spcPct val="108000"/>
              </a:lnSpc>
            </a:pPr>
            <a:r>
              <a:rPr sz="1150" b="0" i="0">
                <a:solidFill>
                  <a:srgbClr val="17292D"/>
                </a:solidFill>
                <a:latin typeface="Calibri"/>
              </a:rPr>
              <a:t>NestJS DDD scaffolding + guard, decorator, enum phân quyền — bằng template Handlebars</a:t>
            </a:r>
          </a:p>
        </p:txBody>
      </p:sp>
      <p:sp>
        <p:nvSpPr>
          <p:cNvPr id="23" name="TextBox 22"/>
          <p:cNvSpPr txBox="1"/>
          <p:nvPr/>
        </p:nvSpPr>
        <p:spPr>
          <a:xfrm>
            <a:off x="594360" y="4160520"/>
            <a:ext cx="11018520" cy="457200"/>
          </a:xfrm>
          <a:prstGeom prst="rect">
            <a:avLst/>
          </a:prstGeom>
          <a:noFill/>
        </p:spPr>
        <p:txBody>
          <a:bodyPr wrap="square" anchor="t" lIns="0" rIns="0" tIns="0" bIns="0">
            <a:spAutoFit/>
          </a:bodyPr>
          <a:lstStyle/>
          <a:p>
            <a:pPr algn="ctr"/>
            <a:r>
              <a:rPr sz="1500" b="1" i="1">
                <a:solidFill>
                  <a:srgbClr val="0A3438"/>
                </a:solidFill>
                <a:latin typeface="Calibri"/>
              </a:rPr>
              <a:t>Một nguồn sự thật duy nhất: sơ đồ thay đổi → sinh lại — mã phân quyền không bao giờ lệch khỏi thiết kế.</a:t>
            </a:r>
          </a:p>
        </p:txBody>
      </p:sp>
      <p:sp>
        <p:nvSpPr>
          <p:cNvPr id="24" name="Rounded Rectangle 23"/>
          <p:cNvSpPr/>
          <p:nvPr/>
        </p:nvSpPr>
        <p:spPr>
          <a:xfrm>
            <a:off x="594360" y="4800600"/>
            <a:ext cx="3584448" cy="141732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965192"/>
            <a:ext cx="3127248" cy="1088136"/>
          </a:xfrm>
          <a:prstGeom prst="rect">
            <a:avLst/>
          </a:prstGeom>
          <a:noFill/>
        </p:spPr>
        <p:txBody>
          <a:bodyPr wrap="square" anchor="t" lIns="0" rIns="0" tIns="0" bIns="0">
            <a:spAutoFit/>
          </a:bodyPr>
          <a:lstStyle/>
          <a:p>
            <a:pPr algn="l">
              <a:spcAft>
                <a:spcPts val="400"/>
              </a:spcAft>
            </a:pPr>
            <a:r>
              <a:rPr sz="1350" b="1" i="0">
                <a:solidFill>
                  <a:srgbClr val="028090"/>
                </a:solidFill>
                <a:latin typeface="Calibri"/>
              </a:rPr>
              <a:t>Concern hạng nhất</a:t>
            </a:r>
          </a:p>
          <a:p>
            <a:pPr algn="l">
              <a:lnSpc>
                <a:spcPct val="108000"/>
              </a:lnSpc>
            </a:pPr>
            <a:r>
              <a:rPr sz="1150" b="0" i="0">
                <a:solidFill>
                  <a:srgbClr val="17292D"/>
                </a:solidFill>
                <a:latin typeface="Calibri"/>
              </a:rPr>
              <a:t>RBAC xuất hiện trong chính class diagram, ngang hàng cấu trúc và hành vi</a:t>
            </a:r>
          </a:p>
        </p:txBody>
      </p:sp>
      <p:sp>
        <p:nvSpPr>
          <p:cNvPr id="26" name="Rounded Rectangle 25"/>
          <p:cNvSpPr/>
          <p:nvPr/>
        </p:nvSpPr>
        <p:spPr>
          <a:xfrm>
            <a:off x="4306824" y="4800600"/>
            <a:ext cx="3584448" cy="141732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35424" y="4965192"/>
            <a:ext cx="3127248" cy="1088136"/>
          </a:xfrm>
          <a:prstGeom prst="rect">
            <a:avLst/>
          </a:prstGeom>
          <a:noFill/>
        </p:spPr>
        <p:txBody>
          <a:bodyPr wrap="square" anchor="t" lIns="0" rIns="0" tIns="0" bIns="0">
            <a:spAutoFit/>
          </a:bodyPr>
          <a:lstStyle/>
          <a:p>
            <a:pPr algn="l">
              <a:spcAft>
                <a:spcPts val="400"/>
              </a:spcAft>
            </a:pPr>
            <a:r>
              <a:rPr sz="1350" b="1" i="0">
                <a:solidFill>
                  <a:srgbClr val="028090"/>
                </a:solidFill>
                <a:latin typeface="Calibri"/>
              </a:rPr>
              <a:t>Khai báo, không lập trình</a:t>
            </a:r>
          </a:p>
          <a:p>
            <a:pPr algn="l">
              <a:lnSpc>
                <a:spcPct val="108000"/>
              </a:lnSpc>
            </a:pPr>
            <a:r>
              <a:rPr sz="1150" b="0" i="0">
                <a:solidFill>
                  <a:srgbClr val="17292D"/>
                </a:solidFill>
                <a:latin typeface="Calibri"/>
              </a:rPr>
              <a:t>Thêm role / permission = sửa sơ đồ, không viết lại guard</a:t>
            </a:r>
          </a:p>
        </p:txBody>
      </p:sp>
      <p:sp>
        <p:nvSpPr>
          <p:cNvPr id="28" name="Rounded Rectangle 27"/>
          <p:cNvSpPr/>
          <p:nvPr/>
        </p:nvSpPr>
        <p:spPr>
          <a:xfrm>
            <a:off x="8019288" y="4800600"/>
            <a:ext cx="3584448" cy="141732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47888" y="4965192"/>
            <a:ext cx="3127248" cy="1088136"/>
          </a:xfrm>
          <a:prstGeom prst="rect">
            <a:avLst/>
          </a:prstGeom>
          <a:noFill/>
        </p:spPr>
        <p:txBody>
          <a:bodyPr wrap="square" anchor="t" lIns="0" rIns="0" tIns="0" bIns="0">
            <a:spAutoFit/>
          </a:bodyPr>
          <a:lstStyle/>
          <a:p>
            <a:pPr algn="l">
              <a:spcAft>
                <a:spcPts val="400"/>
              </a:spcAft>
            </a:pPr>
            <a:r>
              <a:rPr sz="1350" b="1" i="0">
                <a:solidFill>
                  <a:srgbClr val="028090"/>
                </a:solidFill>
                <a:latin typeface="Calibri"/>
              </a:rPr>
              <a:t>Truy vết thiết kế ↔ mã</a:t>
            </a:r>
          </a:p>
          <a:p>
            <a:pPr algn="l">
              <a:lnSpc>
                <a:spcPct val="108000"/>
              </a:lnSpc>
            </a:pPr>
            <a:r>
              <a:rPr sz="1150" b="0" i="0">
                <a:solidFill>
                  <a:srgbClr val="17292D"/>
                </a:solidFill>
                <a:latin typeface="Calibri"/>
              </a:rPr>
              <a:t>Mỗi phần tử sinh ra có comment đối chiếu về stereotype nguồn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2 · Phương pháp: đặc tả &amp; tích hợp RBAC vào Domain Model</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Tổng quan phương pháp (mức khái niệm)</a:t>
            </a:r>
          </a:p>
        </p:txBody>
      </p:sp>
      <p:sp>
        <p:nvSpPr>
          <p:cNvPr id="4" name="TextBox 3"/>
          <p:cNvSpPr txBox="1"/>
          <p:nvPr/>
        </p:nvSpPr>
        <p:spPr>
          <a:xfrm>
            <a:off x="594360" y="1207008"/>
            <a:ext cx="5486400" cy="274320"/>
          </a:xfrm>
          <a:prstGeom prst="rect">
            <a:avLst/>
          </a:prstGeom>
          <a:noFill/>
        </p:spPr>
        <p:txBody>
          <a:bodyPr wrap="square" anchor="t" lIns="0" rIns="0" tIns="0" bIns="0">
            <a:spAutoFit/>
          </a:bodyPr>
          <a:lstStyle/>
          <a:p>
            <a:pPr algn="l"/>
            <a:r>
              <a:rPr sz="1150" b="1" i="0">
                <a:solidFill>
                  <a:srgbClr val="0A3438"/>
                </a:solidFill>
                <a:latin typeface="Calibri"/>
              </a:rPr>
              <a:t>ĐẦU VÀO — đặc tả mức mô hình</a:t>
            </a:r>
          </a:p>
        </p:txBody>
      </p:sp>
      <p:sp>
        <p:nvSpPr>
          <p:cNvPr id="5" name="Folded Corner 4"/>
          <p:cNvSpPr/>
          <p:nvPr/>
        </p:nvSpPr>
        <p:spPr>
          <a:xfrm>
            <a:off x="594360" y="1481328"/>
            <a:ext cx="2514600" cy="658368"/>
          </a:xfrm>
          <a:prstGeom prst="foldedCorner">
            <a:avLst/>
          </a:prstGeom>
          <a:solidFill>
            <a:srgbClr val="FFFFFF"/>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1536192"/>
            <a:ext cx="2286000" cy="274320"/>
          </a:xfrm>
          <a:prstGeom prst="rect">
            <a:avLst/>
          </a:prstGeom>
          <a:noFill/>
        </p:spPr>
        <p:txBody>
          <a:bodyPr wrap="square" anchor="t" lIns="0" rIns="0" tIns="0" bIns="0">
            <a:spAutoFit/>
          </a:bodyPr>
          <a:lstStyle/>
          <a:p>
            <a:pPr algn="l"/>
            <a:r>
              <a:rPr sz="1050" b="1" i="0">
                <a:solidFill>
                  <a:srgbClr val="028090"/>
                </a:solidFill>
                <a:latin typeface="Calibri"/>
              </a:rPr>
              <a:t>Sơ đồ lớp UML</a:t>
            </a:r>
          </a:p>
        </p:txBody>
      </p:sp>
      <p:sp>
        <p:nvSpPr>
          <p:cNvPr id="7" name="TextBox 6"/>
          <p:cNvSpPr txBox="1"/>
          <p:nvPr/>
        </p:nvSpPr>
        <p:spPr>
          <a:xfrm>
            <a:off x="704088" y="1801368"/>
            <a:ext cx="2286000" cy="274320"/>
          </a:xfrm>
          <a:prstGeom prst="rect">
            <a:avLst/>
          </a:prstGeom>
          <a:noFill/>
        </p:spPr>
        <p:txBody>
          <a:bodyPr wrap="square" anchor="t" lIns="0" rIns="0" tIns="0" bIns="0">
            <a:spAutoFit/>
          </a:bodyPr>
          <a:lstStyle/>
          <a:p>
            <a:pPr algn="l"/>
            <a:r>
              <a:rPr sz="900" b="0" i="0">
                <a:solidFill>
                  <a:srgbClr val="5A7278"/>
                </a:solidFill>
                <a:latin typeface="Calibri"/>
              </a:rPr>
              <a:t>miền + vai trò, quyền, phân cấp</a:t>
            </a:r>
          </a:p>
        </p:txBody>
      </p:sp>
      <p:sp>
        <p:nvSpPr>
          <p:cNvPr id="8" name="Folded Corner 7"/>
          <p:cNvSpPr/>
          <p:nvPr/>
        </p:nvSpPr>
        <p:spPr>
          <a:xfrm>
            <a:off x="3291840" y="1481328"/>
            <a:ext cx="2514600" cy="658368"/>
          </a:xfrm>
          <a:prstGeom prst="foldedCorner">
            <a:avLst/>
          </a:prstGeom>
          <a:solidFill>
            <a:srgbClr val="FFFFFF"/>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01568" y="1536192"/>
            <a:ext cx="2286000" cy="274320"/>
          </a:xfrm>
          <a:prstGeom prst="rect">
            <a:avLst/>
          </a:prstGeom>
          <a:noFill/>
        </p:spPr>
        <p:txBody>
          <a:bodyPr wrap="square" anchor="t" lIns="0" rIns="0" tIns="0" bIns="0">
            <a:spAutoFit/>
          </a:bodyPr>
          <a:lstStyle/>
          <a:p>
            <a:pPr algn="l"/>
            <a:r>
              <a:rPr sz="1050" b="1" i="0">
                <a:solidFill>
                  <a:srgbClr val="028090"/>
                </a:solidFill>
                <a:latin typeface="Calibri"/>
              </a:rPr>
              <a:t>Sơ đồ hoạt động UML</a:t>
            </a:r>
          </a:p>
        </p:txBody>
      </p:sp>
      <p:sp>
        <p:nvSpPr>
          <p:cNvPr id="10" name="TextBox 9"/>
          <p:cNvSpPr txBox="1"/>
          <p:nvPr/>
        </p:nvSpPr>
        <p:spPr>
          <a:xfrm>
            <a:off x="3401568" y="1801368"/>
            <a:ext cx="2286000" cy="274320"/>
          </a:xfrm>
          <a:prstGeom prst="rect">
            <a:avLst/>
          </a:prstGeom>
          <a:noFill/>
        </p:spPr>
        <p:txBody>
          <a:bodyPr wrap="square" anchor="t" lIns="0" rIns="0" tIns="0" bIns="0">
            <a:spAutoFit/>
          </a:bodyPr>
          <a:lstStyle/>
          <a:p>
            <a:pPr algn="l"/>
            <a:r>
              <a:rPr sz="900" b="0" i="0">
                <a:solidFill>
                  <a:srgbClr val="5A7278"/>
                </a:solidFill>
                <a:latin typeface="Calibri"/>
              </a:rPr>
              <a:t>hành vi của use case</a:t>
            </a:r>
          </a:p>
        </p:txBody>
      </p:sp>
      <p:sp>
        <p:nvSpPr>
          <p:cNvPr id="11" name="Folded Corner 10"/>
          <p:cNvSpPr/>
          <p:nvPr/>
        </p:nvSpPr>
        <p:spPr>
          <a:xfrm>
            <a:off x="5989320" y="1481328"/>
            <a:ext cx="2514600" cy="658368"/>
          </a:xfrm>
          <a:prstGeom prst="foldedCorner">
            <a:avLst/>
          </a:prstGeom>
          <a:solidFill>
            <a:srgbClr val="FFFFFF"/>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8" y="1536192"/>
            <a:ext cx="2286000" cy="274320"/>
          </a:xfrm>
          <a:prstGeom prst="rect">
            <a:avLst/>
          </a:prstGeom>
          <a:noFill/>
        </p:spPr>
        <p:txBody>
          <a:bodyPr wrap="square" anchor="t" lIns="0" rIns="0" tIns="0" bIns="0">
            <a:spAutoFit/>
          </a:bodyPr>
          <a:lstStyle/>
          <a:p>
            <a:pPr algn="l"/>
            <a:r>
              <a:rPr sz="1050" b="1" i="0">
                <a:solidFill>
                  <a:srgbClr val="028090"/>
                </a:solidFill>
                <a:latin typeface="Calibri"/>
              </a:rPr>
              <a:t>Ràng buộc OCL</a:t>
            </a:r>
          </a:p>
        </p:txBody>
      </p:sp>
      <p:sp>
        <p:nvSpPr>
          <p:cNvPr id="13" name="TextBox 12"/>
          <p:cNvSpPr txBox="1"/>
          <p:nvPr/>
        </p:nvSpPr>
        <p:spPr>
          <a:xfrm>
            <a:off x="6099048" y="1801368"/>
            <a:ext cx="2286000" cy="274320"/>
          </a:xfrm>
          <a:prstGeom prst="rect">
            <a:avLst/>
          </a:prstGeom>
          <a:noFill/>
        </p:spPr>
        <p:txBody>
          <a:bodyPr wrap="square" anchor="t" lIns="0" rIns="0" tIns="0" bIns="0">
            <a:spAutoFit/>
          </a:bodyPr>
          <a:lstStyle/>
          <a:p>
            <a:pPr algn="l"/>
            <a:r>
              <a:rPr sz="900" b="0" i="0">
                <a:solidFill>
                  <a:srgbClr val="5A7278"/>
                </a:solidFill>
                <a:latin typeface="Calibri"/>
              </a:rPr>
              <a:t>bất biến phân quyền</a:t>
            </a:r>
          </a:p>
        </p:txBody>
      </p:sp>
      <p:cxnSp>
        <p:nvCxnSpPr>
          <p:cNvPr id="14" name="Connector 13"/>
          <p:cNvCxnSpPr/>
          <p:nvPr/>
        </p:nvCxnSpPr>
        <p:spPr>
          <a:xfrm>
            <a:off x="1851660" y="2139696"/>
            <a:ext cx="0" cy="201168"/>
          </a:xfrm>
          <a:prstGeom prst="line">
            <a:avLst/>
          </a:prstGeom>
          <a:ln w="19050">
            <a:solidFill>
              <a:srgbClr val="02809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549140" y="2139696"/>
            <a:ext cx="0" cy="201168"/>
          </a:xfrm>
          <a:prstGeom prst="line">
            <a:avLst/>
          </a:prstGeom>
          <a:ln w="19050">
            <a:solidFill>
              <a:srgbClr val="028090"/>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246620" y="2139696"/>
            <a:ext cx="0" cy="201168"/>
          </a:xfrm>
          <a:prstGeom prst="line">
            <a:avLst/>
          </a:prstGeom>
          <a:ln w="19050">
            <a:solidFill>
              <a:srgbClr val="028090"/>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636776" y="2340864"/>
            <a:ext cx="5609844" cy="0"/>
          </a:xfrm>
          <a:prstGeom prst="line">
            <a:avLst/>
          </a:prstGeom>
          <a:ln w="19050">
            <a:solidFill>
              <a:srgbClr val="028090"/>
            </a:solidFill>
          </a:ln>
          <a:effectLst/>
        </p:spPr>
        <p:style>
          <a:lnRef idx="2">
            <a:schemeClr val="accent1"/>
          </a:lnRef>
          <a:fillRef idx="0">
            <a:schemeClr val="accent1"/>
          </a:fillRef>
          <a:effectRef idx="1">
            <a:schemeClr val="accent1"/>
          </a:effectRef>
          <a:fontRef idx="minor">
            <a:schemeClr val="tx1"/>
          </a:fontRef>
        </p:style>
      </p:cxnSp>
      <p:sp>
        <p:nvSpPr>
          <p:cNvPr id="18" name="Right Arrow 17"/>
          <p:cNvSpPr/>
          <p:nvPr/>
        </p:nvSpPr>
        <p:spPr>
          <a:xfrm rot="5400000">
            <a:off x="1536192" y="2377440"/>
            <a:ext cx="201168" cy="25603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2697480"/>
            <a:ext cx="2084831" cy="1371600"/>
          </a:xfrm>
          <a:prstGeom prst="roundRect">
            <a:avLst>
              <a:gd name="adj" fmla="val 5500"/>
            </a:avLst>
          </a:prstGeom>
          <a:solidFill>
            <a:srgbClr val="F5FAF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2376" y="2816352"/>
            <a:ext cx="310896" cy="310896"/>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1</a:t>
            </a:r>
          </a:p>
        </p:txBody>
      </p:sp>
      <p:sp>
        <p:nvSpPr>
          <p:cNvPr id="21" name="TextBox 20"/>
          <p:cNvSpPr txBox="1"/>
          <p:nvPr/>
        </p:nvSpPr>
        <p:spPr>
          <a:xfrm>
            <a:off x="1106424" y="2816352"/>
            <a:ext cx="1463039" cy="502920"/>
          </a:xfrm>
          <a:prstGeom prst="rect">
            <a:avLst/>
          </a:prstGeom>
          <a:noFill/>
        </p:spPr>
        <p:txBody>
          <a:bodyPr wrap="square" anchor="t" lIns="0" rIns="0" tIns="0" bIns="0">
            <a:spAutoFit/>
          </a:bodyPr>
          <a:lstStyle/>
          <a:p>
            <a:pPr algn="l">
              <a:lnSpc>
                <a:spcPct val="95000"/>
              </a:lnSpc>
            </a:pPr>
            <a:r>
              <a:rPr sz="1150" b="1" i="0">
                <a:solidFill>
                  <a:srgbClr val="0A3438"/>
                </a:solidFill>
                <a:latin typeface="Calibri"/>
              </a:rPr>
              <a:t>Phân tích cú pháp</a:t>
            </a:r>
          </a:p>
        </p:txBody>
      </p:sp>
      <p:sp>
        <p:nvSpPr>
          <p:cNvPr id="22" name="TextBox 21"/>
          <p:cNvSpPr txBox="1"/>
          <p:nvPr/>
        </p:nvSpPr>
        <p:spPr>
          <a:xfrm>
            <a:off x="740664" y="3355848"/>
            <a:ext cx="1792223" cy="658368"/>
          </a:xfrm>
          <a:prstGeom prst="rect">
            <a:avLst/>
          </a:prstGeom>
          <a:noFill/>
        </p:spPr>
        <p:txBody>
          <a:bodyPr wrap="square" anchor="t" lIns="0" rIns="0" tIns="0" bIns="0">
            <a:spAutoFit/>
          </a:bodyPr>
          <a:lstStyle/>
          <a:p>
            <a:pPr algn="l">
              <a:lnSpc>
                <a:spcPct val="102000"/>
              </a:lnSpc>
            </a:pPr>
            <a:r>
              <a:rPr sz="900" b="0" i="0">
                <a:solidFill>
                  <a:srgbClr val="5A7278"/>
                </a:solidFill>
                <a:latin typeface="Calibri"/>
              </a:rPr>
              <a:t>sơ đồ + ràng buộc → cây cú pháp</a:t>
            </a:r>
          </a:p>
        </p:txBody>
      </p:sp>
      <p:sp>
        <p:nvSpPr>
          <p:cNvPr id="23" name="Right Arrow 22"/>
          <p:cNvSpPr/>
          <p:nvPr/>
        </p:nvSpPr>
        <p:spPr>
          <a:xfrm>
            <a:off x="2683763" y="3282696"/>
            <a:ext cx="210312" cy="201168"/>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898647" y="2697480"/>
            <a:ext cx="2084831" cy="1371600"/>
          </a:xfrm>
          <a:prstGeom prst="roundRect">
            <a:avLst>
              <a:gd name="adj" fmla="val 5500"/>
            </a:avLst>
          </a:prstGeom>
          <a:solidFill>
            <a:srgbClr val="F5FAF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026663" y="2816352"/>
            <a:ext cx="310896" cy="310896"/>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2</a:t>
            </a:r>
          </a:p>
        </p:txBody>
      </p:sp>
      <p:sp>
        <p:nvSpPr>
          <p:cNvPr id="26" name="TextBox 25"/>
          <p:cNvSpPr txBox="1"/>
          <p:nvPr/>
        </p:nvSpPr>
        <p:spPr>
          <a:xfrm>
            <a:off x="3410711" y="2816352"/>
            <a:ext cx="1463039" cy="502920"/>
          </a:xfrm>
          <a:prstGeom prst="rect">
            <a:avLst/>
          </a:prstGeom>
          <a:noFill/>
        </p:spPr>
        <p:txBody>
          <a:bodyPr wrap="square" anchor="t" lIns="0" rIns="0" tIns="0" bIns="0">
            <a:spAutoFit/>
          </a:bodyPr>
          <a:lstStyle/>
          <a:p>
            <a:pPr algn="l">
              <a:lnSpc>
                <a:spcPct val="95000"/>
              </a:lnSpc>
            </a:pPr>
            <a:r>
              <a:rPr sz="1150" b="1" i="0">
                <a:solidFill>
                  <a:srgbClr val="0A3438"/>
                </a:solidFill>
                <a:latin typeface="Calibri"/>
              </a:rPr>
              <a:t>Hợp nhất mô hình</a:t>
            </a:r>
          </a:p>
        </p:txBody>
      </p:sp>
      <p:sp>
        <p:nvSpPr>
          <p:cNvPr id="27" name="TextBox 26"/>
          <p:cNvSpPr txBox="1"/>
          <p:nvPr/>
        </p:nvSpPr>
        <p:spPr>
          <a:xfrm>
            <a:off x="3044951" y="3355848"/>
            <a:ext cx="1792223" cy="658368"/>
          </a:xfrm>
          <a:prstGeom prst="rect">
            <a:avLst/>
          </a:prstGeom>
          <a:noFill/>
        </p:spPr>
        <p:txBody>
          <a:bodyPr wrap="square" anchor="t" lIns="0" rIns="0" tIns="0" bIns="0">
            <a:spAutoFit/>
          </a:bodyPr>
          <a:lstStyle/>
          <a:p>
            <a:pPr algn="l">
              <a:lnSpc>
                <a:spcPct val="102000"/>
              </a:lnSpc>
            </a:pPr>
            <a:r>
              <a:rPr sz="900" b="0" i="0">
                <a:solidFill>
                  <a:srgbClr val="5A7278"/>
                </a:solidFill>
                <a:latin typeface="Calibri"/>
              </a:rPr>
              <a:t>gộp 3 concern, liên kết chéo quyền ↔ lớp miền</a:t>
            </a:r>
          </a:p>
        </p:txBody>
      </p:sp>
      <p:sp>
        <p:nvSpPr>
          <p:cNvPr id="28" name="Right Arrow 27"/>
          <p:cNvSpPr/>
          <p:nvPr/>
        </p:nvSpPr>
        <p:spPr>
          <a:xfrm>
            <a:off x="4988051" y="3282696"/>
            <a:ext cx="210312" cy="201168"/>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202936" y="2697480"/>
            <a:ext cx="2084831" cy="1371600"/>
          </a:xfrm>
          <a:prstGeom prst="roundRect">
            <a:avLst>
              <a:gd name="adj" fmla="val 5500"/>
            </a:avLst>
          </a:prstGeom>
          <a:solidFill>
            <a:srgbClr val="F5FAF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330951" y="2816352"/>
            <a:ext cx="310896" cy="310896"/>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3</a:t>
            </a:r>
          </a:p>
        </p:txBody>
      </p:sp>
      <p:sp>
        <p:nvSpPr>
          <p:cNvPr id="31" name="TextBox 30"/>
          <p:cNvSpPr txBox="1"/>
          <p:nvPr/>
        </p:nvSpPr>
        <p:spPr>
          <a:xfrm>
            <a:off x="5715000" y="2816352"/>
            <a:ext cx="1463039" cy="502920"/>
          </a:xfrm>
          <a:prstGeom prst="rect">
            <a:avLst/>
          </a:prstGeom>
          <a:noFill/>
        </p:spPr>
        <p:txBody>
          <a:bodyPr wrap="square" anchor="t" lIns="0" rIns="0" tIns="0" bIns="0">
            <a:spAutoFit/>
          </a:bodyPr>
          <a:lstStyle/>
          <a:p>
            <a:pPr algn="l">
              <a:lnSpc>
                <a:spcPct val="95000"/>
              </a:lnSpc>
            </a:pPr>
            <a:r>
              <a:rPr sz="1150" b="1" i="0">
                <a:solidFill>
                  <a:srgbClr val="0A3438"/>
                </a:solidFill>
                <a:latin typeface="Calibri"/>
              </a:rPr>
              <a:t>Làm giàu mô hình</a:t>
            </a:r>
          </a:p>
        </p:txBody>
      </p:sp>
      <p:sp>
        <p:nvSpPr>
          <p:cNvPr id="32" name="TextBox 31"/>
          <p:cNvSpPr txBox="1"/>
          <p:nvPr/>
        </p:nvSpPr>
        <p:spPr>
          <a:xfrm>
            <a:off x="5349240" y="3355848"/>
            <a:ext cx="1792223" cy="658368"/>
          </a:xfrm>
          <a:prstGeom prst="rect">
            <a:avLst/>
          </a:prstGeom>
          <a:noFill/>
        </p:spPr>
        <p:txBody>
          <a:bodyPr wrap="square" anchor="t" lIns="0" rIns="0" tIns="0" bIns="0">
            <a:spAutoFit/>
          </a:bodyPr>
          <a:lstStyle/>
          <a:p>
            <a:pPr algn="l">
              <a:lnSpc>
                <a:spcPct val="102000"/>
              </a:lnSpc>
            </a:pPr>
            <a:r>
              <a:rPr sz="900" b="0" i="0">
                <a:solidFill>
                  <a:srgbClr val="5A7278"/>
                </a:solidFill>
                <a:latin typeface="Calibri"/>
              </a:rPr>
              <a:t>CRUD, kho lưu trữ, lan truyền quyền theo phân cấp</a:t>
            </a:r>
          </a:p>
        </p:txBody>
      </p:sp>
      <p:sp>
        <p:nvSpPr>
          <p:cNvPr id="33" name="Right Arrow 32"/>
          <p:cNvSpPr/>
          <p:nvPr/>
        </p:nvSpPr>
        <p:spPr>
          <a:xfrm>
            <a:off x="7292339" y="3282696"/>
            <a:ext cx="210312" cy="201168"/>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507223" y="2697480"/>
            <a:ext cx="2084831" cy="1371600"/>
          </a:xfrm>
          <a:prstGeom prst="roundRect">
            <a:avLst>
              <a:gd name="adj" fmla="val 5500"/>
            </a:avLst>
          </a:prstGeom>
          <a:solidFill>
            <a:srgbClr val="F5FAF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635240" y="2816352"/>
            <a:ext cx="310896" cy="310896"/>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4</a:t>
            </a:r>
          </a:p>
        </p:txBody>
      </p:sp>
      <p:sp>
        <p:nvSpPr>
          <p:cNvPr id="36" name="TextBox 35"/>
          <p:cNvSpPr txBox="1"/>
          <p:nvPr/>
        </p:nvSpPr>
        <p:spPr>
          <a:xfrm>
            <a:off x="8019288" y="2816352"/>
            <a:ext cx="1463039" cy="502920"/>
          </a:xfrm>
          <a:prstGeom prst="rect">
            <a:avLst/>
          </a:prstGeom>
          <a:noFill/>
        </p:spPr>
        <p:txBody>
          <a:bodyPr wrap="square" anchor="t" lIns="0" rIns="0" tIns="0" bIns="0">
            <a:spAutoFit/>
          </a:bodyPr>
          <a:lstStyle/>
          <a:p>
            <a:pPr algn="l">
              <a:lnSpc>
                <a:spcPct val="95000"/>
              </a:lnSpc>
            </a:pPr>
            <a:r>
              <a:rPr sz="1150" b="1" i="0">
                <a:solidFill>
                  <a:srgbClr val="0A3438"/>
                </a:solidFill>
                <a:latin typeface="Calibri"/>
              </a:rPr>
              <a:t>Kiểm chứng ràng buộc</a:t>
            </a:r>
          </a:p>
        </p:txBody>
      </p:sp>
      <p:sp>
        <p:nvSpPr>
          <p:cNvPr id="37" name="TextBox 36"/>
          <p:cNvSpPr txBox="1"/>
          <p:nvPr/>
        </p:nvSpPr>
        <p:spPr>
          <a:xfrm>
            <a:off x="7653527" y="3355848"/>
            <a:ext cx="1792223" cy="658368"/>
          </a:xfrm>
          <a:prstGeom prst="rect">
            <a:avLst/>
          </a:prstGeom>
          <a:noFill/>
        </p:spPr>
        <p:txBody>
          <a:bodyPr wrap="square" anchor="t" lIns="0" rIns="0" tIns="0" bIns="0">
            <a:spAutoFit/>
          </a:bodyPr>
          <a:lstStyle/>
          <a:p>
            <a:pPr algn="l">
              <a:lnSpc>
                <a:spcPct val="102000"/>
              </a:lnSpc>
            </a:pPr>
            <a:r>
              <a:rPr sz="900" b="0" i="0">
                <a:solidFill>
                  <a:srgbClr val="5A7278"/>
                </a:solidFill>
                <a:latin typeface="Calibri"/>
              </a:rPr>
              <a:t>bất biến RBAC₀–₂, báo vi phạm về đặc tả</a:t>
            </a:r>
          </a:p>
        </p:txBody>
      </p:sp>
      <p:sp>
        <p:nvSpPr>
          <p:cNvPr id="38" name="Right Arrow 37"/>
          <p:cNvSpPr/>
          <p:nvPr/>
        </p:nvSpPr>
        <p:spPr>
          <a:xfrm>
            <a:off x="9596628" y="3282696"/>
            <a:ext cx="210312" cy="201168"/>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811511" y="2697480"/>
            <a:ext cx="2084831" cy="1371600"/>
          </a:xfrm>
          <a:prstGeom prst="roundRect">
            <a:avLst>
              <a:gd name="adj" fmla="val 5500"/>
            </a:avLst>
          </a:prstGeom>
          <a:solidFill>
            <a:srgbClr val="F5FAF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939528" y="2816352"/>
            <a:ext cx="310896" cy="310896"/>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5</a:t>
            </a:r>
          </a:p>
        </p:txBody>
      </p:sp>
      <p:sp>
        <p:nvSpPr>
          <p:cNvPr id="41" name="TextBox 40"/>
          <p:cNvSpPr txBox="1"/>
          <p:nvPr/>
        </p:nvSpPr>
        <p:spPr>
          <a:xfrm>
            <a:off x="10323576" y="2816352"/>
            <a:ext cx="1463039" cy="502920"/>
          </a:xfrm>
          <a:prstGeom prst="rect">
            <a:avLst/>
          </a:prstGeom>
          <a:noFill/>
        </p:spPr>
        <p:txBody>
          <a:bodyPr wrap="square" anchor="t" lIns="0" rIns="0" tIns="0" bIns="0">
            <a:spAutoFit/>
          </a:bodyPr>
          <a:lstStyle/>
          <a:p>
            <a:pPr algn="l">
              <a:lnSpc>
                <a:spcPct val="95000"/>
              </a:lnSpc>
            </a:pPr>
            <a:r>
              <a:rPr sz="1150" b="1" i="0">
                <a:solidFill>
                  <a:srgbClr val="0A3438"/>
                </a:solidFill>
                <a:latin typeface="Calibri"/>
              </a:rPr>
              <a:t>Sinh mã theo mẫu</a:t>
            </a:r>
          </a:p>
        </p:txBody>
      </p:sp>
      <p:sp>
        <p:nvSpPr>
          <p:cNvPr id="42" name="TextBox 41"/>
          <p:cNvSpPr txBox="1"/>
          <p:nvPr/>
        </p:nvSpPr>
        <p:spPr>
          <a:xfrm>
            <a:off x="9957815" y="3355848"/>
            <a:ext cx="1792223" cy="658368"/>
          </a:xfrm>
          <a:prstGeom prst="rect">
            <a:avLst/>
          </a:prstGeom>
          <a:noFill/>
        </p:spPr>
        <p:txBody>
          <a:bodyPr wrap="square" anchor="t" lIns="0" rIns="0" tIns="0" bIns="0">
            <a:spAutoFit/>
          </a:bodyPr>
          <a:lstStyle/>
          <a:p>
            <a:pPr algn="l">
              <a:lnSpc>
                <a:spcPct val="102000"/>
              </a:lnSpc>
            </a:pPr>
            <a:r>
              <a:rPr sz="900" b="0" i="0">
                <a:solidFill>
                  <a:srgbClr val="5A7278"/>
                </a:solidFill>
                <a:latin typeface="Calibri"/>
              </a:rPr>
              <a:t>ánh xạ mỗi khái niệm → một mẫu sinh</a:t>
            </a:r>
          </a:p>
        </p:txBody>
      </p:sp>
      <p:sp>
        <p:nvSpPr>
          <p:cNvPr id="43" name="TextBox 42"/>
          <p:cNvSpPr txBox="1"/>
          <p:nvPr/>
        </p:nvSpPr>
        <p:spPr>
          <a:xfrm>
            <a:off x="594360" y="4224528"/>
            <a:ext cx="1097280" cy="548640"/>
          </a:xfrm>
          <a:prstGeom prst="rect">
            <a:avLst/>
          </a:prstGeom>
          <a:noFill/>
        </p:spPr>
        <p:txBody>
          <a:bodyPr wrap="square" anchor="t" lIns="0" rIns="0" tIns="0" bIns="0">
            <a:spAutoFit/>
          </a:bodyPr>
          <a:lstStyle/>
          <a:p>
            <a:pPr algn="l">
              <a:lnSpc>
                <a:spcPct val="100000"/>
              </a:lnSpc>
            </a:pPr>
            <a:r>
              <a:rPr sz="850" b="1" i="0">
                <a:solidFill>
                  <a:srgbClr val="0A3438"/>
                </a:solidFill>
                <a:latin typeface="Calibri"/>
              </a:rPr>
              <a:t>DỮ LIỆU
TRUNG GIAN</a:t>
            </a:r>
          </a:p>
        </p:txBody>
      </p:sp>
      <p:cxnSp>
        <p:nvCxnSpPr>
          <p:cNvPr id="44" name="Connector 43"/>
          <p:cNvCxnSpPr/>
          <p:nvPr/>
        </p:nvCxnSpPr>
        <p:spPr>
          <a:xfrm>
            <a:off x="2788920" y="4069080"/>
            <a:ext cx="0" cy="164592"/>
          </a:xfrm>
          <a:prstGeom prst="line">
            <a:avLst/>
          </a:prstGeom>
          <a:ln w="13970">
            <a:solidFill>
              <a:srgbClr val="5A7278"/>
            </a:solidFill>
          </a:ln>
          <a:effectLst/>
        </p:spPr>
        <p:style>
          <a:lnRef idx="2">
            <a:schemeClr val="accent1"/>
          </a:lnRef>
          <a:fillRef idx="0">
            <a:schemeClr val="accent1"/>
          </a:fillRef>
          <a:effectRef idx="1">
            <a:schemeClr val="accent1"/>
          </a:effectRef>
          <a:fontRef idx="minor">
            <a:schemeClr val="tx1"/>
          </a:fontRef>
        </p:style>
      </p:cxnSp>
      <p:sp>
        <p:nvSpPr>
          <p:cNvPr id="45" name="Parallelogram 44"/>
          <p:cNvSpPr/>
          <p:nvPr/>
        </p:nvSpPr>
        <p:spPr>
          <a:xfrm>
            <a:off x="1737360" y="4224528"/>
            <a:ext cx="2103120" cy="603504"/>
          </a:xfrm>
          <a:prstGeom prst="parallelogram">
            <a:avLst/>
          </a:prstGeom>
          <a:solidFill>
            <a:srgbClr val="E9F4F5"/>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828799" y="4224528"/>
            <a:ext cx="1920240" cy="603504"/>
          </a:xfrm>
          <a:prstGeom prst="rect">
            <a:avLst/>
          </a:prstGeom>
          <a:noFill/>
        </p:spPr>
        <p:txBody>
          <a:bodyPr wrap="square" anchor="ctr" lIns="0" rIns="0" tIns="0" bIns="0">
            <a:spAutoFit/>
          </a:bodyPr>
          <a:lstStyle/>
          <a:p>
            <a:pPr algn="ctr">
              <a:lnSpc>
                <a:spcPct val="100000"/>
              </a:lnSpc>
            </a:pPr>
            <a:r>
              <a:rPr sz="900" b="1" i="0">
                <a:solidFill>
                  <a:srgbClr val="0A3438"/>
                </a:solidFill>
                <a:latin typeface="Calibri"/>
              </a:rPr>
              <a:t>Cây cú pháp (AST)
từng nguồn</a:t>
            </a:r>
          </a:p>
        </p:txBody>
      </p:sp>
      <p:cxnSp>
        <p:nvCxnSpPr>
          <p:cNvPr id="47" name="Connector 46"/>
          <p:cNvCxnSpPr/>
          <p:nvPr/>
        </p:nvCxnSpPr>
        <p:spPr>
          <a:xfrm>
            <a:off x="5093207" y="4069080"/>
            <a:ext cx="0" cy="164592"/>
          </a:xfrm>
          <a:prstGeom prst="line">
            <a:avLst/>
          </a:prstGeom>
          <a:ln w="13970">
            <a:solidFill>
              <a:srgbClr val="5A7278"/>
            </a:solidFill>
          </a:ln>
          <a:effectLst/>
        </p:spPr>
        <p:style>
          <a:lnRef idx="2">
            <a:schemeClr val="accent1"/>
          </a:lnRef>
          <a:fillRef idx="0">
            <a:schemeClr val="accent1"/>
          </a:fillRef>
          <a:effectRef idx="1">
            <a:schemeClr val="accent1"/>
          </a:effectRef>
          <a:fontRef idx="minor">
            <a:schemeClr val="tx1"/>
          </a:fontRef>
        </p:style>
      </p:cxnSp>
      <p:sp>
        <p:nvSpPr>
          <p:cNvPr id="48" name="Parallelogram 47"/>
          <p:cNvSpPr/>
          <p:nvPr/>
        </p:nvSpPr>
        <p:spPr>
          <a:xfrm>
            <a:off x="4041648" y="4224528"/>
            <a:ext cx="2103120" cy="603504"/>
          </a:xfrm>
          <a:prstGeom prst="parallelogram">
            <a:avLst/>
          </a:prstGeom>
          <a:solidFill>
            <a:srgbClr val="E9F4F5"/>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133087" y="4224528"/>
            <a:ext cx="1920240" cy="603504"/>
          </a:xfrm>
          <a:prstGeom prst="rect">
            <a:avLst/>
          </a:prstGeom>
          <a:noFill/>
        </p:spPr>
        <p:txBody>
          <a:bodyPr wrap="square" anchor="ctr" lIns="0" rIns="0" tIns="0" bIns="0">
            <a:spAutoFit/>
          </a:bodyPr>
          <a:lstStyle/>
          <a:p>
            <a:pPr algn="ctr">
              <a:lnSpc>
                <a:spcPct val="100000"/>
              </a:lnSpc>
            </a:pPr>
            <a:r>
              <a:rPr sz="900" b="1" i="0">
                <a:solidFill>
                  <a:srgbClr val="0A3438"/>
                </a:solidFill>
                <a:latin typeface="Calibri"/>
              </a:rPr>
              <a:t>Mô hình miền hợp nhất
(3 concern)</a:t>
            </a:r>
          </a:p>
        </p:txBody>
      </p:sp>
      <p:cxnSp>
        <p:nvCxnSpPr>
          <p:cNvPr id="50" name="Connector 49"/>
          <p:cNvCxnSpPr/>
          <p:nvPr/>
        </p:nvCxnSpPr>
        <p:spPr>
          <a:xfrm>
            <a:off x="7397495" y="4069080"/>
            <a:ext cx="0" cy="164592"/>
          </a:xfrm>
          <a:prstGeom prst="line">
            <a:avLst/>
          </a:prstGeom>
          <a:ln w="13970">
            <a:solidFill>
              <a:srgbClr val="5A7278"/>
            </a:solidFill>
          </a:ln>
          <a:effectLst/>
        </p:spPr>
        <p:style>
          <a:lnRef idx="2">
            <a:schemeClr val="accent1"/>
          </a:lnRef>
          <a:fillRef idx="0">
            <a:schemeClr val="accent1"/>
          </a:fillRef>
          <a:effectRef idx="1">
            <a:schemeClr val="accent1"/>
          </a:effectRef>
          <a:fontRef idx="minor">
            <a:schemeClr val="tx1"/>
          </a:fontRef>
        </p:style>
      </p:cxnSp>
      <p:sp>
        <p:nvSpPr>
          <p:cNvPr id="51" name="Parallelogram 50"/>
          <p:cNvSpPr/>
          <p:nvPr/>
        </p:nvSpPr>
        <p:spPr>
          <a:xfrm>
            <a:off x="6345935" y="4224528"/>
            <a:ext cx="2103120" cy="603504"/>
          </a:xfrm>
          <a:prstGeom prst="parallelogram">
            <a:avLst/>
          </a:prstGeom>
          <a:solidFill>
            <a:srgbClr val="E9F4F5"/>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37375" y="4224528"/>
            <a:ext cx="1920240" cy="603504"/>
          </a:xfrm>
          <a:prstGeom prst="rect">
            <a:avLst/>
          </a:prstGeom>
          <a:noFill/>
        </p:spPr>
        <p:txBody>
          <a:bodyPr wrap="square" anchor="ctr" lIns="0" rIns="0" tIns="0" bIns="0">
            <a:spAutoFit/>
          </a:bodyPr>
          <a:lstStyle/>
          <a:p>
            <a:pPr algn="ctr">
              <a:lnSpc>
                <a:spcPct val="100000"/>
              </a:lnSpc>
            </a:pPr>
            <a:r>
              <a:rPr sz="900" b="1" i="0">
                <a:solidFill>
                  <a:srgbClr val="0A3438"/>
                </a:solidFill>
                <a:latin typeface="Calibri"/>
              </a:rPr>
              <a:t>Mô hình
đã làm giàu</a:t>
            </a:r>
          </a:p>
        </p:txBody>
      </p:sp>
      <p:cxnSp>
        <p:nvCxnSpPr>
          <p:cNvPr id="53" name="Connector 52"/>
          <p:cNvCxnSpPr/>
          <p:nvPr/>
        </p:nvCxnSpPr>
        <p:spPr>
          <a:xfrm>
            <a:off x="9701783" y="4069080"/>
            <a:ext cx="0" cy="164592"/>
          </a:xfrm>
          <a:prstGeom prst="line">
            <a:avLst/>
          </a:prstGeom>
          <a:ln w="13970">
            <a:solidFill>
              <a:srgbClr val="5A7278"/>
            </a:solidFill>
          </a:ln>
          <a:effectLst/>
        </p:spPr>
        <p:style>
          <a:lnRef idx="2">
            <a:schemeClr val="accent1"/>
          </a:lnRef>
          <a:fillRef idx="0">
            <a:schemeClr val="accent1"/>
          </a:fillRef>
          <a:effectRef idx="1">
            <a:schemeClr val="accent1"/>
          </a:effectRef>
          <a:fontRef idx="minor">
            <a:schemeClr val="tx1"/>
          </a:fontRef>
        </p:style>
      </p:cxnSp>
      <p:sp>
        <p:nvSpPr>
          <p:cNvPr id="54" name="Parallelogram 53"/>
          <p:cNvSpPr/>
          <p:nvPr/>
        </p:nvSpPr>
        <p:spPr>
          <a:xfrm>
            <a:off x="8650223" y="4224528"/>
            <a:ext cx="2103120" cy="603504"/>
          </a:xfrm>
          <a:prstGeom prst="parallelogram">
            <a:avLst/>
          </a:prstGeom>
          <a:solidFill>
            <a:srgbClr val="E9F4F5"/>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741663" y="4224528"/>
            <a:ext cx="1920240" cy="603504"/>
          </a:xfrm>
          <a:prstGeom prst="rect">
            <a:avLst/>
          </a:prstGeom>
          <a:noFill/>
        </p:spPr>
        <p:txBody>
          <a:bodyPr wrap="square" anchor="ctr" lIns="0" rIns="0" tIns="0" bIns="0">
            <a:spAutoFit/>
          </a:bodyPr>
          <a:lstStyle/>
          <a:p>
            <a:pPr algn="ctr">
              <a:lnSpc>
                <a:spcPct val="100000"/>
              </a:lnSpc>
            </a:pPr>
            <a:r>
              <a:rPr sz="900" b="1" i="0">
                <a:solidFill>
                  <a:srgbClr val="0A3438"/>
                </a:solidFill>
                <a:latin typeface="Calibri"/>
              </a:rPr>
              <a:t>Mô hình hợp lệ
(đã kiểm chứng)</a:t>
            </a:r>
          </a:p>
        </p:txBody>
      </p:sp>
      <p:cxnSp>
        <p:nvCxnSpPr>
          <p:cNvPr id="56" name="Connector 55"/>
          <p:cNvCxnSpPr/>
          <p:nvPr/>
        </p:nvCxnSpPr>
        <p:spPr>
          <a:xfrm flipV="1">
            <a:off x="8549640" y="2157984"/>
            <a:ext cx="0" cy="521208"/>
          </a:xfrm>
          <a:prstGeom prst="line">
            <a:avLst/>
          </a:prstGeom>
          <a:ln w="15240">
            <a:solidFill>
              <a:srgbClr val="5A7278"/>
            </a:solidFill>
            <a:prstDash val="dash"/>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8686800" y="2377440"/>
            <a:ext cx="3017520" cy="274320"/>
          </a:xfrm>
          <a:prstGeom prst="rect">
            <a:avLst/>
          </a:prstGeom>
          <a:noFill/>
        </p:spPr>
        <p:txBody>
          <a:bodyPr wrap="square" anchor="t" lIns="0" rIns="0" tIns="0" bIns="0">
            <a:spAutoFit/>
          </a:bodyPr>
          <a:lstStyle/>
          <a:p>
            <a:pPr algn="l"/>
            <a:r>
              <a:rPr sz="900" b="0" i="1">
                <a:solidFill>
                  <a:srgbClr val="5A7278"/>
                </a:solidFill>
                <a:latin typeface="Calibri"/>
              </a:rPr>
              <a:t>vi phạm → hiệu chỉnh đặc tả</a:t>
            </a:r>
          </a:p>
        </p:txBody>
      </p:sp>
      <p:sp>
        <p:nvSpPr>
          <p:cNvPr id="58" name="Right Arrow 57"/>
          <p:cNvSpPr/>
          <p:nvPr/>
        </p:nvSpPr>
        <p:spPr>
          <a:xfrm rot="5400000">
            <a:off x="10753344" y="4956048"/>
            <a:ext cx="219456" cy="274320"/>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7223760" y="5303520"/>
            <a:ext cx="4663440" cy="960120"/>
          </a:xfrm>
          <a:prstGeom prst="roundRect">
            <a:avLst>
              <a:gd name="adj" fmla="val 5500"/>
            </a:avLst>
          </a:prstGeom>
          <a:solidFill>
            <a:srgbClr val="0A3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98079" y="5413248"/>
            <a:ext cx="4206240" cy="274320"/>
          </a:xfrm>
          <a:prstGeom prst="rect">
            <a:avLst/>
          </a:prstGeom>
          <a:noFill/>
        </p:spPr>
        <p:txBody>
          <a:bodyPr wrap="square" anchor="t" lIns="0" rIns="0" tIns="0" bIns="0">
            <a:spAutoFit/>
          </a:bodyPr>
          <a:lstStyle/>
          <a:p>
            <a:pPr algn="l"/>
            <a:r>
              <a:rPr sz="1100" b="1" i="0">
                <a:solidFill>
                  <a:srgbClr val="02C39A"/>
                </a:solidFill>
                <a:latin typeface="Calibri"/>
              </a:rPr>
              <a:t>ĐẦU RA</a:t>
            </a:r>
          </a:p>
        </p:txBody>
      </p:sp>
      <p:sp>
        <p:nvSpPr>
          <p:cNvPr id="61" name="TextBox 60"/>
          <p:cNvSpPr txBox="1"/>
          <p:nvPr/>
        </p:nvSpPr>
        <p:spPr>
          <a:xfrm>
            <a:off x="7498079" y="5687568"/>
            <a:ext cx="4206240" cy="548640"/>
          </a:xfrm>
          <a:prstGeom prst="rect">
            <a:avLst/>
          </a:prstGeom>
          <a:noFill/>
        </p:spPr>
        <p:txBody>
          <a:bodyPr wrap="square" anchor="t" lIns="0" rIns="0" tIns="0" bIns="0">
            <a:spAutoFit/>
          </a:bodyPr>
          <a:lstStyle/>
          <a:p>
            <a:pPr algn="l">
              <a:lnSpc>
                <a:spcPct val="105000"/>
              </a:lnSpc>
            </a:pPr>
            <a:r>
              <a:rPr sz="1050" b="1" i="0">
                <a:solidFill>
                  <a:srgbClr val="FFFFFF"/>
                </a:solidFill>
                <a:latin typeface="Calibri"/>
              </a:rPr>
              <a:t>Ứng dụng phân tầng theo DDD + bộ thực thi phân quyền đúng đặc tả</a:t>
            </a:r>
          </a:p>
        </p:txBody>
      </p:sp>
      <p:sp>
        <p:nvSpPr>
          <p:cNvPr id="62" name="TextBox 61"/>
          <p:cNvSpPr txBox="1"/>
          <p:nvPr/>
        </p:nvSpPr>
        <p:spPr>
          <a:xfrm>
            <a:off x="594360" y="5349240"/>
            <a:ext cx="6309360" cy="594360"/>
          </a:xfrm>
          <a:prstGeom prst="rect">
            <a:avLst/>
          </a:prstGeom>
          <a:noFill/>
        </p:spPr>
        <p:txBody>
          <a:bodyPr wrap="square" anchor="t" lIns="0" rIns="0" tIns="0" bIns="0">
            <a:spAutoFit/>
          </a:bodyPr>
          <a:lstStyle/>
          <a:p>
            <a:pPr algn="l">
              <a:lnSpc>
                <a:spcPct val="110000"/>
              </a:lnSpc>
            </a:pPr>
            <a:r>
              <a:rPr sz="1050" b="0" i="1">
                <a:solidFill>
                  <a:srgbClr val="5A7278"/>
                </a:solidFill>
                <a:latin typeface="Calibri"/>
              </a:rPr>
              <a:t>Phương pháp ở mức khái niệm — độc lập với công nghệ cài đặt: mọi ngôn ngữ / framework đích đều áp dụng được.</a:t>
            </a:r>
          </a:p>
        </p:txBody>
      </p:sp>
      <p:sp>
        <p:nvSpPr>
          <p:cNvPr id="63" name="TextBox 62"/>
          <p:cNvSpPr txBox="1"/>
          <p:nvPr/>
        </p:nvSpPr>
        <p:spPr>
          <a:xfrm>
            <a:off x="594360" y="6035040"/>
            <a:ext cx="914400" cy="274320"/>
          </a:xfrm>
          <a:prstGeom prst="rect">
            <a:avLst/>
          </a:prstGeom>
          <a:noFill/>
        </p:spPr>
        <p:txBody>
          <a:bodyPr wrap="square" anchor="t" lIns="0" rIns="0" tIns="0" bIns="0">
            <a:spAutoFit/>
          </a:bodyPr>
          <a:lstStyle/>
          <a:p>
            <a:pPr algn="l"/>
            <a:r>
              <a:rPr sz="950" b="1" i="0">
                <a:solidFill>
                  <a:srgbClr val="0A3438"/>
                </a:solidFill>
                <a:latin typeface="Calibri"/>
              </a:rPr>
              <a:t>Chú giải:</a:t>
            </a:r>
          </a:p>
        </p:txBody>
      </p:sp>
      <p:sp>
        <p:nvSpPr>
          <p:cNvPr id="64" name="Rounded Rectangle 63"/>
          <p:cNvSpPr/>
          <p:nvPr/>
        </p:nvSpPr>
        <p:spPr>
          <a:xfrm>
            <a:off x="1417320" y="6035040"/>
            <a:ext cx="502920" cy="237744"/>
          </a:xfrm>
          <a:prstGeom prst="roundRect">
            <a:avLst>
              <a:gd name="adj" fmla="val 5500"/>
            </a:avLst>
          </a:prstGeom>
          <a:solidFill>
            <a:srgbClr val="F5FAFA"/>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011680" y="6016752"/>
            <a:ext cx="1005840" cy="274320"/>
          </a:xfrm>
          <a:prstGeom prst="rect">
            <a:avLst/>
          </a:prstGeom>
          <a:noFill/>
        </p:spPr>
        <p:txBody>
          <a:bodyPr wrap="square" anchor="t" lIns="0" rIns="0" tIns="0" bIns="0">
            <a:spAutoFit/>
          </a:bodyPr>
          <a:lstStyle/>
          <a:p>
            <a:pPr algn="l"/>
            <a:r>
              <a:rPr sz="900" b="0" i="0">
                <a:solidFill>
                  <a:srgbClr val="17292D"/>
                </a:solidFill>
                <a:latin typeface="Calibri"/>
              </a:rPr>
              <a:t>bước xử lý</a:t>
            </a:r>
          </a:p>
        </p:txBody>
      </p:sp>
      <p:sp>
        <p:nvSpPr>
          <p:cNvPr id="66" name="Parallelogram 65"/>
          <p:cNvSpPr/>
          <p:nvPr/>
        </p:nvSpPr>
        <p:spPr>
          <a:xfrm>
            <a:off x="3154680" y="6035040"/>
            <a:ext cx="548640" cy="237744"/>
          </a:xfrm>
          <a:prstGeom prst="parallelogram">
            <a:avLst/>
          </a:prstGeom>
          <a:solidFill>
            <a:srgbClr val="E9F4F5"/>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794760" y="6016752"/>
            <a:ext cx="1371600" cy="274320"/>
          </a:xfrm>
          <a:prstGeom prst="rect">
            <a:avLst/>
          </a:prstGeom>
          <a:noFill/>
        </p:spPr>
        <p:txBody>
          <a:bodyPr wrap="square" anchor="t" lIns="0" rIns="0" tIns="0" bIns="0">
            <a:spAutoFit/>
          </a:bodyPr>
          <a:lstStyle/>
          <a:p>
            <a:pPr algn="l"/>
            <a:r>
              <a:rPr sz="900" b="0" i="0">
                <a:solidFill>
                  <a:srgbClr val="17292D"/>
                </a:solidFill>
                <a:latin typeface="Calibri"/>
              </a:rPr>
              <a:t>dữ liệu trung gian</a:t>
            </a:r>
          </a:p>
        </p:txBody>
      </p:sp>
      <p:sp>
        <p:nvSpPr>
          <p:cNvPr id="68" name="Folded Corner 67"/>
          <p:cNvSpPr/>
          <p:nvPr/>
        </p:nvSpPr>
        <p:spPr>
          <a:xfrm>
            <a:off x="5349240" y="6016752"/>
            <a:ext cx="457200" cy="274320"/>
          </a:xfrm>
          <a:prstGeom prst="foldedCorner">
            <a:avLst/>
          </a:prstGeom>
          <a:solidFill>
            <a:srgbClr val="FFFFFF"/>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897880" y="6016752"/>
            <a:ext cx="1280160" cy="274320"/>
          </a:xfrm>
          <a:prstGeom prst="rect">
            <a:avLst/>
          </a:prstGeom>
          <a:noFill/>
        </p:spPr>
        <p:txBody>
          <a:bodyPr wrap="square" anchor="t" lIns="0" rIns="0" tIns="0" bIns="0">
            <a:spAutoFit/>
          </a:bodyPr>
          <a:lstStyle/>
          <a:p>
            <a:pPr algn="l"/>
            <a:r>
              <a:rPr sz="900" b="0" i="0">
                <a:solidFill>
                  <a:srgbClr val="17292D"/>
                </a:solidFill>
                <a:latin typeface="Calibri"/>
              </a:rPr>
              <a:t>tài liệu đặc tả</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2 · Phương pháp: đặc tả &amp; tích hợp RBAC vào Domain Model</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Bước 1 — Đặc tả và phân tích cú pháp</a:t>
            </a:r>
          </a:p>
        </p:txBody>
      </p:sp>
      <p:sp>
        <p:nvSpPr>
          <p:cNvPr id="4" name="TextBox 3"/>
          <p:cNvSpPr txBox="1"/>
          <p:nvPr/>
        </p:nvSpPr>
        <p:spPr>
          <a:xfrm>
            <a:off x="594360" y="1554480"/>
            <a:ext cx="6400800" cy="365760"/>
          </a:xfrm>
          <a:prstGeom prst="rect">
            <a:avLst/>
          </a:prstGeom>
          <a:noFill/>
        </p:spPr>
        <p:txBody>
          <a:bodyPr wrap="square" anchor="t" lIns="0" rIns="0" tIns="0" bIns="0">
            <a:spAutoFit/>
          </a:bodyPr>
          <a:lstStyle/>
          <a:p>
            <a:pPr algn="l"/>
            <a:r>
              <a:rPr sz="1350" b="1" i="0">
                <a:solidFill>
                  <a:srgbClr val="17292D"/>
                </a:solidFill>
                <a:latin typeface="Calibri"/>
              </a:rPr>
              <a:t>Quy ước đặc tả (profile) trên sơ đồ</a:t>
            </a:r>
          </a:p>
        </p:txBody>
      </p:sp>
      <p:sp>
        <p:nvSpPr>
          <p:cNvPr id="5" name="Rounded Rectangle 4"/>
          <p:cNvSpPr/>
          <p:nvPr/>
        </p:nvSpPr>
        <p:spPr>
          <a:xfrm>
            <a:off x="594360" y="1965960"/>
            <a:ext cx="6400800" cy="84124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65960"/>
            <a:ext cx="1737360" cy="841248"/>
          </a:xfrm>
          <a:prstGeom prst="rect">
            <a:avLst/>
          </a:prstGeom>
          <a:noFill/>
        </p:spPr>
        <p:txBody>
          <a:bodyPr wrap="square" anchor="ctr" lIns="0" rIns="0" tIns="0" bIns="0">
            <a:spAutoFit/>
          </a:bodyPr>
          <a:lstStyle/>
          <a:p>
            <a:pPr algn="l"/>
            <a:r>
              <a:rPr sz="1250" b="1" i="0">
                <a:solidFill>
                  <a:srgbClr val="028090"/>
                </a:solidFill>
                <a:latin typeface="Calibri"/>
              </a:rPr>
              <a:t>Lớp miền</a:t>
            </a:r>
          </a:p>
        </p:txBody>
      </p:sp>
      <p:sp>
        <p:nvSpPr>
          <p:cNvPr id="7" name="TextBox 6"/>
          <p:cNvSpPr txBox="1"/>
          <p:nvPr/>
        </p:nvSpPr>
        <p:spPr>
          <a:xfrm>
            <a:off x="2697480" y="1965960"/>
            <a:ext cx="4114800" cy="841248"/>
          </a:xfrm>
          <a:prstGeom prst="rect">
            <a:avLst/>
          </a:prstGeom>
          <a:noFill/>
        </p:spPr>
        <p:txBody>
          <a:bodyPr wrap="square" anchor="ctr" lIns="0" rIns="0" tIns="0" bIns="0">
            <a:spAutoFit/>
          </a:bodyPr>
          <a:lstStyle/>
          <a:p>
            <a:pPr algn="l">
              <a:lnSpc>
                <a:spcPct val="108000"/>
              </a:lnSpc>
            </a:pPr>
            <a:r>
              <a:rPr sz="1100" b="0" i="0">
                <a:solidFill>
                  <a:srgbClr val="17292D"/>
                </a:solidFill>
                <a:latin typeface="Calibri"/>
              </a:rPr>
              <a:t>«AggregateRoot» «Entity» «ValueObject» «DomainService» «DomainEvent» «Repository» «UseCase»</a:t>
            </a:r>
          </a:p>
        </p:txBody>
      </p:sp>
      <p:sp>
        <p:nvSpPr>
          <p:cNvPr id="8" name="Rounded Rectangle 7"/>
          <p:cNvSpPr/>
          <p:nvPr/>
        </p:nvSpPr>
        <p:spPr>
          <a:xfrm>
            <a:off x="594360" y="2935224"/>
            <a:ext cx="6400800" cy="84124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35224"/>
            <a:ext cx="1737360" cy="841248"/>
          </a:xfrm>
          <a:prstGeom prst="rect">
            <a:avLst/>
          </a:prstGeom>
          <a:noFill/>
        </p:spPr>
        <p:txBody>
          <a:bodyPr wrap="square" anchor="ctr" lIns="0" rIns="0" tIns="0" bIns="0">
            <a:spAutoFit/>
          </a:bodyPr>
          <a:lstStyle/>
          <a:p>
            <a:pPr algn="l"/>
            <a:r>
              <a:rPr sz="1250" b="1" i="0">
                <a:solidFill>
                  <a:srgbClr val="028090"/>
                </a:solidFill>
                <a:latin typeface="Calibri"/>
              </a:rPr>
              <a:t>Vai trò &amp; quyền</a:t>
            </a:r>
          </a:p>
        </p:txBody>
      </p:sp>
      <p:sp>
        <p:nvSpPr>
          <p:cNvPr id="10" name="TextBox 9"/>
          <p:cNvSpPr txBox="1"/>
          <p:nvPr/>
        </p:nvSpPr>
        <p:spPr>
          <a:xfrm>
            <a:off x="2697480" y="2935224"/>
            <a:ext cx="4114800" cy="841248"/>
          </a:xfrm>
          <a:prstGeom prst="rect">
            <a:avLst/>
          </a:prstGeom>
          <a:noFill/>
        </p:spPr>
        <p:txBody>
          <a:bodyPr wrap="square" anchor="ctr" lIns="0" rIns="0" tIns="0" bIns="0">
            <a:spAutoFit/>
          </a:bodyPr>
          <a:lstStyle/>
          <a:p>
            <a:pPr algn="l">
              <a:lnSpc>
                <a:spcPct val="108000"/>
              </a:lnSpc>
            </a:pPr>
            <a:r>
              <a:rPr sz="1100" b="0" i="0">
                <a:solidFill>
                  <a:srgbClr val="17292D"/>
                </a:solidFill>
                <a:latin typeface="Calibri"/>
              </a:rPr>
              <a:t>«Role»; mỗi quyền có ngữ nghĩa:  NAME : TàiNguyên.thaoTác [phạm vi]</a:t>
            </a:r>
          </a:p>
        </p:txBody>
      </p:sp>
      <p:sp>
        <p:nvSpPr>
          <p:cNvPr id="11" name="Rounded Rectangle 10"/>
          <p:cNvSpPr/>
          <p:nvPr/>
        </p:nvSpPr>
        <p:spPr>
          <a:xfrm>
            <a:off x="594360" y="3904487"/>
            <a:ext cx="6400800" cy="84124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904487"/>
            <a:ext cx="1737360" cy="841248"/>
          </a:xfrm>
          <a:prstGeom prst="rect">
            <a:avLst/>
          </a:prstGeom>
          <a:noFill/>
        </p:spPr>
        <p:txBody>
          <a:bodyPr wrap="square" anchor="ctr" lIns="0" rIns="0" tIns="0" bIns="0">
            <a:spAutoFit/>
          </a:bodyPr>
          <a:lstStyle/>
          <a:p>
            <a:pPr algn="l"/>
            <a:r>
              <a:rPr sz="1250" b="1" i="0">
                <a:solidFill>
                  <a:srgbClr val="028090"/>
                </a:solidFill>
                <a:latin typeface="Calibri"/>
              </a:rPr>
              <a:t>Phân cấp vai trò</a:t>
            </a:r>
          </a:p>
        </p:txBody>
      </p:sp>
      <p:sp>
        <p:nvSpPr>
          <p:cNvPr id="13" name="TextBox 12"/>
          <p:cNvSpPr txBox="1"/>
          <p:nvPr/>
        </p:nvSpPr>
        <p:spPr>
          <a:xfrm>
            <a:off x="2697480" y="3904487"/>
            <a:ext cx="4114800" cy="841248"/>
          </a:xfrm>
          <a:prstGeom prst="rect">
            <a:avLst/>
          </a:prstGeom>
          <a:noFill/>
        </p:spPr>
        <p:txBody>
          <a:bodyPr wrap="square" anchor="ctr" lIns="0" rIns="0" tIns="0" bIns="0">
            <a:spAutoFit/>
          </a:bodyPr>
          <a:lstStyle/>
          <a:p>
            <a:pPr algn="l">
              <a:lnSpc>
                <a:spcPct val="108000"/>
              </a:lnSpc>
            </a:pPr>
            <a:r>
              <a:rPr sz="1100" b="0" i="0">
                <a:solidFill>
                  <a:srgbClr val="17292D"/>
                </a:solidFill>
                <a:latin typeface="Calibri"/>
              </a:rPr>
              <a:t>quan hệ kế thừa giữa các «Role» — nền cho lan truyền quyền</a:t>
            </a:r>
          </a:p>
        </p:txBody>
      </p:sp>
      <p:sp>
        <p:nvSpPr>
          <p:cNvPr id="14" name="Rounded Rectangle 13"/>
          <p:cNvSpPr/>
          <p:nvPr/>
        </p:nvSpPr>
        <p:spPr>
          <a:xfrm>
            <a:off x="594360" y="4873752"/>
            <a:ext cx="6400800" cy="84124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873752"/>
            <a:ext cx="1737360" cy="841248"/>
          </a:xfrm>
          <a:prstGeom prst="rect">
            <a:avLst/>
          </a:prstGeom>
          <a:noFill/>
        </p:spPr>
        <p:txBody>
          <a:bodyPr wrap="square" anchor="ctr" lIns="0" rIns="0" tIns="0" bIns="0">
            <a:spAutoFit/>
          </a:bodyPr>
          <a:lstStyle/>
          <a:p>
            <a:pPr algn="l"/>
            <a:r>
              <a:rPr sz="1250" b="1" i="0">
                <a:solidFill>
                  <a:srgbClr val="028090"/>
                </a:solidFill>
                <a:latin typeface="Calibri"/>
              </a:rPr>
              <a:t>Ràng buộc</a:t>
            </a:r>
          </a:p>
        </p:txBody>
      </p:sp>
      <p:sp>
        <p:nvSpPr>
          <p:cNvPr id="16" name="TextBox 15"/>
          <p:cNvSpPr txBox="1"/>
          <p:nvPr/>
        </p:nvSpPr>
        <p:spPr>
          <a:xfrm>
            <a:off x="2697480" y="4873752"/>
            <a:ext cx="4114800" cy="841248"/>
          </a:xfrm>
          <a:prstGeom prst="rect">
            <a:avLst/>
          </a:prstGeom>
          <a:noFill/>
        </p:spPr>
        <p:txBody>
          <a:bodyPr wrap="square" anchor="ctr" lIns="0" rIns="0" tIns="0" bIns="0">
            <a:spAutoFit/>
          </a:bodyPr>
          <a:lstStyle/>
          <a:p>
            <a:pPr algn="l">
              <a:lnSpc>
                <a:spcPct val="108000"/>
              </a:lnSpc>
            </a:pPr>
            <a:r>
              <a:rPr sz="1100" b="0" i="0">
                <a:solidFill>
                  <a:srgbClr val="17292D"/>
                </a:solidFill>
                <a:latin typeface="Calibri"/>
              </a:rPr>
              <a:t>«SSD» · «DSD» · «cardinality» ngay trên sơ đồ + file OCL đồng hành</a:t>
            </a:r>
          </a:p>
        </p:txBody>
      </p:sp>
      <p:sp>
        <p:nvSpPr>
          <p:cNvPr id="17" name="Rounded Rectangle 16"/>
          <p:cNvSpPr/>
          <p:nvPr/>
        </p:nvSpPr>
        <p:spPr>
          <a:xfrm>
            <a:off x="7406640" y="1783080"/>
            <a:ext cx="4206240" cy="868680"/>
          </a:xfrm>
          <a:prstGeom prst="roundRect">
            <a:avLst>
              <a:gd name="adj" fmla="val 5500"/>
            </a:avLst>
          </a:prstGeom>
          <a:solidFill>
            <a:srgbClr val="F5FAF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0" y="1783080"/>
            <a:ext cx="3840480" cy="868680"/>
          </a:xfrm>
          <a:prstGeom prst="rect">
            <a:avLst/>
          </a:prstGeom>
          <a:noFill/>
        </p:spPr>
        <p:txBody>
          <a:bodyPr wrap="square" anchor="ctr" lIns="0" rIns="0" tIns="0" bIns="0">
            <a:spAutoFit/>
          </a:bodyPr>
          <a:lstStyle/>
          <a:p>
            <a:pPr algn="ctr">
              <a:lnSpc>
                <a:spcPct val="105000"/>
              </a:lnSpc>
            </a:pPr>
            <a:r>
              <a:rPr sz="1150" b="1" i="0">
                <a:solidFill>
                  <a:srgbClr val="0A3438"/>
                </a:solidFill>
                <a:latin typeface="Calibri"/>
              </a:rPr>
              <a:t>Tài liệu đặc tả</a:t>
            </a:r>
          </a:p>
        </p:txBody>
      </p:sp>
      <p:sp>
        <p:nvSpPr>
          <p:cNvPr id="19" name="Right Arrow 18"/>
          <p:cNvSpPr/>
          <p:nvPr/>
        </p:nvSpPr>
        <p:spPr>
          <a:xfrm rot="5400000">
            <a:off x="9400032" y="2688336"/>
            <a:ext cx="219456" cy="274320"/>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406640" y="3017520"/>
            <a:ext cx="4206240" cy="868680"/>
          </a:xfrm>
          <a:prstGeom prst="roundRect">
            <a:avLst>
              <a:gd name="adj" fmla="val 5500"/>
            </a:avLst>
          </a:prstGeom>
          <a:solidFill>
            <a:srgbClr val="E9F4F5"/>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0" y="3017520"/>
            <a:ext cx="3840480" cy="868680"/>
          </a:xfrm>
          <a:prstGeom prst="rect">
            <a:avLst/>
          </a:prstGeom>
          <a:noFill/>
        </p:spPr>
        <p:txBody>
          <a:bodyPr wrap="square" anchor="ctr" lIns="0" rIns="0" tIns="0" bIns="0">
            <a:spAutoFit/>
          </a:bodyPr>
          <a:lstStyle/>
          <a:p>
            <a:pPr algn="ctr">
              <a:lnSpc>
                <a:spcPct val="105000"/>
              </a:lnSpc>
            </a:pPr>
            <a:r>
              <a:rPr sz="1150" b="1" i="0">
                <a:solidFill>
                  <a:srgbClr val="0A3438"/>
                </a:solidFill>
                <a:latin typeface="Calibri"/>
              </a:rPr>
              <a:t>Phân tích cú pháp</a:t>
            </a:r>
          </a:p>
        </p:txBody>
      </p:sp>
      <p:sp>
        <p:nvSpPr>
          <p:cNvPr id="22" name="Right Arrow 21"/>
          <p:cNvSpPr/>
          <p:nvPr/>
        </p:nvSpPr>
        <p:spPr>
          <a:xfrm rot="5400000">
            <a:off x="9400032" y="3922776"/>
            <a:ext cx="219456" cy="274320"/>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406640" y="4251960"/>
            <a:ext cx="4206240" cy="868680"/>
          </a:xfrm>
          <a:prstGeom prst="roundRect">
            <a:avLst>
              <a:gd name="adj" fmla="val 5500"/>
            </a:avLst>
          </a:prstGeom>
          <a:solidFill>
            <a:srgbClr val="F5FAF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0" y="4251960"/>
            <a:ext cx="3840480" cy="868680"/>
          </a:xfrm>
          <a:prstGeom prst="rect">
            <a:avLst/>
          </a:prstGeom>
          <a:noFill/>
        </p:spPr>
        <p:txBody>
          <a:bodyPr wrap="square" anchor="ctr" lIns="0" rIns="0" tIns="0" bIns="0">
            <a:spAutoFit/>
          </a:bodyPr>
          <a:lstStyle/>
          <a:p>
            <a:pPr algn="ctr">
              <a:lnSpc>
                <a:spcPct val="105000"/>
              </a:lnSpc>
            </a:pPr>
            <a:r>
              <a:rPr sz="1150" b="1" i="0">
                <a:solidFill>
                  <a:srgbClr val="0A3438"/>
                </a:solidFill>
                <a:latin typeface="Calibri"/>
              </a:rPr>
              <a:t>AST mỗi nguồn — mỗi phần tử giữ vị trí dòng gốc</a:t>
            </a:r>
          </a:p>
        </p:txBody>
      </p:sp>
      <p:sp>
        <p:nvSpPr>
          <p:cNvPr id="25" name="Rounded Rectangle 24"/>
          <p:cNvSpPr/>
          <p:nvPr/>
        </p:nvSpPr>
        <p:spPr>
          <a:xfrm>
            <a:off x="7406640" y="5486400"/>
            <a:ext cx="4206240" cy="100584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35240" y="5650992"/>
            <a:ext cx="3749039" cy="676656"/>
          </a:xfrm>
          <a:prstGeom prst="rect">
            <a:avLst/>
          </a:prstGeom>
          <a:noFill/>
        </p:spPr>
        <p:txBody>
          <a:bodyPr wrap="square" anchor="t" lIns="0" rIns="0" tIns="0" bIns="0">
            <a:spAutoFit/>
          </a:bodyPr>
          <a:lstStyle/>
          <a:p>
            <a:pPr algn="l">
              <a:spcAft>
                <a:spcPts val="400"/>
              </a:spcAft>
            </a:pPr>
            <a:r>
              <a:rPr sz="1200" b="1" i="0">
                <a:solidFill>
                  <a:srgbClr val="028090"/>
                </a:solidFill>
                <a:latin typeface="Calibri"/>
              </a:rPr>
              <a:t>Vì sao giữ vị trí nguồn?</a:t>
            </a:r>
          </a:p>
          <a:p>
            <a:pPr algn="l">
              <a:lnSpc>
                <a:spcPct val="108000"/>
              </a:lnSpc>
            </a:pPr>
            <a:r>
              <a:rPr sz="1050" b="0" i="0">
                <a:solidFill>
                  <a:srgbClr val="17292D"/>
                </a:solidFill>
                <a:latin typeface="Calibri"/>
              </a:rPr>
              <a:t>Mọi lỗi ở các bước sau đều trỏ ngược được về đúng dòng trong đặc tả.</a:t>
            </a:r>
          </a:p>
        </p:txBody>
      </p:sp>
      <p:sp>
        <p:nvSpPr>
          <p:cNvPr id="27" name="TextBox 26"/>
          <p:cNvSpPr txBox="1"/>
          <p:nvPr/>
        </p:nvSpPr>
        <p:spPr>
          <a:xfrm>
            <a:off x="594360" y="5943600"/>
            <a:ext cx="6400800" cy="548640"/>
          </a:xfrm>
          <a:prstGeom prst="rect">
            <a:avLst/>
          </a:prstGeom>
          <a:noFill/>
        </p:spPr>
        <p:txBody>
          <a:bodyPr wrap="square" anchor="t" lIns="0" rIns="0" tIns="0" bIns="0">
            <a:spAutoFit/>
          </a:bodyPr>
          <a:lstStyle/>
          <a:p>
            <a:pPr algn="l">
              <a:lnSpc>
                <a:spcPct val="110000"/>
              </a:lnSpc>
            </a:pPr>
            <a:r>
              <a:rPr sz="1150" b="0" i="1">
                <a:solidFill>
                  <a:srgbClr val="5A7278"/>
                </a:solidFill>
                <a:latin typeface="Calibri"/>
              </a:rPr>
              <a:t>Mỗi nguồn đặc tả có bộ phân tích riêng; kết quả là các cây cú pháp độc lập, sẵn sàng hợp nhất ở Bước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2 · Phương pháp: đặc tả &amp; tích hợp RBAC vào Domain Model</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Bước 2 — Hợp nhất mô hình: metamodel ba concern</a:t>
            </a:r>
          </a:p>
        </p:txBody>
      </p:sp>
      <p:sp>
        <p:nvSpPr>
          <p:cNvPr id="4" name="Rounded Rectangle 3"/>
          <p:cNvSpPr/>
          <p:nvPr/>
        </p:nvSpPr>
        <p:spPr>
          <a:xfrm>
            <a:off x="594360" y="1737360"/>
            <a:ext cx="3584448" cy="160020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01952"/>
            <a:ext cx="3127248" cy="1271016"/>
          </a:xfrm>
          <a:prstGeom prst="rect">
            <a:avLst/>
          </a:prstGeom>
          <a:noFill/>
        </p:spPr>
        <p:txBody>
          <a:bodyPr wrap="square" anchor="t" lIns="0" rIns="0" tIns="0" bIns="0">
            <a:spAutoFit/>
          </a:bodyPr>
          <a:lstStyle/>
          <a:p>
            <a:pPr algn="l">
              <a:spcAft>
                <a:spcPts val="400"/>
              </a:spcAft>
            </a:pPr>
            <a:r>
              <a:rPr sz="1450" b="1" i="0">
                <a:solidFill>
                  <a:srgbClr val="028090"/>
                </a:solidFill>
                <a:latin typeface="Calibri"/>
              </a:rPr>
              <a:t>DCSL — cấu trúc</a:t>
            </a:r>
          </a:p>
          <a:p>
            <a:pPr algn="l">
              <a:lnSpc>
                <a:spcPct val="108000"/>
              </a:lnSpc>
            </a:pPr>
            <a:r>
              <a:rPr sz="1200" b="0" i="0">
                <a:solidFill>
                  <a:srgbClr val="17292D"/>
                </a:solidFill>
                <a:latin typeface="Calibri"/>
              </a:rPr>
              <a:t>DClass · DAttr · DAssoc: lớp miền, thuộc tính, quan hệ — phần tĩnh của mô hình</a:t>
            </a:r>
          </a:p>
        </p:txBody>
      </p:sp>
      <p:sp>
        <p:nvSpPr>
          <p:cNvPr id="6" name="Rounded Rectangle 5"/>
          <p:cNvSpPr/>
          <p:nvPr/>
        </p:nvSpPr>
        <p:spPr>
          <a:xfrm>
            <a:off x="4306824" y="1737360"/>
            <a:ext cx="3584448" cy="160020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35424" y="1901952"/>
            <a:ext cx="3127248" cy="1271016"/>
          </a:xfrm>
          <a:prstGeom prst="rect">
            <a:avLst/>
          </a:prstGeom>
          <a:noFill/>
        </p:spPr>
        <p:txBody>
          <a:bodyPr wrap="square" anchor="t" lIns="0" rIns="0" tIns="0" bIns="0">
            <a:spAutoFit/>
          </a:bodyPr>
          <a:lstStyle/>
          <a:p>
            <a:pPr algn="l">
              <a:spcAft>
                <a:spcPts val="400"/>
              </a:spcAft>
            </a:pPr>
            <a:r>
              <a:rPr sz="1450" b="1" i="0">
                <a:solidFill>
                  <a:srgbClr val="028090"/>
                </a:solidFill>
                <a:latin typeface="Calibri"/>
              </a:rPr>
              <a:t>AGL — hành vi</a:t>
            </a:r>
          </a:p>
          <a:p>
            <a:pPr algn="l">
              <a:lnSpc>
                <a:spcPct val="108000"/>
              </a:lnSpc>
            </a:pPr>
            <a:r>
              <a:rPr sz="1200" b="0" i="0">
                <a:solidFill>
                  <a:srgbClr val="17292D"/>
                </a:solidFill>
                <a:latin typeface="Calibri"/>
              </a:rPr>
              <a:t>ANode · MAct: chuỗi hành động use-case ở tầng application, đọc từ activity diagram</a:t>
            </a:r>
          </a:p>
        </p:txBody>
      </p:sp>
      <p:sp>
        <p:nvSpPr>
          <p:cNvPr id="8" name="Rounded Rectangle 7"/>
          <p:cNvSpPr/>
          <p:nvPr/>
        </p:nvSpPr>
        <p:spPr>
          <a:xfrm>
            <a:off x="8019288" y="1737360"/>
            <a:ext cx="3584448" cy="160020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47888" y="1901952"/>
            <a:ext cx="3127248" cy="1271016"/>
          </a:xfrm>
          <a:prstGeom prst="rect">
            <a:avLst/>
          </a:prstGeom>
          <a:noFill/>
        </p:spPr>
        <p:txBody>
          <a:bodyPr wrap="square" anchor="t" lIns="0" rIns="0" tIns="0" bIns="0">
            <a:spAutoFit/>
          </a:bodyPr>
          <a:lstStyle/>
          <a:p>
            <a:pPr algn="l">
              <a:spcAft>
                <a:spcPts val="400"/>
              </a:spcAft>
            </a:pPr>
            <a:r>
              <a:rPr sz="1450" b="1" i="0">
                <a:solidFill>
                  <a:srgbClr val="028090"/>
                </a:solidFill>
                <a:latin typeface="Calibri"/>
              </a:rPr>
              <a:t>RBAC₀/₁ — phân quyền</a:t>
            </a:r>
          </a:p>
          <a:p>
            <a:pPr algn="l">
              <a:lnSpc>
                <a:spcPct val="108000"/>
              </a:lnSpc>
            </a:pPr>
            <a:r>
              <a:rPr sz="1200" b="0" i="0">
                <a:solidFill>
                  <a:srgbClr val="17292D"/>
                </a:solidFill>
                <a:latin typeface="Calibri"/>
              </a:rPr>
              <a:t>Role · Permission · role hierarchy (Sandhu 1996); quyền lan truyền qua kế thừa vai trò</a:t>
            </a:r>
          </a:p>
        </p:txBody>
      </p:sp>
      <p:sp>
        <p:nvSpPr>
          <p:cNvPr id="10" name="TextBox 9"/>
          <p:cNvSpPr txBox="1"/>
          <p:nvPr/>
        </p:nvSpPr>
        <p:spPr>
          <a:xfrm>
            <a:off x="594360" y="3611880"/>
            <a:ext cx="11018520" cy="365760"/>
          </a:xfrm>
          <a:prstGeom prst="rect">
            <a:avLst/>
          </a:prstGeom>
          <a:noFill/>
        </p:spPr>
        <p:txBody>
          <a:bodyPr wrap="square" anchor="t" lIns="0" rIns="0" tIns="0" bIns="0">
            <a:spAutoFit/>
          </a:bodyPr>
          <a:lstStyle/>
          <a:p>
            <a:pPr algn="l"/>
            <a:r>
              <a:rPr sz="1350" b="1" i="0">
                <a:solidFill>
                  <a:srgbClr val="17292D"/>
                </a:solidFill>
                <a:latin typeface="Calibri"/>
              </a:rPr>
              <a:t>Ánh xạ 8 stereotype PlantUML → khái niệm metamodel:</a:t>
            </a:r>
          </a:p>
        </p:txBody>
      </p:sp>
      <p:sp>
        <p:nvSpPr>
          <p:cNvPr id="11" name="Rounded Rectangle 10"/>
          <p:cNvSpPr/>
          <p:nvPr/>
        </p:nvSpPr>
        <p:spPr>
          <a:xfrm>
            <a:off x="594360" y="4069080"/>
            <a:ext cx="2651760" cy="713232"/>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160520"/>
            <a:ext cx="2377440" cy="274320"/>
          </a:xfrm>
          <a:prstGeom prst="rect">
            <a:avLst/>
          </a:prstGeom>
          <a:noFill/>
        </p:spPr>
        <p:txBody>
          <a:bodyPr wrap="square" anchor="t" lIns="0" rIns="0" tIns="0" bIns="0">
            <a:spAutoFit/>
          </a:bodyPr>
          <a:lstStyle/>
          <a:p>
            <a:pPr algn="l"/>
            <a:r>
              <a:rPr sz="1150" b="1" i="0">
                <a:solidFill>
                  <a:srgbClr val="028090"/>
                </a:solidFill>
                <a:latin typeface="Courier New"/>
              </a:rPr>
              <a:t>«AggregateRoot»</a:t>
            </a:r>
          </a:p>
        </p:txBody>
      </p:sp>
      <p:sp>
        <p:nvSpPr>
          <p:cNvPr id="13" name="TextBox 12"/>
          <p:cNvSpPr txBox="1"/>
          <p:nvPr/>
        </p:nvSpPr>
        <p:spPr>
          <a:xfrm>
            <a:off x="731520" y="4453128"/>
            <a:ext cx="2377440" cy="292608"/>
          </a:xfrm>
          <a:prstGeom prst="rect">
            <a:avLst/>
          </a:prstGeom>
          <a:noFill/>
        </p:spPr>
        <p:txBody>
          <a:bodyPr wrap="square" anchor="t" lIns="0" rIns="0" tIns="0" bIns="0">
            <a:spAutoFit/>
          </a:bodyPr>
          <a:lstStyle/>
          <a:p>
            <a:pPr algn="l"/>
            <a:r>
              <a:rPr sz="1000" b="0" i="0">
                <a:solidFill>
                  <a:srgbClr val="5A7278"/>
                </a:solidFill>
                <a:latin typeface="Calibri"/>
              </a:rPr>
              <a:t>DClass{mutable} + chủ module</a:t>
            </a:r>
          </a:p>
        </p:txBody>
      </p:sp>
      <p:sp>
        <p:nvSpPr>
          <p:cNvPr id="14" name="Rounded Rectangle 13"/>
          <p:cNvSpPr/>
          <p:nvPr/>
        </p:nvSpPr>
        <p:spPr>
          <a:xfrm>
            <a:off x="3383279" y="4069080"/>
            <a:ext cx="2651760" cy="713232"/>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39" y="4160520"/>
            <a:ext cx="2377440" cy="274320"/>
          </a:xfrm>
          <a:prstGeom prst="rect">
            <a:avLst/>
          </a:prstGeom>
          <a:noFill/>
        </p:spPr>
        <p:txBody>
          <a:bodyPr wrap="square" anchor="t" lIns="0" rIns="0" tIns="0" bIns="0">
            <a:spAutoFit/>
          </a:bodyPr>
          <a:lstStyle/>
          <a:p>
            <a:pPr algn="l"/>
            <a:r>
              <a:rPr sz="1150" b="1" i="0">
                <a:solidFill>
                  <a:srgbClr val="028090"/>
                </a:solidFill>
                <a:latin typeface="Courier New"/>
              </a:rPr>
              <a:t>«Entity»</a:t>
            </a:r>
          </a:p>
        </p:txBody>
      </p:sp>
      <p:sp>
        <p:nvSpPr>
          <p:cNvPr id="16" name="TextBox 15"/>
          <p:cNvSpPr txBox="1"/>
          <p:nvPr/>
        </p:nvSpPr>
        <p:spPr>
          <a:xfrm>
            <a:off x="3520439" y="4453128"/>
            <a:ext cx="2377440" cy="292608"/>
          </a:xfrm>
          <a:prstGeom prst="rect">
            <a:avLst/>
          </a:prstGeom>
          <a:noFill/>
        </p:spPr>
        <p:txBody>
          <a:bodyPr wrap="square" anchor="t" lIns="0" rIns="0" tIns="0" bIns="0">
            <a:spAutoFit/>
          </a:bodyPr>
          <a:lstStyle/>
          <a:p>
            <a:pPr algn="l"/>
            <a:r>
              <a:rPr sz="1000" b="0" i="0">
                <a:solidFill>
                  <a:srgbClr val="5A7278"/>
                </a:solidFill>
                <a:latin typeface="Calibri"/>
              </a:rPr>
              <a:t>DClass{mutable}</a:t>
            </a:r>
          </a:p>
        </p:txBody>
      </p:sp>
      <p:sp>
        <p:nvSpPr>
          <p:cNvPr id="17" name="Rounded Rectangle 16"/>
          <p:cNvSpPr/>
          <p:nvPr/>
        </p:nvSpPr>
        <p:spPr>
          <a:xfrm>
            <a:off x="6172200" y="4069080"/>
            <a:ext cx="2651760" cy="713232"/>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4160520"/>
            <a:ext cx="2377440" cy="274320"/>
          </a:xfrm>
          <a:prstGeom prst="rect">
            <a:avLst/>
          </a:prstGeom>
          <a:noFill/>
        </p:spPr>
        <p:txBody>
          <a:bodyPr wrap="square" anchor="t" lIns="0" rIns="0" tIns="0" bIns="0">
            <a:spAutoFit/>
          </a:bodyPr>
          <a:lstStyle/>
          <a:p>
            <a:pPr algn="l"/>
            <a:r>
              <a:rPr sz="1150" b="1" i="0">
                <a:solidFill>
                  <a:srgbClr val="028090"/>
                </a:solidFill>
                <a:latin typeface="Courier New"/>
              </a:rPr>
              <a:t>«ValueObject»</a:t>
            </a:r>
          </a:p>
        </p:txBody>
      </p:sp>
      <p:sp>
        <p:nvSpPr>
          <p:cNvPr id="19" name="TextBox 18"/>
          <p:cNvSpPr txBox="1"/>
          <p:nvPr/>
        </p:nvSpPr>
        <p:spPr>
          <a:xfrm>
            <a:off x="6309360" y="4453128"/>
            <a:ext cx="2377440" cy="292608"/>
          </a:xfrm>
          <a:prstGeom prst="rect">
            <a:avLst/>
          </a:prstGeom>
          <a:noFill/>
        </p:spPr>
        <p:txBody>
          <a:bodyPr wrap="square" anchor="t" lIns="0" rIns="0" tIns="0" bIns="0">
            <a:spAutoFit/>
          </a:bodyPr>
          <a:lstStyle/>
          <a:p>
            <a:pPr algn="l"/>
            <a:r>
              <a:rPr sz="1000" b="0" i="0">
                <a:solidFill>
                  <a:srgbClr val="5A7278"/>
                </a:solidFill>
                <a:latin typeface="Calibri"/>
              </a:rPr>
              <a:t>DClass bất biến</a:t>
            </a:r>
          </a:p>
        </p:txBody>
      </p:sp>
      <p:sp>
        <p:nvSpPr>
          <p:cNvPr id="20" name="Rounded Rectangle 19"/>
          <p:cNvSpPr/>
          <p:nvPr/>
        </p:nvSpPr>
        <p:spPr>
          <a:xfrm>
            <a:off x="8961119" y="4069080"/>
            <a:ext cx="2651760" cy="713232"/>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4160520"/>
            <a:ext cx="2377440" cy="274320"/>
          </a:xfrm>
          <a:prstGeom prst="rect">
            <a:avLst/>
          </a:prstGeom>
          <a:noFill/>
        </p:spPr>
        <p:txBody>
          <a:bodyPr wrap="square" anchor="t" lIns="0" rIns="0" tIns="0" bIns="0">
            <a:spAutoFit/>
          </a:bodyPr>
          <a:lstStyle/>
          <a:p>
            <a:pPr algn="l"/>
            <a:r>
              <a:rPr sz="1150" b="1" i="0">
                <a:solidFill>
                  <a:srgbClr val="028090"/>
                </a:solidFill>
                <a:latin typeface="Courier New"/>
              </a:rPr>
              <a:t>«DomainService»</a:t>
            </a:r>
          </a:p>
        </p:txBody>
      </p:sp>
      <p:sp>
        <p:nvSpPr>
          <p:cNvPr id="22" name="TextBox 21"/>
          <p:cNvSpPr txBox="1"/>
          <p:nvPr/>
        </p:nvSpPr>
        <p:spPr>
          <a:xfrm>
            <a:off x="9098280" y="4453128"/>
            <a:ext cx="2377440" cy="292608"/>
          </a:xfrm>
          <a:prstGeom prst="rect">
            <a:avLst/>
          </a:prstGeom>
          <a:noFill/>
        </p:spPr>
        <p:txBody>
          <a:bodyPr wrap="square" anchor="t" lIns="0" rIns="0" tIns="0" bIns="0">
            <a:spAutoFit/>
          </a:bodyPr>
          <a:lstStyle/>
          <a:p>
            <a:pPr algn="l"/>
            <a:r>
              <a:rPr sz="1000" b="0" i="0">
                <a:solidFill>
                  <a:srgbClr val="5A7278"/>
                </a:solidFill>
                <a:latin typeface="Calibri"/>
              </a:rPr>
              <a:t>DOpt tầng domain</a:t>
            </a:r>
          </a:p>
        </p:txBody>
      </p:sp>
      <p:sp>
        <p:nvSpPr>
          <p:cNvPr id="23" name="Rounded Rectangle 22"/>
          <p:cNvSpPr/>
          <p:nvPr/>
        </p:nvSpPr>
        <p:spPr>
          <a:xfrm>
            <a:off x="594360" y="4928616"/>
            <a:ext cx="2651760" cy="713232"/>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020056"/>
            <a:ext cx="2377440" cy="274320"/>
          </a:xfrm>
          <a:prstGeom prst="rect">
            <a:avLst/>
          </a:prstGeom>
          <a:noFill/>
        </p:spPr>
        <p:txBody>
          <a:bodyPr wrap="square" anchor="t" lIns="0" rIns="0" tIns="0" bIns="0">
            <a:spAutoFit/>
          </a:bodyPr>
          <a:lstStyle/>
          <a:p>
            <a:pPr algn="l"/>
            <a:r>
              <a:rPr sz="1150" b="1" i="0">
                <a:solidFill>
                  <a:srgbClr val="028090"/>
                </a:solidFill>
                <a:latin typeface="Courier New"/>
              </a:rPr>
              <a:t>«DomainEvent»</a:t>
            </a:r>
          </a:p>
        </p:txBody>
      </p:sp>
      <p:sp>
        <p:nvSpPr>
          <p:cNvPr id="25" name="TextBox 24"/>
          <p:cNvSpPr txBox="1"/>
          <p:nvPr/>
        </p:nvSpPr>
        <p:spPr>
          <a:xfrm>
            <a:off x="731520" y="5312664"/>
            <a:ext cx="2377440" cy="292608"/>
          </a:xfrm>
          <a:prstGeom prst="rect">
            <a:avLst/>
          </a:prstGeom>
          <a:noFill/>
        </p:spPr>
        <p:txBody>
          <a:bodyPr wrap="square" anchor="t" lIns="0" rIns="0" tIns="0" bIns="0">
            <a:spAutoFit/>
          </a:bodyPr>
          <a:lstStyle/>
          <a:p>
            <a:pPr algn="l"/>
            <a:r>
              <a:rPr sz="1000" b="0" i="0">
                <a:solidFill>
                  <a:srgbClr val="5A7278"/>
                </a:solidFill>
                <a:latin typeface="Calibri"/>
              </a:rPr>
              <a:t>DClass bất biến, MAct post-state</a:t>
            </a:r>
          </a:p>
        </p:txBody>
      </p:sp>
      <p:sp>
        <p:nvSpPr>
          <p:cNvPr id="26" name="Rounded Rectangle 25"/>
          <p:cNvSpPr/>
          <p:nvPr/>
        </p:nvSpPr>
        <p:spPr>
          <a:xfrm>
            <a:off x="3383279" y="4928616"/>
            <a:ext cx="2651760" cy="713232"/>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20439" y="5020056"/>
            <a:ext cx="2377440" cy="274320"/>
          </a:xfrm>
          <a:prstGeom prst="rect">
            <a:avLst/>
          </a:prstGeom>
          <a:noFill/>
        </p:spPr>
        <p:txBody>
          <a:bodyPr wrap="square" anchor="t" lIns="0" rIns="0" tIns="0" bIns="0">
            <a:spAutoFit/>
          </a:bodyPr>
          <a:lstStyle/>
          <a:p>
            <a:pPr algn="l"/>
            <a:r>
              <a:rPr sz="1150" b="1" i="0">
                <a:solidFill>
                  <a:srgbClr val="028090"/>
                </a:solidFill>
                <a:latin typeface="Courier New"/>
              </a:rPr>
              <a:t>«Repository»</a:t>
            </a:r>
          </a:p>
        </p:txBody>
      </p:sp>
      <p:sp>
        <p:nvSpPr>
          <p:cNvPr id="28" name="TextBox 27"/>
          <p:cNvSpPr txBox="1"/>
          <p:nvPr/>
        </p:nvSpPr>
        <p:spPr>
          <a:xfrm>
            <a:off x="3520439" y="5312664"/>
            <a:ext cx="2377440" cy="292608"/>
          </a:xfrm>
          <a:prstGeom prst="rect">
            <a:avLst/>
          </a:prstGeom>
          <a:noFill/>
        </p:spPr>
        <p:txBody>
          <a:bodyPr wrap="square" anchor="t" lIns="0" rIns="0" tIns="0" bIns="0">
            <a:spAutoFit/>
          </a:bodyPr>
          <a:lstStyle/>
          <a:p>
            <a:pPr algn="l"/>
            <a:r>
              <a:rPr sz="1000" b="0" i="0">
                <a:solidFill>
                  <a:srgbClr val="5A7278"/>
                </a:solidFill>
                <a:latin typeface="Calibri"/>
              </a:rPr>
              <a:t>DAssoc → infrastructure</a:t>
            </a:r>
          </a:p>
        </p:txBody>
      </p:sp>
      <p:sp>
        <p:nvSpPr>
          <p:cNvPr id="29" name="Rounded Rectangle 28"/>
          <p:cNvSpPr/>
          <p:nvPr/>
        </p:nvSpPr>
        <p:spPr>
          <a:xfrm>
            <a:off x="6172200" y="4928616"/>
            <a:ext cx="2651760" cy="713232"/>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5020056"/>
            <a:ext cx="2377440" cy="274320"/>
          </a:xfrm>
          <a:prstGeom prst="rect">
            <a:avLst/>
          </a:prstGeom>
          <a:noFill/>
        </p:spPr>
        <p:txBody>
          <a:bodyPr wrap="square" anchor="t" lIns="0" rIns="0" tIns="0" bIns="0">
            <a:spAutoFit/>
          </a:bodyPr>
          <a:lstStyle/>
          <a:p>
            <a:pPr algn="l"/>
            <a:r>
              <a:rPr sz="1150" b="1" i="0">
                <a:solidFill>
                  <a:srgbClr val="028090"/>
                </a:solidFill>
                <a:latin typeface="Courier New"/>
              </a:rPr>
              <a:t>«UseCase»</a:t>
            </a:r>
          </a:p>
        </p:txBody>
      </p:sp>
      <p:sp>
        <p:nvSpPr>
          <p:cNvPr id="31" name="TextBox 30"/>
          <p:cNvSpPr txBox="1"/>
          <p:nvPr/>
        </p:nvSpPr>
        <p:spPr>
          <a:xfrm>
            <a:off x="6309360" y="5312664"/>
            <a:ext cx="2377440" cy="292608"/>
          </a:xfrm>
          <a:prstGeom prst="rect">
            <a:avLst/>
          </a:prstGeom>
          <a:noFill/>
        </p:spPr>
        <p:txBody>
          <a:bodyPr wrap="square" anchor="t" lIns="0" rIns="0" tIns="0" bIns="0">
            <a:spAutoFit/>
          </a:bodyPr>
          <a:lstStyle/>
          <a:p>
            <a:pPr algn="l"/>
            <a:r>
              <a:rPr sz="1000" b="0" i="0">
                <a:solidFill>
                  <a:srgbClr val="5A7278"/>
                </a:solidFill>
                <a:latin typeface="Calibri"/>
              </a:rPr>
              <a:t>AGL ANode (SAA)</a:t>
            </a:r>
          </a:p>
        </p:txBody>
      </p:sp>
      <p:sp>
        <p:nvSpPr>
          <p:cNvPr id="32" name="Rounded Rectangle 31"/>
          <p:cNvSpPr/>
          <p:nvPr/>
        </p:nvSpPr>
        <p:spPr>
          <a:xfrm>
            <a:off x="8961119" y="4928616"/>
            <a:ext cx="2651760" cy="713232"/>
          </a:xfrm>
          <a:prstGeom prst="roundRect">
            <a:avLst>
              <a:gd name="adj" fmla="val 5500"/>
            </a:avLst>
          </a:prstGeom>
          <a:solidFill>
            <a:srgbClr val="0A3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98280" y="5020056"/>
            <a:ext cx="2377440" cy="274320"/>
          </a:xfrm>
          <a:prstGeom prst="rect">
            <a:avLst/>
          </a:prstGeom>
          <a:noFill/>
        </p:spPr>
        <p:txBody>
          <a:bodyPr wrap="square" anchor="t" lIns="0" rIns="0" tIns="0" bIns="0">
            <a:spAutoFit/>
          </a:bodyPr>
          <a:lstStyle/>
          <a:p>
            <a:pPr algn="l"/>
            <a:r>
              <a:rPr sz="1150" b="1" i="0">
                <a:solidFill>
                  <a:srgbClr val="02C39A"/>
                </a:solidFill>
                <a:latin typeface="Courier New"/>
              </a:rPr>
              <a:t>«Role»</a:t>
            </a:r>
          </a:p>
        </p:txBody>
      </p:sp>
      <p:sp>
        <p:nvSpPr>
          <p:cNvPr id="34" name="TextBox 33"/>
          <p:cNvSpPr txBox="1"/>
          <p:nvPr/>
        </p:nvSpPr>
        <p:spPr>
          <a:xfrm>
            <a:off x="9098280" y="5312664"/>
            <a:ext cx="2377440" cy="292608"/>
          </a:xfrm>
          <a:prstGeom prst="rect">
            <a:avLst/>
          </a:prstGeom>
          <a:noFill/>
        </p:spPr>
        <p:txBody>
          <a:bodyPr wrap="square" anchor="t" lIns="0" rIns="0" tIns="0" bIns="0">
            <a:spAutoFit/>
          </a:bodyPr>
          <a:lstStyle/>
          <a:p>
            <a:pPr algn="l"/>
            <a:r>
              <a:rPr sz="1000" b="0" i="0">
                <a:solidFill>
                  <a:srgbClr val="FFFFFF"/>
                </a:solidFill>
                <a:latin typeface="Calibri"/>
              </a:rPr>
              <a:t>RBAC Role (Sandhu96)</a:t>
            </a:r>
          </a:p>
        </p:txBody>
      </p:sp>
      <p:sp>
        <p:nvSpPr>
          <p:cNvPr id="35" name="TextBox 34"/>
          <p:cNvSpPr txBox="1"/>
          <p:nvPr/>
        </p:nvSpPr>
        <p:spPr>
          <a:xfrm>
            <a:off x="594360" y="5897880"/>
            <a:ext cx="11018520" cy="457200"/>
          </a:xfrm>
          <a:prstGeom prst="rect">
            <a:avLst/>
          </a:prstGeom>
          <a:noFill/>
        </p:spPr>
        <p:txBody>
          <a:bodyPr wrap="square" anchor="t" lIns="0" rIns="0" tIns="0" bIns="0">
            <a:spAutoFit/>
          </a:bodyPr>
          <a:lstStyle/>
          <a:p>
            <a:pPr algn="ctr"/>
            <a:r>
              <a:rPr sz="1250" b="0" i="1">
                <a:solidFill>
                  <a:srgbClr val="5A7278"/>
                </a:solidFill>
                <a:latin typeface="Calibri"/>
              </a:rPr>
              <a:t>DomainMetamodel là AST trung tâm: boundedContexts[] + rbac — mọi bước sau chỉ làm việc trên AST này.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2 · Phương pháp: đặc tả &amp; tích hợp RBAC vào Domain Model</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Bước 3 — Làm giàu mô hình</a:t>
            </a:r>
          </a:p>
        </p:txBody>
      </p:sp>
      <p:sp>
        <p:nvSpPr>
          <p:cNvPr id="4" name="Oval 3"/>
          <p:cNvSpPr/>
          <p:nvPr/>
        </p:nvSpPr>
        <p:spPr>
          <a:xfrm>
            <a:off x="640080" y="1728216"/>
            <a:ext cx="384048" cy="38404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1</a:t>
            </a:r>
          </a:p>
        </p:txBody>
      </p:sp>
      <p:sp>
        <p:nvSpPr>
          <p:cNvPr id="5" name="TextBox 4"/>
          <p:cNvSpPr txBox="1"/>
          <p:nvPr/>
        </p:nvSpPr>
        <p:spPr>
          <a:xfrm>
            <a:off x="1234440" y="1691640"/>
            <a:ext cx="5669280" cy="1051560"/>
          </a:xfrm>
          <a:prstGeom prst="rect">
            <a:avLst/>
          </a:prstGeom>
          <a:noFill/>
        </p:spPr>
        <p:txBody>
          <a:bodyPr wrap="square" anchor="t" lIns="0" rIns="0" tIns="0" bIns="0">
            <a:spAutoFit/>
          </a:bodyPr>
          <a:lstStyle/>
          <a:p>
            <a:pPr algn="l">
              <a:spcAft>
                <a:spcPts val="200"/>
              </a:spcAft>
            </a:pPr>
            <a:r>
              <a:rPr sz="1400" b="1" i="0">
                <a:solidFill>
                  <a:srgbClr val="17292D"/>
                </a:solidFill>
                <a:latin typeface="Calibri"/>
              </a:rPr>
              <a:t>Chuẩn hóa lớp miền</a:t>
            </a:r>
          </a:p>
          <a:p>
            <a:pPr algn="l">
              <a:lnSpc>
                <a:spcPct val="108000"/>
              </a:lnSpc>
            </a:pPr>
            <a:r>
              <a:rPr sz="1150" b="0" i="0">
                <a:solidFill>
                  <a:srgbClr val="5A7278"/>
                </a:solidFill>
                <a:latin typeface="Calibri"/>
              </a:rPr>
              <a:t>Bổ sung định danh và thuộc tính vết thời gian cho mọi lớp thực thể</a:t>
            </a:r>
          </a:p>
        </p:txBody>
      </p:sp>
      <p:sp>
        <p:nvSpPr>
          <p:cNvPr id="6" name="Oval 5"/>
          <p:cNvSpPr/>
          <p:nvPr/>
        </p:nvSpPr>
        <p:spPr>
          <a:xfrm>
            <a:off x="640080" y="2807208"/>
            <a:ext cx="384048" cy="38404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2</a:t>
            </a:r>
          </a:p>
        </p:txBody>
      </p:sp>
      <p:sp>
        <p:nvSpPr>
          <p:cNvPr id="7" name="TextBox 6"/>
          <p:cNvSpPr txBox="1"/>
          <p:nvPr/>
        </p:nvSpPr>
        <p:spPr>
          <a:xfrm>
            <a:off x="1234440" y="2770632"/>
            <a:ext cx="5669280" cy="1051560"/>
          </a:xfrm>
          <a:prstGeom prst="rect">
            <a:avLst/>
          </a:prstGeom>
          <a:noFill/>
        </p:spPr>
        <p:txBody>
          <a:bodyPr wrap="square" anchor="t" lIns="0" rIns="0" tIns="0" bIns="0">
            <a:spAutoFit/>
          </a:bodyPr>
          <a:lstStyle/>
          <a:p>
            <a:pPr algn="l">
              <a:spcAft>
                <a:spcPts val="200"/>
              </a:spcAft>
            </a:pPr>
            <a:r>
              <a:rPr sz="1400" b="1" i="0">
                <a:solidFill>
                  <a:srgbClr val="17292D"/>
                </a:solidFill>
                <a:latin typeface="Calibri"/>
              </a:rPr>
              <a:t>Hành vi mặc định</a:t>
            </a:r>
          </a:p>
          <a:p>
            <a:pPr algn="l">
              <a:lnSpc>
                <a:spcPct val="108000"/>
              </a:lnSpc>
            </a:pPr>
            <a:r>
              <a:rPr sz="1150" b="0" i="0">
                <a:solidFill>
                  <a:srgbClr val="5A7278"/>
                </a:solidFill>
                <a:latin typeface="Calibri"/>
              </a:rPr>
              <a:t>Gốc tụ hợp chưa khai báo thao tác → sinh đủ CRUD chuẩn</a:t>
            </a:r>
          </a:p>
        </p:txBody>
      </p:sp>
      <p:sp>
        <p:nvSpPr>
          <p:cNvPr id="8" name="Oval 7"/>
          <p:cNvSpPr/>
          <p:nvPr/>
        </p:nvSpPr>
        <p:spPr>
          <a:xfrm>
            <a:off x="640080" y="3886200"/>
            <a:ext cx="384048" cy="38404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3</a:t>
            </a:r>
          </a:p>
        </p:txBody>
      </p:sp>
      <p:sp>
        <p:nvSpPr>
          <p:cNvPr id="9" name="TextBox 8"/>
          <p:cNvSpPr txBox="1"/>
          <p:nvPr/>
        </p:nvSpPr>
        <p:spPr>
          <a:xfrm>
            <a:off x="1234440" y="3849624"/>
            <a:ext cx="5669280" cy="1051560"/>
          </a:xfrm>
          <a:prstGeom prst="rect">
            <a:avLst/>
          </a:prstGeom>
          <a:noFill/>
        </p:spPr>
        <p:txBody>
          <a:bodyPr wrap="square" anchor="t" lIns="0" rIns="0" tIns="0" bIns="0">
            <a:spAutoFit/>
          </a:bodyPr>
          <a:lstStyle/>
          <a:p>
            <a:pPr algn="l">
              <a:spcAft>
                <a:spcPts val="200"/>
              </a:spcAft>
            </a:pPr>
            <a:r>
              <a:rPr sz="1400" b="1" i="0">
                <a:solidFill>
                  <a:srgbClr val="17292D"/>
                </a:solidFill>
                <a:latin typeface="Calibri"/>
              </a:rPr>
              <a:t>Kho lưu trữ tự động</a:t>
            </a:r>
          </a:p>
          <a:p>
            <a:pPr algn="l">
              <a:lnSpc>
                <a:spcPct val="108000"/>
              </a:lnSpc>
            </a:pPr>
            <a:r>
              <a:rPr sz="1150" b="0" i="0">
                <a:solidFill>
                  <a:srgbClr val="5A7278"/>
                </a:solidFill>
                <a:latin typeface="Calibri"/>
              </a:rPr>
              <a:t>Mỗi gốc tụ hợp nhận một giao diện truy cập dữ liệu tương ứng</a:t>
            </a:r>
          </a:p>
        </p:txBody>
      </p:sp>
      <p:sp>
        <p:nvSpPr>
          <p:cNvPr id="10" name="Oval 9"/>
          <p:cNvSpPr/>
          <p:nvPr/>
        </p:nvSpPr>
        <p:spPr>
          <a:xfrm>
            <a:off x="640080" y="4965192"/>
            <a:ext cx="384048" cy="38404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4</a:t>
            </a:r>
          </a:p>
        </p:txBody>
      </p:sp>
      <p:sp>
        <p:nvSpPr>
          <p:cNvPr id="11" name="TextBox 10"/>
          <p:cNvSpPr txBox="1"/>
          <p:nvPr/>
        </p:nvSpPr>
        <p:spPr>
          <a:xfrm>
            <a:off x="1234440" y="4928616"/>
            <a:ext cx="5669280" cy="1051560"/>
          </a:xfrm>
          <a:prstGeom prst="rect">
            <a:avLst/>
          </a:prstGeom>
          <a:noFill/>
        </p:spPr>
        <p:txBody>
          <a:bodyPr wrap="square" anchor="t" lIns="0" rIns="0" tIns="0" bIns="0">
            <a:spAutoFit/>
          </a:bodyPr>
          <a:lstStyle/>
          <a:p>
            <a:pPr algn="l">
              <a:spcAft>
                <a:spcPts val="200"/>
              </a:spcAft>
            </a:pPr>
            <a:r>
              <a:rPr sz="1400" b="1" i="0">
                <a:solidFill>
                  <a:srgbClr val="17292D"/>
                </a:solidFill>
                <a:latin typeface="Calibri"/>
              </a:rPr>
              <a:t>Lan truyền quyền (RBAC₁)</a:t>
            </a:r>
          </a:p>
          <a:p>
            <a:pPr algn="l">
              <a:lnSpc>
                <a:spcPct val="108000"/>
              </a:lnSpc>
            </a:pPr>
            <a:r>
              <a:rPr sz="1150" b="0" i="0">
                <a:solidFill>
                  <a:srgbClr val="5A7278"/>
                </a:solidFill>
                <a:latin typeface="Calibri"/>
              </a:rPr>
              <a:t>Quyền vai trò cha = quyền khai báo + quyền mọi vai trò con — lặp đến điểm bất động, hội tụ với phân cấp nhiều tầng</a:t>
            </a:r>
          </a:p>
        </p:txBody>
      </p:sp>
      <p:sp>
        <p:nvSpPr>
          <p:cNvPr id="12" name="Rounded Rectangle 11"/>
          <p:cNvSpPr/>
          <p:nvPr/>
        </p:nvSpPr>
        <p:spPr>
          <a:xfrm>
            <a:off x="7223760" y="1691640"/>
            <a:ext cx="4389120" cy="1737360"/>
          </a:xfrm>
          <a:prstGeom prst="roundRect">
            <a:avLst>
              <a:gd name="adj" fmla="val 5500"/>
            </a:avLst>
          </a:prstGeom>
          <a:solidFill>
            <a:srgbClr val="F5FAF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828800"/>
            <a:ext cx="3931920" cy="320040"/>
          </a:xfrm>
          <a:prstGeom prst="rect">
            <a:avLst/>
          </a:prstGeom>
          <a:noFill/>
        </p:spPr>
        <p:txBody>
          <a:bodyPr wrap="square" anchor="t" lIns="0" rIns="0" tIns="0" bIns="0">
            <a:spAutoFit/>
          </a:bodyPr>
          <a:lstStyle/>
          <a:p>
            <a:pPr algn="l"/>
            <a:r>
              <a:rPr sz="1200" b="1" i="0">
                <a:solidFill>
                  <a:srgbClr val="028090"/>
                </a:solidFill>
                <a:latin typeface="Calibri"/>
              </a:rPr>
              <a:t>Vai trò cha — Admin</a:t>
            </a:r>
          </a:p>
        </p:txBody>
      </p:sp>
      <p:sp>
        <p:nvSpPr>
          <p:cNvPr id="14" name="Rounded Rectangle 13"/>
          <p:cNvSpPr/>
          <p:nvPr/>
        </p:nvSpPr>
        <p:spPr>
          <a:xfrm>
            <a:off x="7452360" y="2240280"/>
            <a:ext cx="1051560" cy="365760"/>
          </a:xfrm>
          <a:prstGeom prst="roundRect">
            <a:avLst>
              <a:gd name="adj" fmla="val 5500"/>
            </a:avLst>
          </a:prstGeom>
          <a:solidFill>
            <a:srgbClr val="FFFFFF"/>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52360" y="2240280"/>
            <a:ext cx="1051560" cy="365760"/>
          </a:xfrm>
          <a:prstGeom prst="rect">
            <a:avLst/>
          </a:prstGeom>
          <a:noFill/>
        </p:spPr>
        <p:txBody>
          <a:bodyPr wrap="square" anchor="ctr" lIns="0" rIns="0" tIns="0" bIns="0">
            <a:spAutoFit/>
          </a:bodyPr>
          <a:lstStyle/>
          <a:p>
            <a:pPr algn="ctr"/>
            <a:r>
              <a:rPr sz="900" b="1" i="0">
                <a:solidFill>
                  <a:srgbClr val="17292D"/>
                </a:solidFill>
                <a:latin typeface="Courier New"/>
              </a:rPr>
              <a:t>MANAGE</a:t>
            </a:r>
          </a:p>
        </p:txBody>
      </p:sp>
      <p:sp>
        <p:nvSpPr>
          <p:cNvPr id="16" name="Rounded Rectangle 15"/>
          <p:cNvSpPr/>
          <p:nvPr/>
        </p:nvSpPr>
        <p:spPr>
          <a:xfrm>
            <a:off x="8641080" y="2240280"/>
            <a:ext cx="1051560" cy="36576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41080" y="2240280"/>
            <a:ext cx="1051560" cy="365760"/>
          </a:xfrm>
          <a:prstGeom prst="rect">
            <a:avLst/>
          </a:prstGeom>
          <a:noFill/>
        </p:spPr>
        <p:txBody>
          <a:bodyPr wrap="square" anchor="ctr" lIns="0" rIns="0" tIns="0" bIns="0">
            <a:spAutoFit/>
          </a:bodyPr>
          <a:lstStyle/>
          <a:p>
            <a:pPr algn="ctr"/>
            <a:r>
              <a:rPr sz="900" b="1" i="0">
                <a:solidFill>
                  <a:srgbClr val="5A7278"/>
                </a:solidFill>
                <a:latin typeface="Courier New"/>
              </a:rPr>
              <a:t>ENROLL</a:t>
            </a:r>
          </a:p>
        </p:txBody>
      </p:sp>
      <p:sp>
        <p:nvSpPr>
          <p:cNvPr id="18" name="Rounded Rectangle 17"/>
          <p:cNvSpPr/>
          <p:nvPr/>
        </p:nvSpPr>
        <p:spPr>
          <a:xfrm>
            <a:off x="9829800" y="2240280"/>
            <a:ext cx="1051560" cy="36576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29800" y="2240280"/>
            <a:ext cx="1051560" cy="365760"/>
          </a:xfrm>
          <a:prstGeom prst="rect">
            <a:avLst/>
          </a:prstGeom>
          <a:noFill/>
        </p:spPr>
        <p:txBody>
          <a:bodyPr wrap="square" anchor="ctr" lIns="0" rIns="0" tIns="0" bIns="0">
            <a:spAutoFit/>
          </a:bodyPr>
          <a:lstStyle/>
          <a:p>
            <a:pPr algn="ctr"/>
            <a:r>
              <a:rPr sz="900" b="1" i="0">
                <a:solidFill>
                  <a:srgbClr val="5A7278"/>
                </a:solidFill>
                <a:latin typeface="Courier New"/>
              </a:rPr>
              <a:t>VIEW</a:t>
            </a:r>
          </a:p>
        </p:txBody>
      </p:sp>
      <p:sp>
        <p:nvSpPr>
          <p:cNvPr id="20" name="TextBox 19"/>
          <p:cNvSpPr txBox="1"/>
          <p:nvPr/>
        </p:nvSpPr>
        <p:spPr>
          <a:xfrm>
            <a:off x="7452360" y="2697480"/>
            <a:ext cx="3931920" cy="548640"/>
          </a:xfrm>
          <a:prstGeom prst="rect">
            <a:avLst/>
          </a:prstGeom>
          <a:noFill/>
        </p:spPr>
        <p:txBody>
          <a:bodyPr wrap="square" anchor="t" lIns="0" rIns="0" tIns="0" bIns="0">
            <a:spAutoFit/>
          </a:bodyPr>
          <a:lstStyle/>
          <a:p>
            <a:pPr algn="l"/>
            <a:r>
              <a:rPr sz="950" b="0" i="1">
                <a:solidFill>
                  <a:srgbClr val="5A7278"/>
                </a:solidFill>
                <a:latin typeface="Calibri"/>
              </a:rPr>
              <a:t>quyền khai báo + quyền kế thừa (nhạt)</a:t>
            </a:r>
          </a:p>
        </p:txBody>
      </p:sp>
      <p:sp>
        <p:nvSpPr>
          <p:cNvPr id="21" name="Right Arrow 20"/>
          <p:cNvSpPr/>
          <p:nvPr/>
        </p:nvSpPr>
        <p:spPr>
          <a:xfrm rot="16200000">
            <a:off x="9308592" y="3611880"/>
            <a:ext cx="219456" cy="502920"/>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46920" y="3611880"/>
            <a:ext cx="2011680" cy="457200"/>
          </a:xfrm>
          <a:prstGeom prst="rect">
            <a:avLst/>
          </a:prstGeom>
          <a:noFill/>
        </p:spPr>
        <p:txBody>
          <a:bodyPr wrap="square" anchor="t" lIns="0" rIns="0" tIns="0" bIns="0">
            <a:spAutoFit/>
          </a:bodyPr>
          <a:lstStyle/>
          <a:p>
            <a:pPr algn="l"/>
            <a:r>
              <a:rPr sz="950" b="0" i="1">
                <a:solidFill>
                  <a:srgbClr val="5A7278"/>
                </a:solidFill>
                <a:latin typeface="Calibri"/>
              </a:rPr>
              <a:t>lan truyền lên</a:t>
            </a:r>
          </a:p>
        </p:txBody>
      </p:sp>
      <p:sp>
        <p:nvSpPr>
          <p:cNvPr id="23" name="Rounded Rectangle 22"/>
          <p:cNvSpPr/>
          <p:nvPr/>
        </p:nvSpPr>
        <p:spPr>
          <a:xfrm>
            <a:off x="7223760" y="4160520"/>
            <a:ext cx="4389120" cy="1417320"/>
          </a:xfrm>
          <a:prstGeom prst="roundRect">
            <a:avLst>
              <a:gd name="adj" fmla="val 5500"/>
            </a:avLst>
          </a:prstGeom>
          <a:solidFill>
            <a:srgbClr val="F5FAF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97680"/>
            <a:ext cx="3931920" cy="320040"/>
          </a:xfrm>
          <a:prstGeom prst="rect">
            <a:avLst/>
          </a:prstGeom>
          <a:noFill/>
        </p:spPr>
        <p:txBody>
          <a:bodyPr wrap="square" anchor="t" lIns="0" rIns="0" tIns="0" bIns="0">
            <a:spAutoFit/>
          </a:bodyPr>
          <a:lstStyle/>
          <a:p>
            <a:pPr algn="l"/>
            <a:r>
              <a:rPr sz="1200" b="1" i="0">
                <a:solidFill>
                  <a:srgbClr val="028090"/>
                </a:solidFill>
                <a:latin typeface="Calibri"/>
              </a:rPr>
              <a:t>Vai trò con — Officer</a:t>
            </a:r>
          </a:p>
        </p:txBody>
      </p:sp>
      <p:sp>
        <p:nvSpPr>
          <p:cNvPr id="25" name="Rounded Rectangle 24"/>
          <p:cNvSpPr/>
          <p:nvPr/>
        </p:nvSpPr>
        <p:spPr>
          <a:xfrm>
            <a:off x="7452360" y="4709160"/>
            <a:ext cx="1051560" cy="365760"/>
          </a:xfrm>
          <a:prstGeom prst="roundRect">
            <a:avLst>
              <a:gd name="adj" fmla="val 5500"/>
            </a:avLst>
          </a:prstGeom>
          <a:solidFill>
            <a:srgbClr val="FFFFFF"/>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2360" y="4709160"/>
            <a:ext cx="1051560" cy="365760"/>
          </a:xfrm>
          <a:prstGeom prst="rect">
            <a:avLst/>
          </a:prstGeom>
          <a:noFill/>
        </p:spPr>
        <p:txBody>
          <a:bodyPr wrap="square" anchor="ctr" lIns="0" rIns="0" tIns="0" bIns="0">
            <a:spAutoFit/>
          </a:bodyPr>
          <a:lstStyle/>
          <a:p>
            <a:pPr algn="ctr"/>
            <a:r>
              <a:rPr sz="900" b="1" i="0">
                <a:solidFill>
                  <a:srgbClr val="17292D"/>
                </a:solidFill>
                <a:latin typeface="Courier New"/>
              </a:rPr>
              <a:t>ENROLL</a:t>
            </a:r>
          </a:p>
        </p:txBody>
      </p:sp>
      <p:sp>
        <p:nvSpPr>
          <p:cNvPr id="27" name="Rounded Rectangle 26"/>
          <p:cNvSpPr/>
          <p:nvPr/>
        </p:nvSpPr>
        <p:spPr>
          <a:xfrm>
            <a:off x="8641080" y="4709160"/>
            <a:ext cx="1051560" cy="365760"/>
          </a:xfrm>
          <a:prstGeom prst="roundRect">
            <a:avLst>
              <a:gd name="adj" fmla="val 5500"/>
            </a:avLst>
          </a:prstGeom>
          <a:solidFill>
            <a:srgbClr val="FFFFFF"/>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41080" y="4709160"/>
            <a:ext cx="1051560" cy="365760"/>
          </a:xfrm>
          <a:prstGeom prst="rect">
            <a:avLst/>
          </a:prstGeom>
          <a:noFill/>
        </p:spPr>
        <p:txBody>
          <a:bodyPr wrap="square" anchor="ctr" lIns="0" rIns="0" tIns="0" bIns="0">
            <a:spAutoFit/>
          </a:bodyPr>
          <a:lstStyle/>
          <a:p>
            <a:pPr algn="ctr"/>
            <a:r>
              <a:rPr sz="900" b="1" i="0">
                <a:solidFill>
                  <a:srgbClr val="17292D"/>
                </a:solidFill>
                <a:latin typeface="Courier New"/>
              </a:rPr>
              <a:t>VIEW</a:t>
            </a:r>
          </a:p>
        </p:txBody>
      </p:sp>
      <p:sp>
        <p:nvSpPr>
          <p:cNvPr id="29" name="TextBox 28"/>
          <p:cNvSpPr txBox="1"/>
          <p:nvPr/>
        </p:nvSpPr>
        <p:spPr>
          <a:xfrm>
            <a:off x="594360" y="5989320"/>
            <a:ext cx="11018520" cy="457200"/>
          </a:xfrm>
          <a:prstGeom prst="rect">
            <a:avLst/>
          </a:prstGeom>
          <a:noFill/>
        </p:spPr>
        <p:txBody>
          <a:bodyPr wrap="square" anchor="t" lIns="0" rIns="0" tIns="0" bIns="0">
            <a:spAutoFit/>
          </a:bodyPr>
          <a:lstStyle/>
          <a:p>
            <a:pPr algn="ctr"/>
            <a:r>
              <a:rPr sz="1200" b="0" i="1">
                <a:solidFill>
                  <a:srgbClr val="5A7278"/>
                </a:solidFill>
                <a:latin typeface="Calibri"/>
              </a:rPr>
              <a:t>Người vẽ chỉ đặc tả phần đặc thù; phần lặp lại theo quy ước do phương pháp tự bổ sung.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2 · Phương pháp: đặc tả &amp; tích hợp RBAC vào Domain Model</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Bước 4 — Kiểm chứng ràng buộc</a:t>
            </a:r>
          </a:p>
        </p:txBody>
      </p:sp>
      <p:sp>
        <p:nvSpPr>
          <p:cNvPr id="4" name="Rounded Rectangle 3"/>
          <p:cNvSpPr/>
          <p:nvPr/>
        </p:nvSpPr>
        <p:spPr>
          <a:xfrm>
            <a:off x="594360" y="1691640"/>
            <a:ext cx="6035040" cy="1298448"/>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56232"/>
            <a:ext cx="5577840" cy="969264"/>
          </a:xfrm>
          <a:prstGeom prst="rect">
            <a:avLst/>
          </a:prstGeom>
          <a:noFill/>
        </p:spPr>
        <p:txBody>
          <a:bodyPr wrap="square" anchor="t" lIns="0" rIns="0" tIns="0" bIns="0">
            <a:spAutoFit/>
          </a:bodyPr>
          <a:lstStyle/>
          <a:p>
            <a:pPr algn="l">
              <a:spcAft>
                <a:spcPts val="400"/>
              </a:spcAft>
            </a:pPr>
            <a:r>
              <a:rPr sz="1350" b="1" i="0">
                <a:solidFill>
                  <a:srgbClr val="028090"/>
                </a:solidFill>
                <a:latin typeface="Calibri"/>
              </a:rPr>
              <a:t>RBAC₀ — dạng đúng</a:t>
            </a:r>
          </a:p>
          <a:p>
            <a:pPr algn="l">
              <a:lnSpc>
                <a:spcPct val="108000"/>
              </a:lnSpc>
            </a:pPr>
            <a:r>
              <a:rPr sz="1100" b="0" i="0">
                <a:solidFill>
                  <a:srgbClr val="17292D"/>
                </a:solidFill>
                <a:latin typeface="Calibri"/>
              </a:rPr>
              <a:t>Tên vai trò duy nhất; mọi quyền đều có tài nguyên + thao tác; quyền chỉ trỏ tới lớp miền tồn tại</a:t>
            </a:r>
          </a:p>
        </p:txBody>
      </p:sp>
      <p:sp>
        <p:nvSpPr>
          <p:cNvPr id="6" name="Rounded Rectangle 5"/>
          <p:cNvSpPr/>
          <p:nvPr/>
        </p:nvSpPr>
        <p:spPr>
          <a:xfrm>
            <a:off x="594360" y="3118104"/>
            <a:ext cx="6035040" cy="1298448"/>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282696"/>
            <a:ext cx="5577840" cy="969264"/>
          </a:xfrm>
          <a:prstGeom prst="rect">
            <a:avLst/>
          </a:prstGeom>
          <a:noFill/>
        </p:spPr>
        <p:txBody>
          <a:bodyPr wrap="square" anchor="t" lIns="0" rIns="0" tIns="0" bIns="0">
            <a:spAutoFit/>
          </a:bodyPr>
          <a:lstStyle/>
          <a:p>
            <a:pPr algn="l">
              <a:spcAft>
                <a:spcPts val="400"/>
              </a:spcAft>
            </a:pPr>
            <a:r>
              <a:rPr sz="1350" b="1" i="0">
                <a:solidFill>
                  <a:srgbClr val="028090"/>
                </a:solidFill>
                <a:latin typeface="Calibri"/>
              </a:rPr>
              <a:t>RBAC₁ — phân cấp hợp lệ</a:t>
            </a:r>
          </a:p>
          <a:p>
            <a:pPr algn="l">
              <a:lnSpc>
                <a:spcPct val="108000"/>
              </a:lnSpc>
            </a:pPr>
            <a:r>
              <a:rPr sz="1100" b="0" i="0">
                <a:solidFill>
                  <a:srgbClr val="17292D"/>
                </a:solidFill>
                <a:latin typeface="Calibri"/>
              </a:rPr>
              <a:t>Quan hệ kế thừa vai trò không chứa chu trình; lan truyền quyền hội tụ</a:t>
            </a:r>
          </a:p>
        </p:txBody>
      </p:sp>
      <p:sp>
        <p:nvSpPr>
          <p:cNvPr id="8" name="Rounded Rectangle 7"/>
          <p:cNvSpPr/>
          <p:nvPr/>
        </p:nvSpPr>
        <p:spPr>
          <a:xfrm>
            <a:off x="594360" y="4544568"/>
            <a:ext cx="6035040" cy="1298448"/>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709160"/>
            <a:ext cx="5577840" cy="969264"/>
          </a:xfrm>
          <a:prstGeom prst="rect">
            <a:avLst/>
          </a:prstGeom>
          <a:noFill/>
        </p:spPr>
        <p:txBody>
          <a:bodyPr wrap="square" anchor="t" lIns="0" rIns="0" tIns="0" bIns="0">
            <a:spAutoFit/>
          </a:bodyPr>
          <a:lstStyle/>
          <a:p>
            <a:pPr algn="l">
              <a:spcAft>
                <a:spcPts val="400"/>
              </a:spcAft>
            </a:pPr>
            <a:r>
              <a:rPr sz="1350" b="1" i="0">
                <a:solidFill>
                  <a:srgbClr val="028090"/>
                </a:solidFill>
                <a:latin typeface="Calibri"/>
              </a:rPr>
              <a:t>RBAC₂ — ràng buộc tách nhiệm</a:t>
            </a:r>
          </a:p>
          <a:p>
            <a:pPr algn="l">
              <a:lnSpc>
                <a:spcPct val="108000"/>
              </a:lnSpc>
            </a:pPr>
            <a:r>
              <a:rPr sz="1100" b="0" i="0">
                <a:solidFill>
                  <a:srgbClr val="17292D"/>
                </a:solidFill>
                <a:latin typeface="Calibri"/>
              </a:rPr>
              <a:t>SSD: hai vai trò xung khắc không cùng được gán; DSD: không cùng kích hoạt trong một phiên; giới hạn số người giữ vai trò</a:t>
            </a:r>
          </a:p>
        </p:txBody>
      </p:sp>
      <p:sp>
        <p:nvSpPr>
          <p:cNvPr id="10" name="Rounded Rectangle 9"/>
          <p:cNvSpPr/>
          <p:nvPr/>
        </p:nvSpPr>
        <p:spPr>
          <a:xfrm>
            <a:off x="6903720" y="1691640"/>
            <a:ext cx="4709160" cy="173736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0" y="1856232"/>
            <a:ext cx="4251960" cy="1408176"/>
          </a:xfrm>
          <a:prstGeom prst="rect">
            <a:avLst/>
          </a:prstGeom>
          <a:noFill/>
        </p:spPr>
        <p:txBody>
          <a:bodyPr wrap="square" anchor="t" lIns="0" rIns="0" tIns="0" bIns="0">
            <a:spAutoFit/>
          </a:bodyPr>
          <a:lstStyle/>
          <a:p>
            <a:pPr algn="l">
              <a:spcAft>
                <a:spcPts val="400"/>
              </a:spcAft>
            </a:pPr>
            <a:r>
              <a:rPr sz="1300" b="1" i="0">
                <a:solidFill>
                  <a:srgbClr val="028090"/>
                </a:solidFill>
                <a:latin typeface="Calibri"/>
              </a:rPr>
              <a:t>Hai thời điểm kiểm chứng</a:t>
            </a:r>
          </a:p>
          <a:p>
            <a:pPr algn="l">
              <a:lnSpc>
                <a:spcPct val="108000"/>
              </a:lnSpc>
            </a:pPr>
            <a:r>
              <a:rPr sz="1150" b="0" i="0">
                <a:solidFill>
                  <a:srgbClr val="17292D"/>
                </a:solidFill>
                <a:latin typeface="Calibri"/>
              </a:rPr>
              <a:t>Lúc thiết kế: đánh giá bất biến trên mô hình — chặn đặc tả sai trước khi sinh mã.
Lúc vận hành: điểm kiểm soát trong mã sinh ra thực thi lại các ràng buộc động.</a:t>
            </a:r>
          </a:p>
        </p:txBody>
      </p:sp>
      <p:sp>
        <p:nvSpPr>
          <p:cNvPr id="12" name="Rounded Rectangle 11"/>
          <p:cNvSpPr/>
          <p:nvPr/>
        </p:nvSpPr>
        <p:spPr>
          <a:xfrm>
            <a:off x="6903720" y="3611880"/>
            <a:ext cx="4709160" cy="1737360"/>
          </a:xfrm>
          <a:prstGeom prst="roundRect">
            <a:avLst>
              <a:gd name="adj" fmla="val 5500"/>
            </a:avLst>
          </a:prstGeom>
          <a:solidFill>
            <a:srgbClr val="0A3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78040" y="3767328"/>
            <a:ext cx="4206240" cy="320040"/>
          </a:xfrm>
          <a:prstGeom prst="rect">
            <a:avLst/>
          </a:prstGeom>
          <a:noFill/>
        </p:spPr>
        <p:txBody>
          <a:bodyPr wrap="square" anchor="t" lIns="0" rIns="0" tIns="0" bIns="0">
            <a:spAutoFit/>
          </a:bodyPr>
          <a:lstStyle/>
          <a:p>
            <a:pPr algn="l"/>
            <a:r>
              <a:rPr sz="1150" b="1" i="0">
                <a:solidFill>
                  <a:srgbClr val="02C39A"/>
                </a:solidFill>
                <a:latin typeface="Calibri"/>
              </a:rPr>
              <a:t>Ví dụ chẩn đoán (mức khái niệm)</a:t>
            </a:r>
          </a:p>
        </p:txBody>
      </p:sp>
      <p:sp>
        <p:nvSpPr>
          <p:cNvPr id="14" name="TextBox 13"/>
          <p:cNvSpPr txBox="1"/>
          <p:nvPr/>
        </p:nvSpPr>
        <p:spPr>
          <a:xfrm>
            <a:off x="7178040" y="4114800"/>
            <a:ext cx="4206240" cy="1143000"/>
          </a:xfrm>
          <a:prstGeom prst="rect">
            <a:avLst/>
          </a:prstGeom>
          <a:noFill/>
        </p:spPr>
        <p:txBody>
          <a:bodyPr wrap="square" anchor="t" lIns="0" rIns="0" tIns="0" bIns="0">
            <a:spAutoFit/>
          </a:bodyPr>
          <a:lstStyle/>
          <a:p>
            <a:pPr algn="l">
              <a:lnSpc>
                <a:spcPct val="115000"/>
              </a:lnSpc>
            </a:pPr>
            <a:r>
              <a:rPr sz="1150" b="0" i="0">
                <a:solidFill>
                  <a:srgbClr val="FFFFFF"/>
                </a:solidFill>
                <a:latin typeface="Calibri"/>
              </a:rPr>
              <a:t>Người dùng được gán đồng thời hai vai trò xung khắc «SSD» → từ chối, thông báo trỏ về dòng khai báo trong đặc tả.</a:t>
            </a:r>
          </a:p>
        </p:txBody>
      </p:sp>
      <p:sp>
        <p:nvSpPr>
          <p:cNvPr id="15" name="TextBox 14"/>
          <p:cNvSpPr txBox="1"/>
          <p:nvPr/>
        </p:nvSpPr>
        <p:spPr>
          <a:xfrm>
            <a:off x="594360" y="5989320"/>
            <a:ext cx="11018520" cy="457200"/>
          </a:xfrm>
          <a:prstGeom prst="rect">
            <a:avLst/>
          </a:prstGeom>
          <a:noFill/>
        </p:spPr>
        <p:txBody>
          <a:bodyPr wrap="square" anchor="t" lIns="0" rIns="0" tIns="0" bIns="0">
            <a:spAutoFit/>
          </a:bodyPr>
          <a:lstStyle/>
          <a:p>
            <a:pPr algn="ctr"/>
            <a:r>
              <a:rPr sz="1200" b="0" i="1">
                <a:solidFill>
                  <a:srgbClr val="5A7278"/>
                </a:solidFill>
                <a:latin typeface="Calibri"/>
              </a:rPr>
              <a:t>Mô hình chỉ được chuyển sang Bước 5 khi mọi bất biến thỏa mãn — lỗi phân quyền không lọt xuống mã.</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2 · Phương pháp: đặc tả &amp; tích hợp RBAC vào Domain Model</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Bước 5 — Sinh mã theo mẫu</a:t>
            </a:r>
          </a:p>
        </p:txBody>
      </p:sp>
      <p:sp>
        <p:nvSpPr>
          <p:cNvPr id="4" name="TextBox 3"/>
          <p:cNvSpPr txBox="1"/>
          <p:nvPr/>
        </p:nvSpPr>
        <p:spPr>
          <a:xfrm>
            <a:off x="594360" y="1554480"/>
            <a:ext cx="11018520" cy="365760"/>
          </a:xfrm>
          <a:prstGeom prst="rect">
            <a:avLst/>
          </a:prstGeom>
          <a:noFill/>
        </p:spPr>
        <p:txBody>
          <a:bodyPr wrap="square" anchor="t" lIns="0" rIns="0" tIns="0" bIns="0">
            <a:spAutoFit/>
          </a:bodyPr>
          <a:lstStyle/>
          <a:p>
            <a:pPr algn="l"/>
            <a:r>
              <a:rPr sz="1350" b="1" i="0">
                <a:solidFill>
                  <a:srgbClr val="17292D"/>
                </a:solidFill>
                <a:latin typeface="Calibri"/>
              </a:rPr>
              <a:t>Ánh xạ khái niệm mô hình → sản phẩm mã (mức khái niệm)</a:t>
            </a:r>
          </a:p>
        </p:txBody>
      </p:sp>
      <p:sp>
        <p:nvSpPr>
          <p:cNvPr id="5" name="Rounded Rectangle 4"/>
          <p:cNvSpPr/>
          <p:nvPr/>
        </p:nvSpPr>
        <p:spPr>
          <a:xfrm>
            <a:off x="594360" y="1965960"/>
            <a:ext cx="4937760" cy="621792"/>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65960"/>
            <a:ext cx="4480560" cy="621792"/>
          </a:xfrm>
          <a:prstGeom prst="rect">
            <a:avLst/>
          </a:prstGeom>
          <a:noFill/>
        </p:spPr>
        <p:txBody>
          <a:bodyPr wrap="square" anchor="ctr" lIns="0" rIns="0" tIns="0" bIns="0">
            <a:spAutoFit/>
          </a:bodyPr>
          <a:lstStyle/>
          <a:p>
            <a:pPr algn="l"/>
            <a:r>
              <a:rPr sz="1200" b="1" i="0">
                <a:solidFill>
                  <a:srgbClr val="028090"/>
                </a:solidFill>
                <a:latin typeface="Calibri"/>
              </a:rPr>
              <a:t>Bounded context</a:t>
            </a:r>
          </a:p>
        </p:txBody>
      </p:sp>
      <p:sp>
        <p:nvSpPr>
          <p:cNvPr id="7" name="Right Arrow 6"/>
          <p:cNvSpPr/>
          <p:nvPr/>
        </p:nvSpPr>
        <p:spPr>
          <a:xfrm>
            <a:off x="5623560" y="2139696"/>
            <a:ext cx="365760" cy="274320"/>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26480" y="1965960"/>
            <a:ext cx="5486400" cy="621792"/>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65960"/>
            <a:ext cx="5029200" cy="621792"/>
          </a:xfrm>
          <a:prstGeom prst="rect">
            <a:avLst/>
          </a:prstGeom>
          <a:noFill/>
        </p:spPr>
        <p:txBody>
          <a:bodyPr wrap="square" anchor="ctr" lIns="0" rIns="0" tIns="0" bIns="0">
            <a:spAutoFit/>
          </a:bodyPr>
          <a:lstStyle/>
          <a:p>
            <a:pPr algn="l"/>
            <a:r>
              <a:rPr sz="1200" b="0" i="0">
                <a:solidFill>
                  <a:srgbClr val="17292D"/>
                </a:solidFill>
                <a:latin typeface="Calibri"/>
              </a:rPr>
              <a:t>Mô-đun ứng dụng phân tầng riêng</a:t>
            </a:r>
          </a:p>
        </p:txBody>
      </p:sp>
      <p:sp>
        <p:nvSpPr>
          <p:cNvPr id="10" name="Rounded Rectangle 9"/>
          <p:cNvSpPr/>
          <p:nvPr/>
        </p:nvSpPr>
        <p:spPr>
          <a:xfrm>
            <a:off x="594360" y="2715768"/>
            <a:ext cx="4937760" cy="621792"/>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715768"/>
            <a:ext cx="4480560" cy="621792"/>
          </a:xfrm>
          <a:prstGeom prst="rect">
            <a:avLst/>
          </a:prstGeom>
          <a:noFill/>
        </p:spPr>
        <p:txBody>
          <a:bodyPr wrap="square" anchor="ctr" lIns="0" rIns="0" tIns="0" bIns="0">
            <a:spAutoFit/>
          </a:bodyPr>
          <a:lstStyle/>
          <a:p>
            <a:pPr algn="l"/>
            <a:r>
              <a:rPr sz="1200" b="1" i="0">
                <a:solidFill>
                  <a:srgbClr val="028090"/>
                </a:solidFill>
                <a:latin typeface="Calibri"/>
              </a:rPr>
              <a:t>Lớp miền · giá trị · sự kiện</a:t>
            </a:r>
          </a:p>
        </p:txBody>
      </p:sp>
      <p:sp>
        <p:nvSpPr>
          <p:cNvPr id="12" name="Right Arrow 11"/>
          <p:cNvSpPr/>
          <p:nvPr/>
        </p:nvSpPr>
        <p:spPr>
          <a:xfrm>
            <a:off x="5623560" y="2889503"/>
            <a:ext cx="365760" cy="274320"/>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26480" y="2715768"/>
            <a:ext cx="5486400" cy="621792"/>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715768"/>
            <a:ext cx="5029200" cy="621792"/>
          </a:xfrm>
          <a:prstGeom prst="rect">
            <a:avLst/>
          </a:prstGeom>
          <a:noFill/>
        </p:spPr>
        <p:txBody>
          <a:bodyPr wrap="square" anchor="ctr" lIns="0" rIns="0" tIns="0" bIns="0">
            <a:spAutoFit/>
          </a:bodyPr>
          <a:lstStyle/>
          <a:p>
            <a:pPr algn="l"/>
            <a:r>
              <a:rPr sz="1200" b="0" i="0">
                <a:solidFill>
                  <a:srgbClr val="17292D"/>
                </a:solidFill>
                <a:latin typeface="Calibri"/>
              </a:rPr>
              <a:t>Mã lớp ở tầng miền</a:t>
            </a:r>
          </a:p>
        </p:txBody>
      </p:sp>
      <p:sp>
        <p:nvSpPr>
          <p:cNvPr id="15" name="Rounded Rectangle 14"/>
          <p:cNvSpPr/>
          <p:nvPr/>
        </p:nvSpPr>
        <p:spPr>
          <a:xfrm>
            <a:off x="594360" y="3465575"/>
            <a:ext cx="4937760" cy="621792"/>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465575"/>
            <a:ext cx="4480560" cy="621792"/>
          </a:xfrm>
          <a:prstGeom prst="rect">
            <a:avLst/>
          </a:prstGeom>
          <a:noFill/>
        </p:spPr>
        <p:txBody>
          <a:bodyPr wrap="square" anchor="ctr" lIns="0" rIns="0" tIns="0" bIns="0">
            <a:spAutoFit/>
          </a:bodyPr>
          <a:lstStyle/>
          <a:p>
            <a:pPr algn="l"/>
            <a:r>
              <a:rPr sz="1200" b="1" i="0">
                <a:solidFill>
                  <a:srgbClr val="028090"/>
                </a:solidFill>
                <a:latin typeface="Calibri"/>
              </a:rPr>
              <a:t>Use case (chuỗi hành động)</a:t>
            </a:r>
          </a:p>
        </p:txBody>
      </p:sp>
      <p:sp>
        <p:nvSpPr>
          <p:cNvPr id="17" name="Right Arrow 16"/>
          <p:cNvSpPr/>
          <p:nvPr/>
        </p:nvSpPr>
        <p:spPr>
          <a:xfrm>
            <a:off x="5623560" y="3639311"/>
            <a:ext cx="365760" cy="274320"/>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26480" y="3465575"/>
            <a:ext cx="5486400" cy="621792"/>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465575"/>
            <a:ext cx="5029200" cy="621792"/>
          </a:xfrm>
          <a:prstGeom prst="rect">
            <a:avLst/>
          </a:prstGeom>
          <a:noFill/>
        </p:spPr>
        <p:txBody>
          <a:bodyPr wrap="square" anchor="ctr" lIns="0" rIns="0" tIns="0" bIns="0">
            <a:spAutoFit/>
          </a:bodyPr>
          <a:lstStyle/>
          <a:p>
            <a:pPr algn="l"/>
            <a:r>
              <a:rPr sz="1200" b="0" i="0">
                <a:solidFill>
                  <a:srgbClr val="17292D"/>
                </a:solidFill>
                <a:latin typeface="Calibri"/>
              </a:rPr>
              <a:t>Đơn vị xử lý ở tầng ứng dụng</a:t>
            </a:r>
          </a:p>
        </p:txBody>
      </p:sp>
      <p:sp>
        <p:nvSpPr>
          <p:cNvPr id="20" name="Rounded Rectangle 19"/>
          <p:cNvSpPr/>
          <p:nvPr/>
        </p:nvSpPr>
        <p:spPr>
          <a:xfrm>
            <a:off x="594360" y="4215383"/>
            <a:ext cx="4937760" cy="621792"/>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15383"/>
            <a:ext cx="4480560" cy="621792"/>
          </a:xfrm>
          <a:prstGeom prst="rect">
            <a:avLst/>
          </a:prstGeom>
          <a:noFill/>
        </p:spPr>
        <p:txBody>
          <a:bodyPr wrap="square" anchor="ctr" lIns="0" rIns="0" tIns="0" bIns="0">
            <a:spAutoFit/>
          </a:bodyPr>
          <a:lstStyle/>
          <a:p>
            <a:pPr algn="l"/>
            <a:r>
              <a:rPr sz="1200" b="1" i="0">
                <a:solidFill>
                  <a:srgbClr val="028090"/>
                </a:solidFill>
                <a:latin typeface="Calibri"/>
              </a:rPr>
              <a:t>Vai trò &amp; quyền</a:t>
            </a:r>
          </a:p>
        </p:txBody>
      </p:sp>
      <p:sp>
        <p:nvSpPr>
          <p:cNvPr id="22" name="Right Arrow 21"/>
          <p:cNvSpPr/>
          <p:nvPr/>
        </p:nvSpPr>
        <p:spPr>
          <a:xfrm>
            <a:off x="5623560" y="4389120"/>
            <a:ext cx="365760" cy="274320"/>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126480" y="4215383"/>
            <a:ext cx="5486400" cy="621792"/>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4215383"/>
            <a:ext cx="5029200" cy="621792"/>
          </a:xfrm>
          <a:prstGeom prst="rect">
            <a:avLst/>
          </a:prstGeom>
          <a:noFill/>
        </p:spPr>
        <p:txBody>
          <a:bodyPr wrap="square" anchor="ctr" lIns="0" rIns="0" tIns="0" bIns="0">
            <a:spAutoFit/>
          </a:bodyPr>
          <a:lstStyle/>
          <a:p>
            <a:pPr algn="l"/>
            <a:r>
              <a:rPr sz="1200" b="0" i="0">
                <a:solidFill>
                  <a:srgbClr val="17292D"/>
                </a:solidFill>
                <a:latin typeface="Calibri"/>
              </a:rPr>
              <a:t>Bảng gán quyền + điểm kiểm soát truy cập</a:t>
            </a:r>
          </a:p>
        </p:txBody>
      </p:sp>
      <p:sp>
        <p:nvSpPr>
          <p:cNvPr id="25" name="Rounded Rectangle 24"/>
          <p:cNvSpPr/>
          <p:nvPr/>
        </p:nvSpPr>
        <p:spPr>
          <a:xfrm>
            <a:off x="594360" y="4965192"/>
            <a:ext cx="4937760" cy="621792"/>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965192"/>
            <a:ext cx="4480560" cy="621792"/>
          </a:xfrm>
          <a:prstGeom prst="rect">
            <a:avLst/>
          </a:prstGeom>
          <a:noFill/>
        </p:spPr>
        <p:txBody>
          <a:bodyPr wrap="square" anchor="ctr" lIns="0" rIns="0" tIns="0" bIns="0">
            <a:spAutoFit/>
          </a:bodyPr>
          <a:lstStyle/>
          <a:p>
            <a:pPr algn="l"/>
            <a:r>
              <a:rPr sz="1200" b="1" i="0">
                <a:solidFill>
                  <a:srgbClr val="028090"/>
                </a:solidFill>
                <a:latin typeface="Calibri"/>
              </a:rPr>
              <a:t>Phân cấp vai trò</a:t>
            </a:r>
          </a:p>
        </p:txBody>
      </p:sp>
      <p:sp>
        <p:nvSpPr>
          <p:cNvPr id="27" name="Right Arrow 26"/>
          <p:cNvSpPr/>
          <p:nvPr/>
        </p:nvSpPr>
        <p:spPr>
          <a:xfrm>
            <a:off x="5623560" y="5138928"/>
            <a:ext cx="365760" cy="274320"/>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126480" y="4965192"/>
            <a:ext cx="5486400" cy="621792"/>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4965192"/>
            <a:ext cx="5029200" cy="621792"/>
          </a:xfrm>
          <a:prstGeom prst="rect">
            <a:avLst/>
          </a:prstGeom>
          <a:noFill/>
        </p:spPr>
        <p:txBody>
          <a:bodyPr wrap="square" anchor="ctr" lIns="0" rIns="0" tIns="0" bIns="0">
            <a:spAutoFit/>
          </a:bodyPr>
          <a:lstStyle/>
          <a:p>
            <a:pPr algn="l"/>
            <a:r>
              <a:rPr sz="1200" b="0" i="0">
                <a:solidFill>
                  <a:srgbClr val="17292D"/>
                </a:solidFill>
                <a:latin typeface="Calibri"/>
              </a:rPr>
              <a:t>Cơ chế kế thừa quyền lúc vận hành</a:t>
            </a:r>
          </a:p>
        </p:txBody>
      </p:sp>
      <p:sp>
        <p:nvSpPr>
          <p:cNvPr id="30" name="Rounded Rectangle 29"/>
          <p:cNvSpPr/>
          <p:nvPr/>
        </p:nvSpPr>
        <p:spPr>
          <a:xfrm>
            <a:off x="594360" y="5788152"/>
            <a:ext cx="3584448" cy="91440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952744"/>
            <a:ext cx="3127248" cy="585216"/>
          </a:xfrm>
          <a:prstGeom prst="rect">
            <a:avLst/>
          </a:prstGeom>
          <a:noFill/>
        </p:spPr>
        <p:txBody>
          <a:bodyPr wrap="square" anchor="t" lIns="0" rIns="0" tIns="0" bIns="0">
            <a:spAutoFit/>
          </a:bodyPr>
          <a:lstStyle/>
          <a:p>
            <a:pPr algn="l">
              <a:spcAft>
                <a:spcPts val="400"/>
              </a:spcAft>
            </a:pPr>
            <a:r>
              <a:rPr sz="1200" b="1" i="0">
                <a:solidFill>
                  <a:srgbClr val="028090"/>
                </a:solidFill>
                <a:latin typeface="Calibri"/>
              </a:rPr>
              <a:t>Mẫu logic-less</a:t>
            </a:r>
          </a:p>
          <a:p>
            <a:pPr algn="l">
              <a:lnSpc>
                <a:spcPct val="108000"/>
              </a:lnSpc>
            </a:pPr>
            <a:r>
              <a:rPr sz="1000" b="0" i="0">
                <a:solidFill>
                  <a:srgbClr val="17292D"/>
                </a:solidFill>
                <a:latin typeface="Calibri"/>
              </a:rPr>
              <a:t>Mọi tính toán nằm ở bước chuẩn bị dữ liệu, mẫu chỉ trình bày</a:t>
            </a:r>
          </a:p>
        </p:txBody>
      </p:sp>
      <p:sp>
        <p:nvSpPr>
          <p:cNvPr id="32" name="Rounded Rectangle 31"/>
          <p:cNvSpPr/>
          <p:nvPr/>
        </p:nvSpPr>
        <p:spPr>
          <a:xfrm>
            <a:off x="4306824" y="5788152"/>
            <a:ext cx="3584448" cy="91440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35424" y="5952744"/>
            <a:ext cx="3127248" cy="585216"/>
          </a:xfrm>
          <a:prstGeom prst="rect">
            <a:avLst/>
          </a:prstGeom>
          <a:noFill/>
        </p:spPr>
        <p:txBody>
          <a:bodyPr wrap="square" anchor="t" lIns="0" rIns="0" tIns="0" bIns="0">
            <a:spAutoFit/>
          </a:bodyPr>
          <a:lstStyle/>
          <a:p>
            <a:pPr algn="l">
              <a:spcAft>
                <a:spcPts val="400"/>
              </a:spcAft>
            </a:pPr>
            <a:r>
              <a:rPr sz="1200" b="1" i="0">
                <a:solidFill>
                  <a:srgbClr val="028090"/>
                </a:solidFill>
                <a:latin typeface="Calibri"/>
              </a:rPr>
              <a:t>Chú thích truy vết</a:t>
            </a:r>
          </a:p>
          <a:p>
            <a:pPr algn="l">
              <a:lnSpc>
                <a:spcPct val="108000"/>
              </a:lnSpc>
            </a:pPr>
            <a:r>
              <a:rPr sz="1000" b="0" i="0">
                <a:solidFill>
                  <a:srgbClr val="17292D"/>
                </a:solidFill>
                <a:latin typeface="Calibri"/>
              </a:rPr>
              <a:t>Mỗi tệp sinh ra ghi rõ phần tử mô hình nguồn</a:t>
            </a:r>
          </a:p>
        </p:txBody>
      </p:sp>
      <p:sp>
        <p:nvSpPr>
          <p:cNvPr id="34" name="Rounded Rectangle 33"/>
          <p:cNvSpPr/>
          <p:nvPr/>
        </p:nvSpPr>
        <p:spPr>
          <a:xfrm>
            <a:off x="8019288" y="5788152"/>
            <a:ext cx="3584448" cy="91440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47888" y="5952744"/>
            <a:ext cx="3127248" cy="585216"/>
          </a:xfrm>
          <a:prstGeom prst="rect">
            <a:avLst/>
          </a:prstGeom>
          <a:noFill/>
        </p:spPr>
        <p:txBody>
          <a:bodyPr wrap="square" anchor="t" lIns="0" rIns="0" tIns="0" bIns="0">
            <a:spAutoFit/>
          </a:bodyPr>
          <a:lstStyle/>
          <a:p>
            <a:pPr algn="l">
              <a:spcAft>
                <a:spcPts val="400"/>
              </a:spcAft>
            </a:pPr>
            <a:r>
              <a:rPr sz="1200" b="1" i="0">
                <a:solidFill>
                  <a:srgbClr val="028090"/>
                </a:solidFill>
                <a:latin typeface="Calibri"/>
              </a:rPr>
              <a:t>Sinh lại an toàn</a:t>
            </a:r>
          </a:p>
          <a:p>
            <a:pPr algn="l">
              <a:lnSpc>
                <a:spcPct val="108000"/>
              </a:lnSpc>
            </a:pPr>
            <a:r>
              <a:rPr sz="1000" b="0" i="0">
                <a:solidFill>
                  <a:srgbClr val="17292D"/>
                </a:solidFill>
                <a:latin typeface="Calibri"/>
              </a:rPr>
              <a:t>Đặc tả không đổi → mã không đổi (idempotent)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2 · Phương pháp: đặc tả &amp; tích hợp RBAC vào Domain Model</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Hai đóng góp chính của luận văn</a:t>
            </a:r>
          </a:p>
        </p:txBody>
      </p:sp>
      <p:sp>
        <p:nvSpPr>
          <p:cNvPr id="4" name="Rounded Rectangle 3"/>
          <p:cNvSpPr/>
          <p:nvPr/>
        </p:nvSpPr>
        <p:spPr>
          <a:xfrm>
            <a:off x="594360" y="1645920"/>
            <a:ext cx="5440680" cy="4114800"/>
          </a:xfrm>
          <a:prstGeom prst="roundRect">
            <a:avLst>
              <a:gd name="adj" fmla="val 5500"/>
            </a:avLst>
          </a:prstGeom>
          <a:solidFill>
            <a:srgbClr val="0A3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00600" cy="320040"/>
          </a:xfrm>
          <a:prstGeom prst="rect">
            <a:avLst/>
          </a:prstGeom>
          <a:noFill/>
        </p:spPr>
        <p:txBody>
          <a:bodyPr wrap="square" anchor="t" lIns="0" rIns="0" tIns="0" bIns="0">
            <a:spAutoFit/>
          </a:bodyPr>
          <a:lstStyle/>
          <a:p>
            <a:pPr algn="l"/>
            <a:r>
              <a:rPr sz="1250" b="1" i="0">
                <a:solidFill>
                  <a:srgbClr val="02C39A"/>
                </a:solidFill>
                <a:latin typeface="Calibri"/>
              </a:rPr>
              <a:t>ĐÓNG GÓP 1  ·  NGÔN NGỮ ĐẶC TẢ (DSL)</a:t>
            </a:r>
          </a:p>
        </p:txBody>
      </p:sp>
      <p:sp>
        <p:nvSpPr>
          <p:cNvPr id="6" name="TextBox 5"/>
          <p:cNvSpPr txBox="1"/>
          <p:nvPr/>
        </p:nvSpPr>
        <p:spPr>
          <a:xfrm>
            <a:off x="914400" y="2176272"/>
            <a:ext cx="4800600" cy="685800"/>
          </a:xfrm>
          <a:prstGeom prst="rect">
            <a:avLst/>
          </a:prstGeom>
          <a:noFill/>
        </p:spPr>
        <p:txBody>
          <a:bodyPr wrap="square" anchor="t" lIns="0" rIns="0" tIns="0" bIns="0">
            <a:spAutoFit/>
          </a:bodyPr>
          <a:lstStyle/>
          <a:p>
            <a:pPr algn="l">
              <a:lnSpc>
                <a:spcPct val="105000"/>
              </a:lnSpc>
            </a:pPr>
            <a:r>
              <a:rPr sz="1500" b="1" i="0">
                <a:solidFill>
                  <a:srgbClr val="FFFFFF"/>
                </a:solidFill>
                <a:latin typeface="Cambria"/>
              </a:rPr>
              <a:t>Phát triển DSL đặc tả chính sách RBAC, tích hợp vào Domain Model (DDD)</a:t>
            </a:r>
          </a:p>
        </p:txBody>
      </p:sp>
      <p:sp>
        <p:nvSpPr>
          <p:cNvPr id="7" name="Rounded Rectangle 6"/>
          <p:cNvSpPr/>
          <p:nvPr/>
        </p:nvSpPr>
        <p:spPr>
          <a:xfrm>
            <a:off x="914400" y="2971800"/>
            <a:ext cx="4800600" cy="804672"/>
          </a:xfrm>
          <a:prstGeom prst="roundRect">
            <a:avLst>
              <a:gd name="adj" fmla="val 5500"/>
            </a:avLst>
          </a:prstGeom>
          <a:solidFill>
            <a:srgbClr val="0F454C"/>
          </a:solidFill>
          <a:ln w="9525">
            <a:solidFill>
              <a:srgbClr val="1E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8992" y="3191256"/>
            <a:ext cx="329184" cy="329184"/>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0A3438"/>
                </a:solidFill>
                <a:latin typeface="Calibri"/>
              </a:rPr>
              <a:t>1</a:t>
            </a:r>
          </a:p>
        </p:txBody>
      </p:sp>
      <p:sp>
        <p:nvSpPr>
          <p:cNvPr id="9" name="TextBox 8"/>
          <p:cNvSpPr txBox="1"/>
          <p:nvPr/>
        </p:nvSpPr>
        <p:spPr>
          <a:xfrm>
            <a:off x="1536192" y="3044952"/>
            <a:ext cx="4069080" cy="685800"/>
          </a:xfrm>
          <a:prstGeom prst="rect">
            <a:avLst/>
          </a:prstGeom>
          <a:noFill/>
        </p:spPr>
        <p:txBody>
          <a:bodyPr wrap="square" anchor="ctr" lIns="0" rIns="0" tIns="0" bIns="0">
            <a:spAutoFit/>
          </a:bodyPr>
          <a:lstStyle/>
          <a:p>
            <a:pPr algn="l">
              <a:lnSpc>
                <a:spcPct val="106000"/>
              </a:lnSpc>
            </a:pPr>
            <a:r>
              <a:rPr sz="1050" b="0" i="0">
                <a:solidFill>
                  <a:srgbClr val="FFFFFF"/>
                </a:solidFill>
                <a:latin typeface="Calibri"/>
              </a:rPr>
              <a:t>Cú pháp: RBAC-DSL nhúng trên PlantUML — «Role», quyền NAME : TàiNguyên.thaoTác [phạm vi], phân cấp --|&gt;, ràng buộc «SSD»/«DSD»/«cardinality»</a:t>
            </a:r>
          </a:p>
        </p:txBody>
      </p:sp>
      <p:sp>
        <p:nvSpPr>
          <p:cNvPr id="10" name="Rounded Rectangle 9"/>
          <p:cNvSpPr/>
          <p:nvPr/>
        </p:nvSpPr>
        <p:spPr>
          <a:xfrm>
            <a:off x="914400" y="3886200"/>
            <a:ext cx="4800600" cy="804672"/>
          </a:xfrm>
          <a:prstGeom prst="roundRect">
            <a:avLst>
              <a:gd name="adj" fmla="val 5500"/>
            </a:avLst>
          </a:prstGeom>
          <a:solidFill>
            <a:srgbClr val="0F454C"/>
          </a:solidFill>
          <a:ln w="9525">
            <a:solidFill>
              <a:srgbClr val="1E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8992" y="4105656"/>
            <a:ext cx="329184" cy="329184"/>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0A3438"/>
                </a:solidFill>
                <a:latin typeface="Calibri"/>
              </a:rPr>
              <a:t>2</a:t>
            </a:r>
          </a:p>
        </p:txBody>
      </p:sp>
      <p:sp>
        <p:nvSpPr>
          <p:cNvPr id="12" name="TextBox 11"/>
          <p:cNvSpPr txBox="1"/>
          <p:nvPr/>
        </p:nvSpPr>
        <p:spPr>
          <a:xfrm>
            <a:off x="1536192" y="3959352"/>
            <a:ext cx="4069080" cy="685800"/>
          </a:xfrm>
          <a:prstGeom prst="rect">
            <a:avLst/>
          </a:prstGeom>
          <a:noFill/>
        </p:spPr>
        <p:txBody>
          <a:bodyPr wrap="square" anchor="ctr" lIns="0" rIns="0" tIns="0" bIns="0">
            <a:spAutoFit/>
          </a:bodyPr>
          <a:lstStyle/>
          <a:p>
            <a:pPr algn="l">
              <a:lnSpc>
                <a:spcPct val="106000"/>
              </a:lnSpc>
            </a:pPr>
            <a:r>
              <a:rPr sz="1050" b="0" i="0">
                <a:solidFill>
                  <a:srgbClr val="FFFFFF"/>
                </a:solidFill>
                <a:latin typeface="Calibri"/>
              </a:rPr>
              <a:t>Ngữ nghĩa: định nghĩa qua metamodel hợp nhất 3 concern (DCSL + AGL + RBAC₀/₁) + bất biến OCL hình thức</a:t>
            </a:r>
          </a:p>
        </p:txBody>
      </p:sp>
      <p:sp>
        <p:nvSpPr>
          <p:cNvPr id="13" name="Rounded Rectangle 12"/>
          <p:cNvSpPr/>
          <p:nvPr/>
        </p:nvSpPr>
        <p:spPr>
          <a:xfrm>
            <a:off x="914400" y="4800600"/>
            <a:ext cx="4800600" cy="804672"/>
          </a:xfrm>
          <a:prstGeom prst="roundRect">
            <a:avLst>
              <a:gd name="adj" fmla="val 5500"/>
            </a:avLst>
          </a:prstGeom>
          <a:solidFill>
            <a:srgbClr val="0F454C"/>
          </a:solidFill>
          <a:ln w="9525">
            <a:solidFill>
              <a:srgbClr val="1E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78992" y="5020056"/>
            <a:ext cx="329184" cy="329184"/>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0A3438"/>
                </a:solidFill>
                <a:latin typeface="Calibri"/>
              </a:rPr>
              <a:t>3</a:t>
            </a:r>
          </a:p>
        </p:txBody>
      </p:sp>
      <p:sp>
        <p:nvSpPr>
          <p:cNvPr id="15" name="TextBox 14"/>
          <p:cNvSpPr txBox="1"/>
          <p:nvPr/>
        </p:nvSpPr>
        <p:spPr>
          <a:xfrm>
            <a:off x="1536192" y="4873752"/>
            <a:ext cx="4069080" cy="685800"/>
          </a:xfrm>
          <a:prstGeom prst="rect">
            <a:avLst/>
          </a:prstGeom>
          <a:noFill/>
        </p:spPr>
        <p:txBody>
          <a:bodyPr wrap="square" anchor="ctr" lIns="0" rIns="0" tIns="0" bIns="0">
            <a:spAutoFit/>
          </a:bodyPr>
          <a:lstStyle/>
          <a:p>
            <a:pPr algn="l">
              <a:lnSpc>
                <a:spcPct val="106000"/>
              </a:lnSpc>
            </a:pPr>
            <a:r>
              <a:rPr sz="1050" b="0" i="0">
                <a:solidFill>
                  <a:srgbClr val="FFFFFF"/>
                </a:solidFill>
                <a:latin typeface="Calibri"/>
              </a:rPr>
              <a:t>Tích hợp: chính sách RBAC dệt vào domain model — quyền tham chiếu lớp miền, lan truyền qua phân cấp (fixed-point)</a:t>
            </a:r>
          </a:p>
        </p:txBody>
      </p:sp>
      <p:sp>
        <p:nvSpPr>
          <p:cNvPr id="16" name="Rounded Rectangle 15"/>
          <p:cNvSpPr/>
          <p:nvPr/>
        </p:nvSpPr>
        <p:spPr>
          <a:xfrm>
            <a:off x="6172200" y="1645920"/>
            <a:ext cx="5440680" cy="4114800"/>
          </a:xfrm>
          <a:prstGeom prst="roundRect">
            <a:avLst>
              <a:gd name="adj" fmla="val 5500"/>
            </a:avLst>
          </a:prstGeom>
          <a:solidFill>
            <a:srgbClr val="E9F4F5"/>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828800"/>
            <a:ext cx="4800600" cy="320040"/>
          </a:xfrm>
          <a:prstGeom prst="rect">
            <a:avLst/>
          </a:prstGeom>
          <a:noFill/>
        </p:spPr>
        <p:txBody>
          <a:bodyPr wrap="square" anchor="t" lIns="0" rIns="0" tIns="0" bIns="0">
            <a:spAutoFit/>
          </a:bodyPr>
          <a:lstStyle/>
          <a:p>
            <a:pPr algn="l"/>
            <a:r>
              <a:rPr sz="1250" b="1" i="0">
                <a:solidFill>
                  <a:srgbClr val="028090"/>
                </a:solidFill>
                <a:latin typeface="Calibri"/>
              </a:rPr>
              <a:t>ĐÓNG GÓP 2  ·  CÔNG CỤ &amp; THỰC NGHIỆM</a:t>
            </a:r>
          </a:p>
        </p:txBody>
      </p:sp>
      <p:sp>
        <p:nvSpPr>
          <p:cNvPr id="18" name="TextBox 17"/>
          <p:cNvSpPr txBox="1"/>
          <p:nvPr/>
        </p:nvSpPr>
        <p:spPr>
          <a:xfrm>
            <a:off x="6492240" y="2176272"/>
            <a:ext cx="4800600" cy="685800"/>
          </a:xfrm>
          <a:prstGeom prst="rect">
            <a:avLst/>
          </a:prstGeom>
          <a:noFill/>
        </p:spPr>
        <p:txBody>
          <a:bodyPr wrap="square" anchor="t" lIns="0" rIns="0" tIns="0" bIns="0">
            <a:spAutoFit/>
          </a:bodyPr>
          <a:lstStyle/>
          <a:p>
            <a:pPr algn="l">
              <a:lnSpc>
                <a:spcPct val="105000"/>
              </a:lnSpc>
            </a:pPr>
            <a:r>
              <a:rPr sz="1650" b="1" i="0">
                <a:solidFill>
                  <a:srgbClr val="0A3438"/>
                </a:solidFill>
                <a:latin typeface="Cambria"/>
              </a:rPr>
              <a:t>Tool support &amp; đánh giá thực nghiệm</a:t>
            </a:r>
          </a:p>
        </p:txBody>
      </p:sp>
      <p:sp>
        <p:nvSpPr>
          <p:cNvPr id="19" name="Rounded Rectangle 18"/>
          <p:cNvSpPr/>
          <p:nvPr/>
        </p:nvSpPr>
        <p:spPr>
          <a:xfrm>
            <a:off x="6492240" y="2971800"/>
            <a:ext cx="4800600" cy="804672"/>
          </a:xfrm>
          <a:prstGeom prst="roundRect">
            <a:avLst>
              <a:gd name="adj" fmla="val 5500"/>
            </a:avLst>
          </a:prstGeom>
          <a:solidFill>
            <a:srgbClr val="FFFFFF"/>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656832" y="3191256"/>
            <a:ext cx="329184" cy="3291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1</a:t>
            </a:r>
          </a:p>
        </p:txBody>
      </p:sp>
      <p:sp>
        <p:nvSpPr>
          <p:cNvPr id="21" name="TextBox 20"/>
          <p:cNvSpPr txBox="1"/>
          <p:nvPr/>
        </p:nvSpPr>
        <p:spPr>
          <a:xfrm>
            <a:off x="7114032" y="3044952"/>
            <a:ext cx="4069080" cy="685800"/>
          </a:xfrm>
          <a:prstGeom prst="rect">
            <a:avLst/>
          </a:prstGeom>
          <a:noFill/>
        </p:spPr>
        <p:txBody>
          <a:bodyPr wrap="square" anchor="ctr" lIns="0" rIns="0" tIns="0" bIns="0">
            <a:spAutoFit/>
          </a:bodyPr>
          <a:lstStyle/>
          <a:p>
            <a:pPr algn="l">
              <a:lnSpc>
                <a:spcPct val="106000"/>
              </a:lnSpc>
            </a:pPr>
            <a:r>
              <a:rPr sz="1050" b="0" i="0">
                <a:solidFill>
                  <a:srgbClr val="17292D"/>
                </a:solidFill>
                <a:latin typeface="Calibri"/>
              </a:rPr>
              <a:t>Công cụ ddd-codegen: pipeline 3 bước end-to-end, 15 template — hiện thực hóa phương pháp</a:t>
            </a:r>
          </a:p>
        </p:txBody>
      </p:sp>
      <p:sp>
        <p:nvSpPr>
          <p:cNvPr id="22" name="Rounded Rectangle 21"/>
          <p:cNvSpPr/>
          <p:nvPr/>
        </p:nvSpPr>
        <p:spPr>
          <a:xfrm>
            <a:off x="6492240" y="3886200"/>
            <a:ext cx="4800600" cy="804672"/>
          </a:xfrm>
          <a:prstGeom prst="roundRect">
            <a:avLst>
              <a:gd name="adj" fmla="val 5500"/>
            </a:avLst>
          </a:prstGeom>
          <a:solidFill>
            <a:srgbClr val="FFFFFF"/>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656832" y="4105656"/>
            <a:ext cx="329184" cy="3291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2</a:t>
            </a:r>
          </a:p>
        </p:txBody>
      </p:sp>
      <p:sp>
        <p:nvSpPr>
          <p:cNvPr id="24" name="TextBox 23"/>
          <p:cNvSpPr txBox="1"/>
          <p:nvPr/>
        </p:nvSpPr>
        <p:spPr>
          <a:xfrm>
            <a:off x="7114032" y="3959352"/>
            <a:ext cx="4069080" cy="685800"/>
          </a:xfrm>
          <a:prstGeom prst="rect">
            <a:avLst/>
          </a:prstGeom>
          <a:noFill/>
        </p:spPr>
        <p:txBody>
          <a:bodyPr wrap="square" anchor="ctr" lIns="0" rIns="0" tIns="0" bIns="0">
            <a:spAutoFit/>
          </a:bodyPr>
          <a:lstStyle/>
          <a:p>
            <a:pPr algn="l">
              <a:lnSpc>
                <a:spcPct val="106000"/>
              </a:lnSpc>
            </a:pPr>
            <a:r>
              <a:rPr sz="1050" b="0" i="0">
                <a:solidFill>
                  <a:srgbClr val="17292D"/>
                </a:solidFill>
                <a:latin typeface="Calibri"/>
              </a:rPr>
              <a:t>Case study CourseMan: 2 bounded context + miền RBAC; 331 dòng đặc tả → 31 file / 1.432 LoC</a:t>
            </a:r>
          </a:p>
        </p:txBody>
      </p:sp>
      <p:sp>
        <p:nvSpPr>
          <p:cNvPr id="25" name="Rounded Rectangle 24"/>
          <p:cNvSpPr/>
          <p:nvPr/>
        </p:nvSpPr>
        <p:spPr>
          <a:xfrm>
            <a:off x="6492240" y="4800600"/>
            <a:ext cx="4800600" cy="804672"/>
          </a:xfrm>
          <a:prstGeom prst="roundRect">
            <a:avLst>
              <a:gd name="adj" fmla="val 5500"/>
            </a:avLst>
          </a:prstGeom>
          <a:solidFill>
            <a:srgbClr val="FFFFFF"/>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56832" y="5020056"/>
            <a:ext cx="329184" cy="3291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3</a:t>
            </a:r>
          </a:p>
        </p:txBody>
      </p:sp>
      <p:sp>
        <p:nvSpPr>
          <p:cNvPr id="27" name="TextBox 26"/>
          <p:cNvSpPr txBox="1"/>
          <p:nvPr/>
        </p:nvSpPr>
        <p:spPr>
          <a:xfrm>
            <a:off x="7114032" y="4873752"/>
            <a:ext cx="4069080" cy="685800"/>
          </a:xfrm>
          <a:prstGeom prst="rect">
            <a:avLst/>
          </a:prstGeom>
          <a:noFill/>
        </p:spPr>
        <p:txBody>
          <a:bodyPr wrap="square" anchor="ctr" lIns="0" rIns="0" tIns="0" bIns="0">
            <a:spAutoFit/>
          </a:bodyPr>
          <a:lstStyle/>
          <a:p>
            <a:pPr algn="l">
              <a:lnSpc>
                <a:spcPct val="106000"/>
              </a:lnSpc>
            </a:pPr>
            <a:r>
              <a:rPr sz="1050" b="0" i="0">
                <a:solidFill>
                  <a:srgbClr val="17292D"/>
                </a:solidFill>
                <a:latin typeface="Calibri"/>
              </a:rPr>
              <a:t>Khung đánh giá: tính khả thi · năng suất · truy vết (đánh giá định lượng đang mở rộng)</a:t>
            </a:r>
          </a:p>
        </p:txBody>
      </p:sp>
      <p:sp>
        <p:nvSpPr>
          <p:cNvPr id="28" name="Right Arrow 27"/>
          <p:cNvSpPr/>
          <p:nvPr/>
        </p:nvSpPr>
        <p:spPr>
          <a:xfrm>
            <a:off x="6053328" y="3520440"/>
            <a:ext cx="502920" cy="365760"/>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5943600"/>
            <a:ext cx="11018520" cy="457200"/>
          </a:xfrm>
          <a:prstGeom prst="rect">
            <a:avLst/>
          </a:prstGeom>
          <a:noFill/>
        </p:spPr>
        <p:txBody>
          <a:bodyPr wrap="square" anchor="t" lIns="0" rIns="0" tIns="0" bIns="0">
            <a:spAutoFit/>
          </a:bodyPr>
          <a:lstStyle/>
          <a:p>
            <a:pPr algn="ctr"/>
            <a:r>
              <a:rPr sz="1350" b="1" i="1">
                <a:solidFill>
                  <a:srgbClr val="0A3438"/>
                </a:solidFill>
                <a:latin typeface="Calibri"/>
              </a:rPr>
              <a:t>Đóng góp 2 hiện thực hóa và kiểm chứng đóng góp 1 trên hệ thống thật.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3 · Tool support — hiện thực hóa phương pháp</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Công cụ ddd-codegen: ánh xạ vào 5 bước của phương pháp</a:t>
            </a:r>
          </a:p>
        </p:txBody>
      </p:sp>
      <p:sp>
        <p:nvSpPr>
          <p:cNvPr id="4" name="Rounded Rectangle 3"/>
          <p:cNvSpPr/>
          <p:nvPr/>
        </p:nvSpPr>
        <p:spPr>
          <a:xfrm>
            <a:off x="594360" y="1691640"/>
            <a:ext cx="11018520" cy="73152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91640"/>
            <a:ext cx="3200400" cy="731520"/>
          </a:xfrm>
          <a:prstGeom prst="rect">
            <a:avLst/>
          </a:prstGeom>
          <a:noFill/>
        </p:spPr>
        <p:txBody>
          <a:bodyPr wrap="square" anchor="ctr" lIns="0" rIns="0" tIns="0" bIns="0">
            <a:spAutoFit/>
          </a:bodyPr>
          <a:lstStyle/>
          <a:p>
            <a:pPr algn="l"/>
            <a:r>
              <a:rPr sz="1250" b="1" i="0">
                <a:solidFill>
                  <a:srgbClr val="028090"/>
                </a:solidFill>
                <a:latin typeface="Calibri"/>
              </a:rPr>
              <a:t>Bước 1 — Đặc tả &amp; phân tích</a:t>
            </a:r>
          </a:p>
        </p:txBody>
      </p:sp>
      <p:sp>
        <p:nvSpPr>
          <p:cNvPr id="6" name="TextBox 5"/>
          <p:cNvSpPr txBox="1"/>
          <p:nvPr/>
        </p:nvSpPr>
        <p:spPr>
          <a:xfrm>
            <a:off x="4206240" y="1691640"/>
            <a:ext cx="5120640" cy="731520"/>
          </a:xfrm>
          <a:prstGeom prst="rect">
            <a:avLst/>
          </a:prstGeom>
          <a:noFill/>
        </p:spPr>
        <p:txBody>
          <a:bodyPr wrap="square" anchor="ctr" lIns="0" rIns="0" tIns="0" bIns="0">
            <a:spAutoFit/>
          </a:bodyPr>
          <a:lstStyle/>
          <a:p>
            <a:pPr algn="l">
              <a:lnSpc>
                <a:spcPct val="105000"/>
              </a:lnSpc>
            </a:pPr>
            <a:r>
              <a:rPr sz="1150" b="0" i="0">
                <a:solidFill>
                  <a:srgbClr val="17292D"/>
                </a:solidFill>
                <a:latin typeface="Courier New"/>
              </a:rPr>
              <a:t>PlantUmlParser · ActivityParser · OCL parser (chevrotain)</a:t>
            </a:r>
          </a:p>
        </p:txBody>
      </p:sp>
      <p:sp>
        <p:nvSpPr>
          <p:cNvPr id="7" name="Rounded Rectangle 6"/>
          <p:cNvSpPr/>
          <p:nvPr/>
        </p:nvSpPr>
        <p:spPr>
          <a:xfrm>
            <a:off x="9555480" y="1856232"/>
            <a:ext cx="1783080" cy="402336"/>
          </a:xfrm>
          <a:prstGeom prst="roundRect">
            <a:avLst>
              <a:gd name="adj" fmla="val 5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55480" y="1856232"/>
            <a:ext cx="1783080" cy="402336"/>
          </a:xfrm>
          <a:prstGeom prst="rect">
            <a:avLst/>
          </a:prstGeom>
          <a:noFill/>
        </p:spPr>
        <p:txBody>
          <a:bodyPr wrap="square" anchor="ctr" lIns="0" rIns="0" tIns="0" bIns="0">
            <a:spAutoFit/>
          </a:bodyPr>
          <a:lstStyle/>
          <a:p>
            <a:pPr algn="ctr"/>
            <a:r>
              <a:rPr sz="1050" b="1" i="0">
                <a:solidFill>
                  <a:srgbClr val="0A3438"/>
                </a:solidFill>
                <a:latin typeface="Calibri"/>
              </a:rPr>
              <a:t>Hoàn thành</a:t>
            </a:r>
          </a:p>
        </p:txBody>
      </p:sp>
      <p:sp>
        <p:nvSpPr>
          <p:cNvPr id="9" name="Rounded Rectangle 8"/>
          <p:cNvSpPr/>
          <p:nvPr/>
        </p:nvSpPr>
        <p:spPr>
          <a:xfrm>
            <a:off x="594360" y="2551176"/>
            <a:ext cx="11018520" cy="73152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551176"/>
            <a:ext cx="3200400" cy="731520"/>
          </a:xfrm>
          <a:prstGeom prst="rect">
            <a:avLst/>
          </a:prstGeom>
          <a:noFill/>
        </p:spPr>
        <p:txBody>
          <a:bodyPr wrap="square" anchor="ctr" lIns="0" rIns="0" tIns="0" bIns="0">
            <a:spAutoFit/>
          </a:bodyPr>
          <a:lstStyle/>
          <a:p>
            <a:pPr algn="l"/>
            <a:r>
              <a:rPr sz="1250" b="1" i="0">
                <a:solidFill>
                  <a:srgbClr val="028090"/>
                </a:solidFill>
                <a:latin typeface="Calibri"/>
              </a:rPr>
              <a:t>Bước 2 — Hợp nhất mô hình</a:t>
            </a:r>
          </a:p>
        </p:txBody>
      </p:sp>
      <p:sp>
        <p:nvSpPr>
          <p:cNvPr id="11" name="TextBox 10"/>
          <p:cNvSpPr txBox="1"/>
          <p:nvPr/>
        </p:nvSpPr>
        <p:spPr>
          <a:xfrm>
            <a:off x="4206240" y="2551176"/>
            <a:ext cx="5120640" cy="731520"/>
          </a:xfrm>
          <a:prstGeom prst="rect">
            <a:avLst/>
          </a:prstGeom>
          <a:noFill/>
        </p:spPr>
        <p:txBody>
          <a:bodyPr wrap="square" anchor="ctr" lIns="0" rIns="0" tIns="0" bIns="0">
            <a:spAutoFit/>
          </a:bodyPr>
          <a:lstStyle/>
          <a:p>
            <a:pPr algn="l">
              <a:lnSpc>
                <a:spcPct val="105000"/>
              </a:lnSpc>
            </a:pPr>
            <a:r>
              <a:rPr sz="1150" b="0" i="0">
                <a:solidFill>
                  <a:srgbClr val="17292D"/>
                </a:solidFill>
                <a:latin typeface="Courier New"/>
              </a:rPr>
              <a:t>DomainMetamodel — AST trung tâm (src/model)</a:t>
            </a:r>
          </a:p>
        </p:txBody>
      </p:sp>
      <p:sp>
        <p:nvSpPr>
          <p:cNvPr id="12" name="Rounded Rectangle 11"/>
          <p:cNvSpPr/>
          <p:nvPr/>
        </p:nvSpPr>
        <p:spPr>
          <a:xfrm>
            <a:off x="9555480" y="2715768"/>
            <a:ext cx="1783080" cy="402336"/>
          </a:xfrm>
          <a:prstGeom prst="roundRect">
            <a:avLst>
              <a:gd name="adj" fmla="val 5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55480" y="2715768"/>
            <a:ext cx="1783080" cy="402336"/>
          </a:xfrm>
          <a:prstGeom prst="rect">
            <a:avLst/>
          </a:prstGeom>
          <a:noFill/>
        </p:spPr>
        <p:txBody>
          <a:bodyPr wrap="square" anchor="ctr" lIns="0" rIns="0" tIns="0" bIns="0">
            <a:spAutoFit/>
          </a:bodyPr>
          <a:lstStyle/>
          <a:p>
            <a:pPr algn="ctr"/>
            <a:r>
              <a:rPr sz="1050" b="1" i="0">
                <a:solidFill>
                  <a:srgbClr val="0A3438"/>
                </a:solidFill>
                <a:latin typeface="Calibri"/>
              </a:rPr>
              <a:t>Hoàn thành</a:t>
            </a:r>
          </a:p>
        </p:txBody>
      </p:sp>
      <p:sp>
        <p:nvSpPr>
          <p:cNvPr id="14" name="Rounded Rectangle 13"/>
          <p:cNvSpPr/>
          <p:nvPr/>
        </p:nvSpPr>
        <p:spPr>
          <a:xfrm>
            <a:off x="594360" y="3410712"/>
            <a:ext cx="11018520" cy="73152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410712"/>
            <a:ext cx="3200400" cy="731520"/>
          </a:xfrm>
          <a:prstGeom prst="rect">
            <a:avLst/>
          </a:prstGeom>
          <a:noFill/>
        </p:spPr>
        <p:txBody>
          <a:bodyPr wrap="square" anchor="ctr" lIns="0" rIns="0" tIns="0" bIns="0">
            <a:spAutoFit/>
          </a:bodyPr>
          <a:lstStyle/>
          <a:p>
            <a:pPr algn="l"/>
            <a:r>
              <a:rPr sz="1250" b="1" i="0">
                <a:solidFill>
                  <a:srgbClr val="028090"/>
                </a:solidFill>
                <a:latin typeface="Calibri"/>
              </a:rPr>
              <a:t>Bước 3 — Làm giàu mô hình</a:t>
            </a:r>
          </a:p>
        </p:txBody>
      </p:sp>
      <p:sp>
        <p:nvSpPr>
          <p:cNvPr id="16" name="TextBox 15"/>
          <p:cNvSpPr txBox="1"/>
          <p:nvPr/>
        </p:nvSpPr>
        <p:spPr>
          <a:xfrm>
            <a:off x="4206240" y="3410712"/>
            <a:ext cx="5120640" cy="731520"/>
          </a:xfrm>
          <a:prstGeom prst="rect">
            <a:avLst/>
          </a:prstGeom>
          <a:noFill/>
        </p:spPr>
        <p:txBody>
          <a:bodyPr wrap="square" anchor="ctr" lIns="0" rIns="0" tIns="0" bIns="0">
            <a:spAutoFit/>
          </a:bodyPr>
          <a:lstStyle/>
          <a:p>
            <a:pPr algn="l">
              <a:lnSpc>
                <a:spcPct val="105000"/>
              </a:lnSpc>
            </a:pPr>
            <a:r>
              <a:rPr sz="1150" b="0" i="0">
                <a:solidFill>
                  <a:srgbClr val="17292D"/>
                </a:solidFill>
                <a:latin typeface="Courier New"/>
              </a:rPr>
              <a:t>ModelTransformer — CRUD, repository, fixed-point RBAC₁</a:t>
            </a:r>
          </a:p>
        </p:txBody>
      </p:sp>
      <p:sp>
        <p:nvSpPr>
          <p:cNvPr id="17" name="Rounded Rectangle 16"/>
          <p:cNvSpPr/>
          <p:nvPr/>
        </p:nvSpPr>
        <p:spPr>
          <a:xfrm>
            <a:off x="9555480" y="3575304"/>
            <a:ext cx="1783080" cy="402336"/>
          </a:xfrm>
          <a:prstGeom prst="roundRect">
            <a:avLst>
              <a:gd name="adj" fmla="val 5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55480" y="3575304"/>
            <a:ext cx="1783080" cy="402336"/>
          </a:xfrm>
          <a:prstGeom prst="rect">
            <a:avLst/>
          </a:prstGeom>
          <a:noFill/>
        </p:spPr>
        <p:txBody>
          <a:bodyPr wrap="square" anchor="ctr" lIns="0" rIns="0" tIns="0" bIns="0">
            <a:spAutoFit/>
          </a:bodyPr>
          <a:lstStyle/>
          <a:p>
            <a:pPr algn="ctr"/>
            <a:r>
              <a:rPr sz="1050" b="1" i="0">
                <a:solidFill>
                  <a:srgbClr val="0A3438"/>
                </a:solidFill>
                <a:latin typeface="Calibri"/>
              </a:rPr>
              <a:t>Hoàn thành</a:t>
            </a:r>
          </a:p>
        </p:txBody>
      </p:sp>
      <p:sp>
        <p:nvSpPr>
          <p:cNvPr id="19" name="Rounded Rectangle 18"/>
          <p:cNvSpPr/>
          <p:nvPr/>
        </p:nvSpPr>
        <p:spPr>
          <a:xfrm>
            <a:off x="594360" y="4270248"/>
            <a:ext cx="11018520" cy="73152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270248"/>
            <a:ext cx="3200400" cy="731520"/>
          </a:xfrm>
          <a:prstGeom prst="rect">
            <a:avLst/>
          </a:prstGeom>
          <a:noFill/>
        </p:spPr>
        <p:txBody>
          <a:bodyPr wrap="square" anchor="ctr" lIns="0" rIns="0" tIns="0" bIns="0">
            <a:spAutoFit/>
          </a:bodyPr>
          <a:lstStyle/>
          <a:p>
            <a:pPr algn="l"/>
            <a:r>
              <a:rPr sz="1250" b="1" i="0">
                <a:solidFill>
                  <a:srgbClr val="028090"/>
                </a:solidFill>
                <a:latin typeface="Calibri"/>
              </a:rPr>
              <a:t>Bước 4 — Kiểm chứng ràng buộc</a:t>
            </a:r>
          </a:p>
        </p:txBody>
      </p:sp>
      <p:sp>
        <p:nvSpPr>
          <p:cNvPr id="21" name="TextBox 20"/>
          <p:cNvSpPr txBox="1"/>
          <p:nvPr/>
        </p:nvSpPr>
        <p:spPr>
          <a:xfrm>
            <a:off x="4206240" y="4270248"/>
            <a:ext cx="5120640" cy="731520"/>
          </a:xfrm>
          <a:prstGeom prst="rect">
            <a:avLst/>
          </a:prstGeom>
          <a:noFill/>
        </p:spPr>
        <p:txBody>
          <a:bodyPr wrap="square" anchor="ctr" lIns="0" rIns="0" tIns="0" bIns="0">
            <a:spAutoFit/>
          </a:bodyPr>
          <a:lstStyle/>
          <a:p>
            <a:pPr algn="l">
              <a:lnSpc>
                <a:spcPct val="105000"/>
              </a:lnSpc>
            </a:pPr>
            <a:r>
              <a:rPr sz="1150" b="0" i="0">
                <a:solidFill>
                  <a:srgbClr val="17292D"/>
                </a:solidFill>
                <a:latin typeface="Courier New"/>
              </a:rPr>
              <a:t>OCL evaluator chạy bất biến trên mô hình</a:t>
            </a:r>
          </a:p>
        </p:txBody>
      </p:sp>
      <p:sp>
        <p:nvSpPr>
          <p:cNvPr id="22" name="Rounded Rectangle 21"/>
          <p:cNvSpPr/>
          <p:nvPr/>
        </p:nvSpPr>
        <p:spPr>
          <a:xfrm>
            <a:off x="9555480" y="4434840"/>
            <a:ext cx="1783080" cy="402336"/>
          </a:xfrm>
          <a:prstGeom prst="roundRect">
            <a:avLst>
              <a:gd name="adj" fmla="val 50000"/>
            </a:avLst>
          </a:prstGeom>
          <a:solidFill>
            <a:srgbClr val="F9E7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55480" y="4434840"/>
            <a:ext cx="1783080" cy="402336"/>
          </a:xfrm>
          <a:prstGeom prst="rect">
            <a:avLst/>
          </a:prstGeom>
          <a:noFill/>
        </p:spPr>
        <p:txBody>
          <a:bodyPr wrap="square" anchor="ctr" lIns="0" rIns="0" tIns="0" bIns="0">
            <a:spAutoFit/>
          </a:bodyPr>
          <a:lstStyle/>
          <a:p>
            <a:pPr algn="ctr"/>
            <a:r>
              <a:rPr sz="1050" b="1" i="0">
                <a:solidFill>
                  <a:srgbClr val="0A3438"/>
                </a:solidFill>
                <a:latin typeface="Calibri"/>
              </a:rPr>
              <a:t>Đang tích hợp</a:t>
            </a:r>
          </a:p>
        </p:txBody>
      </p:sp>
      <p:sp>
        <p:nvSpPr>
          <p:cNvPr id="24" name="Rounded Rectangle 23"/>
          <p:cNvSpPr/>
          <p:nvPr/>
        </p:nvSpPr>
        <p:spPr>
          <a:xfrm>
            <a:off x="594360" y="5129783"/>
            <a:ext cx="11018520" cy="73152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129783"/>
            <a:ext cx="3200400" cy="731520"/>
          </a:xfrm>
          <a:prstGeom prst="rect">
            <a:avLst/>
          </a:prstGeom>
          <a:noFill/>
        </p:spPr>
        <p:txBody>
          <a:bodyPr wrap="square" anchor="ctr" lIns="0" rIns="0" tIns="0" bIns="0">
            <a:spAutoFit/>
          </a:bodyPr>
          <a:lstStyle/>
          <a:p>
            <a:pPr algn="l"/>
            <a:r>
              <a:rPr sz="1250" b="1" i="0">
                <a:solidFill>
                  <a:srgbClr val="028090"/>
                </a:solidFill>
                <a:latin typeface="Calibri"/>
              </a:rPr>
              <a:t>Bước 5 — Sinh mã theo mẫu</a:t>
            </a:r>
          </a:p>
        </p:txBody>
      </p:sp>
      <p:sp>
        <p:nvSpPr>
          <p:cNvPr id="26" name="TextBox 25"/>
          <p:cNvSpPr txBox="1"/>
          <p:nvPr/>
        </p:nvSpPr>
        <p:spPr>
          <a:xfrm>
            <a:off x="4206240" y="5129783"/>
            <a:ext cx="5120640" cy="731520"/>
          </a:xfrm>
          <a:prstGeom prst="rect">
            <a:avLst/>
          </a:prstGeom>
          <a:noFill/>
        </p:spPr>
        <p:txBody>
          <a:bodyPr wrap="square" anchor="ctr" lIns="0" rIns="0" tIns="0" bIns="0">
            <a:spAutoFit/>
          </a:bodyPr>
          <a:lstStyle/>
          <a:p>
            <a:pPr algn="l">
              <a:lnSpc>
                <a:spcPct val="105000"/>
              </a:lnSpc>
            </a:pPr>
            <a:r>
              <a:rPr sz="1150" b="0" i="0">
                <a:solidFill>
                  <a:srgbClr val="17292D"/>
                </a:solidFill>
                <a:latin typeface="Courier New"/>
              </a:rPr>
              <a:t>CodeGenerator + 15 template Handlebars</a:t>
            </a:r>
          </a:p>
        </p:txBody>
      </p:sp>
      <p:sp>
        <p:nvSpPr>
          <p:cNvPr id="27" name="Rounded Rectangle 26"/>
          <p:cNvSpPr/>
          <p:nvPr/>
        </p:nvSpPr>
        <p:spPr>
          <a:xfrm>
            <a:off x="9555480" y="5294375"/>
            <a:ext cx="1783080" cy="402336"/>
          </a:xfrm>
          <a:prstGeom prst="roundRect">
            <a:avLst>
              <a:gd name="adj" fmla="val 5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5294375"/>
            <a:ext cx="1783080" cy="402336"/>
          </a:xfrm>
          <a:prstGeom prst="rect">
            <a:avLst/>
          </a:prstGeom>
          <a:noFill/>
        </p:spPr>
        <p:txBody>
          <a:bodyPr wrap="square" anchor="ctr" lIns="0" rIns="0" tIns="0" bIns="0">
            <a:spAutoFit/>
          </a:bodyPr>
          <a:lstStyle/>
          <a:p>
            <a:pPr algn="ctr"/>
            <a:r>
              <a:rPr sz="1050" b="1" i="0">
                <a:solidFill>
                  <a:srgbClr val="0A3438"/>
                </a:solidFill>
                <a:latin typeface="Calibri"/>
              </a:rPr>
              <a:t>Hoàn thành</a:t>
            </a:r>
          </a:p>
        </p:txBody>
      </p:sp>
      <p:sp>
        <p:nvSpPr>
          <p:cNvPr id="29" name="TextBox 28"/>
          <p:cNvSpPr txBox="1"/>
          <p:nvPr/>
        </p:nvSpPr>
        <p:spPr>
          <a:xfrm>
            <a:off x="594360" y="6126479"/>
            <a:ext cx="11018520" cy="731520"/>
          </a:xfrm>
          <a:prstGeom prst="rect">
            <a:avLst/>
          </a:prstGeom>
          <a:noFill/>
        </p:spPr>
        <p:txBody>
          <a:bodyPr wrap="square" anchor="t" lIns="0" rIns="0" tIns="0" bIns="0">
            <a:spAutoFit/>
          </a:bodyPr>
          <a:lstStyle/>
          <a:p>
            <a:pPr algn="ctr">
              <a:lnSpc>
                <a:spcPct val="112000"/>
              </a:lnSpc>
            </a:pPr>
            <a:r>
              <a:rPr sz="1250" b="0" i="1">
                <a:solidFill>
                  <a:srgbClr val="5A7278"/>
                </a:solidFill>
                <a:latin typeface="Calibri"/>
              </a:rPr>
              <a:t>Toàn bộ công cụ ≈ 3.200 dòng TypeScript, giao diện dòng lệnh; mỗi bước là một thành phần kiểm thử độc lập được — đúng cấu trúc pipeline của phương pháp.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3 · Tool support — hiện thực hóa phương pháp</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Tổng quan công cụ ddd-codegen</a:t>
            </a:r>
          </a:p>
        </p:txBody>
      </p:sp>
      <p:sp>
        <p:nvSpPr>
          <p:cNvPr id="4" name="Rounded Rectangle 3"/>
          <p:cNvSpPr/>
          <p:nvPr/>
        </p:nvSpPr>
        <p:spPr>
          <a:xfrm>
            <a:off x="594360" y="1737360"/>
            <a:ext cx="6035040" cy="2286000"/>
          </a:xfrm>
          <a:prstGeom prst="roundRect">
            <a:avLst>
              <a:gd name="adj" fmla="val 5500"/>
            </a:avLst>
          </a:prstGeom>
          <a:solidFill>
            <a:srgbClr val="0E3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938528"/>
            <a:ext cx="5522975" cy="1883664"/>
          </a:xfrm>
          <a:prstGeom prst="rect">
            <a:avLst/>
          </a:prstGeom>
          <a:noFill/>
        </p:spPr>
        <p:txBody>
          <a:bodyPr wrap="square" anchor="t" lIns="0" rIns="0" tIns="0" bIns="0">
            <a:spAutoFit/>
          </a:bodyPr>
          <a:lstStyle/>
          <a:p>
            <a:pPr algn="l">
              <a:spcAft>
                <a:spcPts val="250"/>
              </a:spcAft>
            </a:pPr>
            <a:r>
              <a:rPr sz="1150" b="1" i="0">
                <a:solidFill>
                  <a:srgbClr val="8AE6C9"/>
                </a:solidFill>
                <a:latin typeface="Courier New"/>
              </a:rPr>
              <a:t>$ ddd-codegen generate \</a:t>
            </a:r>
          </a:p>
          <a:p>
            <a:pPr algn="l">
              <a:spcAft>
                <a:spcPts val="250"/>
              </a:spcAft>
            </a:pPr>
            <a:r>
              <a:rPr sz="1150" b="0" i="0">
                <a:solidFill>
                  <a:srgbClr val="CFE9EB"/>
                </a:solidFill>
                <a:latin typeface="Courier New"/>
              </a:rPr>
              <a:t>    -i course-management.puml \</a:t>
            </a:r>
          </a:p>
          <a:p>
            <a:pPr algn="l">
              <a:spcAft>
                <a:spcPts val="250"/>
              </a:spcAft>
            </a:pPr>
            <a:r>
              <a:rPr sz="1150" b="0" i="0">
                <a:solidFill>
                  <a:srgbClr val="CFE9EB"/>
                </a:solidFill>
                <a:latin typeface="Courier New"/>
              </a:rPr>
              <a:t>    -o ./generated</a:t>
            </a:r>
          </a:p>
          <a:p>
            <a:pPr algn="l">
              <a:spcAft>
                <a:spcPts val="250"/>
              </a:spcAft>
            </a:pPr>
            <a:r>
              <a:rPr sz="1150" b="0" i="0">
                <a:solidFill>
                  <a:srgbClr val="CFE9EB"/>
                </a:solidFill>
                <a:latin typeface="Courier New"/>
              </a:rPr>
              <a:t/>
            </a:r>
          </a:p>
          <a:p>
            <a:pPr algn="l">
              <a:spcAft>
                <a:spcPts val="250"/>
              </a:spcAft>
            </a:pPr>
            <a:r>
              <a:rPr sz="1150" b="0" i="0">
                <a:solidFill>
                  <a:srgbClr val="9EDDE2"/>
                </a:solidFill>
                <a:latin typeface="Courier New"/>
              </a:rPr>
              <a:t>[1/3] Parsing PlantUML...        done</a:t>
            </a:r>
          </a:p>
          <a:p>
            <a:pPr algn="l">
              <a:spcAft>
                <a:spcPts val="250"/>
              </a:spcAft>
            </a:pPr>
            <a:r>
              <a:rPr sz="1150" b="0" i="0">
                <a:solidFill>
                  <a:srgbClr val="9EDDE2"/>
                </a:solidFill>
                <a:latin typeface="Courier New"/>
              </a:rPr>
              <a:t>      2 bounded context, 3 role, 4 AGL node</a:t>
            </a:r>
          </a:p>
          <a:p>
            <a:pPr algn="l">
              <a:spcAft>
                <a:spcPts val="250"/>
              </a:spcAft>
            </a:pPr>
            <a:r>
              <a:rPr sz="1150" b="0" i="0">
                <a:solidFill>
                  <a:srgbClr val="9EDDE2"/>
                </a:solidFill>
                <a:latin typeface="Courier New"/>
              </a:rPr>
              <a:t>[2/3] DDD + RBAC transform...    16 classes</a:t>
            </a:r>
          </a:p>
          <a:p>
            <a:pPr algn="l">
              <a:spcAft>
                <a:spcPts val="250"/>
              </a:spcAft>
            </a:pPr>
            <a:r>
              <a:rPr sz="1150" b="0" i="0">
                <a:solidFill>
                  <a:srgbClr val="9EDDE2"/>
                </a:solidFill>
                <a:latin typeface="Courier New"/>
              </a:rPr>
              <a:t>[3/3] Generating NestJS code...  31 files</a:t>
            </a:r>
          </a:p>
          <a:p>
            <a:pPr algn="l">
              <a:spcAft>
                <a:spcPts val="250"/>
              </a:spcAft>
            </a:pPr>
            <a:r>
              <a:rPr sz="1150" b="0" i="0">
                <a:solidFill>
                  <a:srgbClr val="F9E795"/>
                </a:solidFill>
                <a:latin typeface="Courier New"/>
              </a:rPr>
              <a:t>Hỗ trợ --dry-run; tự phát hiện .activity.puml</a:t>
            </a:r>
          </a:p>
        </p:txBody>
      </p:sp>
      <p:sp>
        <p:nvSpPr>
          <p:cNvPr id="6" name="Rounded Rectangle 5"/>
          <p:cNvSpPr/>
          <p:nvPr/>
        </p:nvSpPr>
        <p:spPr>
          <a:xfrm>
            <a:off x="6903720" y="1737360"/>
            <a:ext cx="4709160" cy="105156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78040" y="1737360"/>
            <a:ext cx="1691640" cy="1051560"/>
          </a:xfrm>
          <a:prstGeom prst="rect">
            <a:avLst/>
          </a:prstGeom>
          <a:noFill/>
        </p:spPr>
        <p:txBody>
          <a:bodyPr wrap="square" anchor="ctr" lIns="0" rIns="0" tIns="0" bIns="0">
            <a:spAutoFit/>
          </a:bodyPr>
          <a:lstStyle/>
          <a:p>
            <a:pPr algn="l"/>
            <a:r>
              <a:rPr sz="2600" b="1" i="0">
                <a:solidFill>
                  <a:srgbClr val="028090"/>
                </a:solidFill>
                <a:latin typeface="Cambria"/>
              </a:rPr>
              <a:t>≈ 3.200</a:t>
            </a:r>
          </a:p>
        </p:txBody>
      </p:sp>
      <p:sp>
        <p:nvSpPr>
          <p:cNvPr id="8" name="TextBox 7"/>
          <p:cNvSpPr txBox="1"/>
          <p:nvPr/>
        </p:nvSpPr>
        <p:spPr>
          <a:xfrm>
            <a:off x="8961120" y="1737360"/>
            <a:ext cx="2514600" cy="1051560"/>
          </a:xfrm>
          <a:prstGeom prst="rect">
            <a:avLst/>
          </a:prstGeom>
          <a:noFill/>
        </p:spPr>
        <p:txBody>
          <a:bodyPr wrap="square" anchor="ctr" lIns="0" rIns="0" tIns="0" bIns="0">
            <a:spAutoFit/>
          </a:bodyPr>
          <a:lstStyle/>
          <a:p>
            <a:pPr algn="l">
              <a:lnSpc>
                <a:spcPct val="108000"/>
              </a:lnSpc>
            </a:pPr>
            <a:r>
              <a:rPr sz="1150" b="0" i="0">
                <a:solidFill>
                  <a:srgbClr val="17292D"/>
                </a:solidFill>
                <a:latin typeface="Calibri"/>
              </a:rPr>
              <a:t>dòng TypeScript của bộ công cụ (src/)</a:t>
            </a:r>
          </a:p>
        </p:txBody>
      </p:sp>
      <p:sp>
        <p:nvSpPr>
          <p:cNvPr id="9" name="Rounded Rectangle 8"/>
          <p:cNvSpPr/>
          <p:nvPr/>
        </p:nvSpPr>
        <p:spPr>
          <a:xfrm>
            <a:off x="6903720" y="2944368"/>
            <a:ext cx="4709160" cy="105156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78040" y="2944368"/>
            <a:ext cx="1691640" cy="1051560"/>
          </a:xfrm>
          <a:prstGeom prst="rect">
            <a:avLst/>
          </a:prstGeom>
          <a:noFill/>
        </p:spPr>
        <p:txBody>
          <a:bodyPr wrap="square" anchor="ctr" lIns="0" rIns="0" tIns="0" bIns="0">
            <a:spAutoFit/>
          </a:bodyPr>
          <a:lstStyle/>
          <a:p>
            <a:pPr algn="l"/>
            <a:r>
              <a:rPr sz="2600" b="1" i="0">
                <a:solidFill>
                  <a:srgbClr val="028090"/>
                </a:solidFill>
                <a:latin typeface="Cambria"/>
              </a:rPr>
              <a:t>15</a:t>
            </a:r>
          </a:p>
        </p:txBody>
      </p:sp>
      <p:sp>
        <p:nvSpPr>
          <p:cNvPr id="11" name="TextBox 10"/>
          <p:cNvSpPr txBox="1"/>
          <p:nvPr/>
        </p:nvSpPr>
        <p:spPr>
          <a:xfrm>
            <a:off x="8961120" y="2944368"/>
            <a:ext cx="2514600" cy="1051560"/>
          </a:xfrm>
          <a:prstGeom prst="rect">
            <a:avLst/>
          </a:prstGeom>
          <a:noFill/>
        </p:spPr>
        <p:txBody>
          <a:bodyPr wrap="square" anchor="ctr" lIns="0" rIns="0" tIns="0" bIns="0">
            <a:spAutoFit/>
          </a:bodyPr>
          <a:lstStyle/>
          <a:p>
            <a:pPr algn="l">
              <a:lnSpc>
                <a:spcPct val="108000"/>
              </a:lnSpc>
            </a:pPr>
            <a:r>
              <a:rPr sz="1150" b="0" i="0">
                <a:solidFill>
                  <a:srgbClr val="17292D"/>
                </a:solidFill>
                <a:latin typeface="Calibri"/>
              </a:rPr>
              <a:t>template Handlebars cho mọi tầng DDD + RBAC</a:t>
            </a:r>
          </a:p>
        </p:txBody>
      </p:sp>
      <p:sp>
        <p:nvSpPr>
          <p:cNvPr id="12" name="Rounded Rectangle 11"/>
          <p:cNvSpPr/>
          <p:nvPr/>
        </p:nvSpPr>
        <p:spPr>
          <a:xfrm>
            <a:off x="6903720" y="4151376"/>
            <a:ext cx="4709160" cy="105156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78040" y="4151376"/>
            <a:ext cx="1691640" cy="1051560"/>
          </a:xfrm>
          <a:prstGeom prst="rect">
            <a:avLst/>
          </a:prstGeom>
          <a:noFill/>
        </p:spPr>
        <p:txBody>
          <a:bodyPr wrap="square" anchor="ctr" lIns="0" rIns="0" tIns="0" bIns="0">
            <a:spAutoFit/>
          </a:bodyPr>
          <a:lstStyle/>
          <a:p>
            <a:pPr algn="l"/>
            <a:r>
              <a:rPr sz="2600" b="1" i="0">
                <a:solidFill>
                  <a:srgbClr val="028090"/>
                </a:solidFill>
                <a:latin typeface="Cambria"/>
              </a:rPr>
              <a:t>4</a:t>
            </a:r>
          </a:p>
        </p:txBody>
      </p:sp>
      <p:sp>
        <p:nvSpPr>
          <p:cNvPr id="14" name="TextBox 13"/>
          <p:cNvSpPr txBox="1"/>
          <p:nvPr/>
        </p:nvSpPr>
        <p:spPr>
          <a:xfrm>
            <a:off x="8961120" y="4151376"/>
            <a:ext cx="2514600" cy="1051560"/>
          </a:xfrm>
          <a:prstGeom prst="rect">
            <a:avLst/>
          </a:prstGeom>
          <a:noFill/>
        </p:spPr>
        <p:txBody>
          <a:bodyPr wrap="square" anchor="ctr" lIns="0" rIns="0" tIns="0" bIns="0">
            <a:spAutoFit/>
          </a:bodyPr>
          <a:lstStyle/>
          <a:p>
            <a:pPr algn="l">
              <a:lnSpc>
                <a:spcPct val="108000"/>
              </a:lnSpc>
            </a:pPr>
            <a:r>
              <a:rPr sz="1150" b="0" i="0">
                <a:solidFill>
                  <a:srgbClr val="17292D"/>
                </a:solidFill>
                <a:latin typeface="Calibri"/>
              </a:rPr>
              <a:t>parser: PlantUML · Activity (AGL) · OCL (chevrotain) · CLI commander</a:t>
            </a:r>
          </a:p>
        </p:txBody>
      </p:sp>
      <p:sp>
        <p:nvSpPr>
          <p:cNvPr id="15" name="TextBox 14"/>
          <p:cNvSpPr txBox="1"/>
          <p:nvPr/>
        </p:nvSpPr>
        <p:spPr>
          <a:xfrm>
            <a:off x="594360" y="4297680"/>
            <a:ext cx="6035040" cy="1737360"/>
          </a:xfrm>
          <a:prstGeom prst="rect">
            <a:avLst/>
          </a:prstGeom>
          <a:noFill/>
        </p:spPr>
        <p:txBody>
          <a:bodyPr wrap="square" anchor="t" lIns="0" rIns="0" tIns="0" bIns="0">
            <a:spAutoFit/>
          </a:bodyPr>
          <a:lstStyle/>
          <a:p>
            <a:pPr algn="l">
              <a:spcAft>
                <a:spcPts val="400"/>
              </a:spcAft>
            </a:pPr>
            <a:r>
              <a:rPr sz="1300" b="1" i="0">
                <a:solidFill>
                  <a:srgbClr val="17292D"/>
                </a:solidFill>
                <a:latin typeface="Calibri"/>
              </a:rPr>
              <a:t>Kiến trúc mã nguồn:</a:t>
            </a:r>
          </a:p>
          <a:p>
            <a:pPr algn="l">
              <a:spcAft>
                <a:spcPts val="200"/>
              </a:spcAft>
            </a:pPr>
            <a:r>
              <a:rPr sz="1200" b="0" i="0">
                <a:solidFill>
                  <a:srgbClr val="5A7278"/>
                </a:solidFill>
                <a:latin typeface="Courier New"/>
              </a:rPr>
              <a:t>src/model — metamodel DCSL · AGL · RBAC</a:t>
            </a:r>
          </a:p>
          <a:p>
            <a:pPr algn="l">
              <a:spcAft>
                <a:spcPts val="200"/>
              </a:spcAft>
            </a:pPr>
            <a:r>
              <a:rPr sz="1200" b="0" i="0">
                <a:solidFill>
                  <a:srgbClr val="5A7278"/>
                </a:solidFill>
                <a:latin typeface="Courier New"/>
              </a:rPr>
              <a:t>src/parser — plantuml · activity · ocl/</a:t>
            </a:r>
          </a:p>
          <a:p>
            <a:pPr algn="l">
              <a:spcAft>
                <a:spcPts val="200"/>
              </a:spcAft>
            </a:pPr>
            <a:r>
              <a:rPr sz="1200" b="0" i="0">
                <a:solidFill>
                  <a:srgbClr val="5A7278"/>
                </a:solidFill>
                <a:latin typeface="Courier New"/>
              </a:rPr>
              <a:t>src/transformer — model-transformer</a:t>
            </a:r>
          </a:p>
          <a:p>
            <a:pPr algn="l"/>
            <a:r>
              <a:rPr sz="1200" b="0" i="0">
                <a:solidFill>
                  <a:srgbClr val="5A7278"/>
                </a:solidFill>
                <a:latin typeface="Courier New"/>
              </a:rPr>
              <a:t>src/generator — code-generator + 15 .hbs</a:t>
            </a:r>
          </a:p>
        </p:txBody>
      </p:sp>
      <p:sp>
        <p:nvSpPr>
          <p:cNvPr id="16" name="TextBox 15"/>
          <p:cNvSpPr txBox="1"/>
          <p:nvPr/>
        </p:nvSpPr>
        <p:spPr>
          <a:xfrm>
            <a:off x="6903720" y="5440680"/>
            <a:ext cx="4709160" cy="822960"/>
          </a:xfrm>
          <a:prstGeom prst="rect">
            <a:avLst/>
          </a:prstGeom>
          <a:noFill/>
        </p:spPr>
        <p:txBody>
          <a:bodyPr wrap="square" anchor="t" lIns="0" rIns="0" tIns="0" bIns="0">
            <a:spAutoFit/>
          </a:bodyPr>
          <a:lstStyle/>
          <a:p>
            <a:pPr algn="l">
              <a:lnSpc>
                <a:spcPct val="112000"/>
              </a:lnSpc>
            </a:pPr>
            <a:r>
              <a:rPr sz="1200" b="0" i="1">
                <a:solidFill>
                  <a:srgbClr val="5A7278"/>
                </a:solidFill>
                <a:latin typeface="Calibri"/>
              </a:rPr>
              <a:t>Pipeline một chiều trên AST trung tâm — mỗi bước kiểm thử độc lập được.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3 · Tool support — hiện thực hóa phương pháp</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Hiện thực Bước 1 — profile cú pháp PlantUML</a:t>
            </a:r>
          </a:p>
        </p:txBody>
      </p:sp>
      <p:sp>
        <p:nvSpPr>
          <p:cNvPr id="4" name="Rounded Rectangle 3"/>
          <p:cNvSpPr/>
          <p:nvPr/>
        </p:nvSpPr>
        <p:spPr>
          <a:xfrm>
            <a:off x="594360" y="1691640"/>
            <a:ext cx="11018520" cy="603504"/>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91640"/>
            <a:ext cx="5120640" cy="603504"/>
          </a:xfrm>
          <a:prstGeom prst="rect">
            <a:avLst/>
          </a:prstGeom>
          <a:noFill/>
        </p:spPr>
        <p:txBody>
          <a:bodyPr wrap="square" anchor="ctr" lIns="0" rIns="0" tIns="0" bIns="0">
            <a:spAutoFit/>
          </a:bodyPr>
          <a:lstStyle/>
          <a:p>
            <a:pPr algn="l"/>
            <a:r>
              <a:rPr sz="1150" b="1" i="0">
                <a:solidFill>
                  <a:srgbClr val="028090"/>
                </a:solidFill>
                <a:latin typeface="Courier New"/>
              </a:rPr>
              <a:t>package "X" &lt;&lt;BoundedContext&gt;&gt;</a:t>
            </a:r>
          </a:p>
        </p:txBody>
      </p:sp>
      <p:sp>
        <p:nvSpPr>
          <p:cNvPr id="6" name="TextBox 5"/>
          <p:cNvSpPr txBox="1"/>
          <p:nvPr/>
        </p:nvSpPr>
        <p:spPr>
          <a:xfrm>
            <a:off x="6217920" y="1691640"/>
            <a:ext cx="5212080" cy="603504"/>
          </a:xfrm>
          <a:prstGeom prst="rect">
            <a:avLst/>
          </a:prstGeom>
          <a:noFill/>
        </p:spPr>
        <p:txBody>
          <a:bodyPr wrap="square" anchor="ctr" lIns="0" rIns="0" tIns="0" bIns="0">
            <a:spAutoFit/>
          </a:bodyPr>
          <a:lstStyle/>
          <a:p>
            <a:pPr algn="l">
              <a:lnSpc>
                <a:spcPct val="102000"/>
              </a:lnSpc>
            </a:pPr>
            <a:r>
              <a:rPr sz="1150" b="0" i="0">
                <a:solidFill>
                  <a:srgbClr val="17292D"/>
                </a:solidFill>
                <a:latin typeface="Calibri"/>
              </a:rPr>
              <a:t>Tách bounded context; namespace cho cross-domain</a:t>
            </a:r>
          </a:p>
        </p:txBody>
      </p:sp>
      <p:sp>
        <p:nvSpPr>
          <p:cNvPr id="7" name="Rounded Rectangle 6"/>
          <p:cNvSpPr/>
          <p:nvPr/>
        </p:nvSpPr>
        <p:spPr>
          <a:xfrm>
            <a:off x="594360" y="2404872"/>
            <a:ext cx="11018520" cy="603504"/>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04872"/>
            <a:ext cx="5120640" cy="603504"/>
          </a:xfrm>
          <a:prstGeom prst="rect">
            <a:avLst/>
          </a:prstGeom>
          <a:noFill/>
        </p:spPr>
        <p:txBody>
          <a:bodyPr wrap="square" anchor="ctr" lIns="0" rIns="0" tIns="0" bIns="0">
            <a:spAutoFit/>
          </a:bodyPr>
          <a:lstStyle/>
          <a:p>
            <a:pPr algn="l"/>
            <a:r>
              <a:rPr sz="1150" b="1" i="0">
                <a:solidFill>
                  <a:srgbClr val="028090"/>
                </a:solidFill>
                <a:latin typeface="Courier New"/>
              </a:rPr>
              <a:t>class X &lt;&lt;Stereotype&gt;&gt;</a:t>
            </a:r>
          </a:p>
        </p:txBody>
      </p:sp>
      <p:sp>
        <p:nvSpPr>
          <p:cNvPr id="9" name="TextBox 8"/>
          <p:cNvSpPr txBox="1"/>
          <p:nvPr/>
        </p:nvSpPr>
        <p:spPr>
          <a:xfrm>
            <a:off x="6217920" y="2404872"/>
            <a:ext cx="5212080" cy="603504"/>
          </a:xfrm>
          <a:prstGeom prst="rect">
            <a:avLst/>
          </a:prstGeom>
          <a:noFill/>
        </p:spPr>
        <p:txBody>
          <a:bodyPr wrap="square" anchor="ctr" lIns="0" rIns="0" tIns="0" bIns="0">
            <a:spAutoFit/>
          </a:bodyPr>
          <a:lstStyle/>
          <a:p>
            <a:pPr algn="l">
              <a:lnSpc>
                <a:spcPct val="102000"/>
              </a:lnSpc>
            </a:pPr>
            <a:r>
              <a:rPr sz="1150" b="0" i="0">
                <a:solidFill>
                  <a:srgbClr val="17292D"/>
                </a:solidFill>
                <a:latin typeface="Calibri"/>
              </a:rPr>
              <a:t>8 stereotype DDD + RBAC (case-insensitive)</a:t>
            </a:r>
          </a:p>
        </p:txBody>
      </p:sp>
      <p:sp>
        <p:nvSpPr>
          <p:cNvPr id="10" name="Rounded Rectangle 9"/>
          <p:cNvSpPr/>
          <p:nvPr/>
        </p:nvSpPr>
        <p:spPr>
          <a:xfrm>
            <a:off x="594360" y="3118104"/>
            <a:ext cx="11018520" cy="603504"/>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118104"/>
            <a:ext cx="5120640" cy="603504"/>
          </a:xfrm>
          <a:prstGeom prst="rect">
            <a:avLst/>
          </a:prstGeom>
          <a:noFill/>
        </p:spPr>
        <p:txBody>
          <a:bodyPr wrap="square" anchor="ctr" lIns="0" rIns="0" tIns="0" bIns="0">
            <a:spAutoFit/>
          </a:bodyPr>
          <a:lstStyle/>
          <a:p>
            <a:pPr algn="l"/>
            <a:r>
              <a:rPr sz="1150" b="1" i="0">
                <a:solidFill>
                  <a:srgbClr val="028090"/>
                </a:solidFill>
                <a:latin typeface="Courier New"/>
              </a:rPr>
              <a:t>[+|-|#] name: Type [= default] · name[]</a:t>
            </a:r>
          </a:p>
        </p:txBody>
      </p:sp>
      <p:sp>
        <p:nvSpPr>
          <p:cNvPr id="12" name="TextBox 11"/>
          <p:cNvSpPr txBox="1"/>
          <p:nvPr/>
        </p:nvSpPr>
        <p:spPr>
          <a:xfrm>
            <a:off x="6217920" y="3118104"/>
            <a:ext cx="5212080" cy="603504"/>
          </a:xfrm>
          <a:prstGeom prst="rect">
            <a:avLst/>
          </a:prstGeom>
          <a:noFill/>
        </p:spPr>
        <p:txBody>
          <a:bodyPr wrap="square" anchor="ctr" lIns="0" rIns="0" tIns="0" bIns="0">
            <a:spAutoFit/>
          </a:bodyPr>
          <a:lstStyle/>
          <a:p>
            <a:pPr algn="l">
              <a:lnSpc>
                <a:spcPct val="102000"/>
              </a:lnSpc>
            </a:pPr>
            <a:r>
              <a:rPr sz="1150" b="0" i="0">
                <a:solidFill>
                  <a:srgbClr val="17292D"/>
                </a:solidFill>
                <a:latin typeface="Calibri"/>
              </a:rPr>
              <a:t>Thuộc tính, kiểu, giá trị mặc định, collection</a:t>
            </a:r>
          </a:p>
        </p:txBody>
      </p:sp>
      <p:sp>
        <p:nvSpPr>
          <p:cNvPr id="13" name="Rounded Rectangle 12"/>
          <p:cNvSpPr/>
          <p:nvPr/>
        </p:nvSpPr>
        <p:spPr>
          <a:xfrm>
            <a:off x="594360" y="3831336"/>
            <a:ext cx="11018520" cy="603504"/>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831336"/>
            <a:ext cx="5120640" cy="603504"/>
          </a:xfrm>
          <a:prstGeom prst="rect">
            <a:avLst/>
          </a:prstGeom>
          <a:noFill/>
        </p:spPr>
        <p:txBody>
          <a:bodyPr wrap="square" anchor="ctr" lIns="0" rIns="0" tIns="0" bIns="0">
            <a:spAutoFit/>
          </a:bodyPr>
          <a:lstStyle/>
          <a:p>
            <a:pPr algn="l"/>
            <a:r>
              <a:rPr sz="1150" b="1" i="0">
                <a:solidFill>
                  <a:srgbClr val="028090"/>
                </a:solidFill>
                <a:latin typeface="Courier New"/>
              </a:rPr>
              <a:t>method(param: Type, ...): Return</a:t>
            </a:r>
          </a:p>
        </p:txBody>
      </p:sp>
      <p:sp>
        <p:nvSpPr>
          <p:cNvPr id="15" name="TextBox 14"/>
          <p:cNvSpPr txBox="1"/>
          <p:nvPr/>
        </p:nvSpPr>
        <p:spPr>
          <a:xfrm>
            <a:off x="6217920" y="3831336"/>
            <a:ext cx="5212080" cy="603504"/>
          </a:xfrm>
          <a:prstGeom prst="rect">
            <a:avLst/>
          </a:prstGeom>
          <a:noFill/>
        </p:spPr>
        <p:txBody>
          <a:bodyPr wrap="square" anchor="ctr" lIns="0" rIns="0" tIns="0" bIns="0">
            <a:spAutoFit/>
          </a:bodyPr>
          <a:lstStyle/>
          <a:p>
            <a:pPr algn="l">
              <a:lnSpc>
                <a:spcPct val="102000"/>
              </a:lnSpc>
            </a:pPr>
            <a:r>
              <a:rPr sz="1150" b="0" i="0">
                <a:solidFill>
                  <a:srgbClr val="17292D"/>
                </a:solidFill>
                <a:latin typeface="Calibri"/>
              </a:rPr>
              <a:t>Phương thức của lớp miền / use case</a:t>
            </a:r>
          </a:p>
        </p:txBody>
      </p:sp>
      <p:sp>
        <p:nvSpPr>
          <p:cNvPr id="16" name="Rounded Rectangle 15"/>
          <p:cNvSpPr/>
          <p:nvPr/>
        </p:nvSpPr>
        <p:spPr>
          <a:xfrm>
            <a:off x="594360" y="4544568"/>
            <a:ext cx="11018520" cy="603504"/>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544568"/>
            <a:ext cx="5120640" cy="603504"/>
          </a:xfrm>
          <a:prstGeom prst="rect">
            <a:avLst/>
          </a:prstGeom>
          <a:noFill/>
        </p:spPr>
        <p:txBody>
          <a:bodyPr wrap="square" anchor="ctr" lIns="0" rIns="0" tIns="0" bIns="0">
            <a:spAutoFit/>
          </a:bodyPr>
          <a:lstStyle/>
          <a:p>
            <a:pPr algn="l"/>
            <a:r>
              <a:rPr sz="1150" b="1" i="0">
                <a:solidFill>
                  <a:srgbClr val="028090"/>
                </a:solidFill>
                <a:latin typeface="Courier New"/>
              </a:rPr>
              <a:t>A "1" *-- "0..*" B : label  ·  A ..&gt; B</a:t>
            </a:r>
          </a:p>
        </p:txBody>
      </p:sp>
      <p:sp>
        <p:nvSpPr>
          <p:cNvPr id="18" name="TextBox 17"/>
          <p:cNvSpPr txBox="1"/>
          <p:nvPr/>
        </p:nvSpPr>
        <p:spPr>
          <a:xfrm>
            <a:off x="6217920" y="4544568"/>
            <a:ext cx="5212080" cy="603504"/>
          </a:xfrm>
          <a:prstGeom prst="rect">
            <a:avLst/>
          </a:prstGeom>
          <a:noFill/>
        </p:spPr>
        <p:txBody>
          <a:bodyPr wrap="square" anchor="ctr" lIns="0" rIns="0" tIns="0" bIns="0">
            <a:spAutoFit/>
          </a:bodyPr>
          <a:lstStyle/>
          <a:p>
            <a:pPr algn="l">
              <a:lnSpc>
                <a:spcPct val="102000"/>
              </a:lnSpc>
            </a:pPr>
            <a:r>
              <a:rPr sz="1150" b="0" i="0">
                <a:solidFill>
                  <a:srgbClr val="17292D"/>
                </a:solidFill>
                <a:latin typeface="Calibri"/>
              </a:rPr>
              <a:t>Composition / aggregation / dependency có nhãn</a:t>
            </a:r>
          </a:p>
        </p:txBody>
      </p:sp>
      <p:sp>
        <p:nvSpPr>
          <p:cNvPr id="19" name="Rounded Rectangle 18"/>
          <p:cNvSpPr/>
          <p:nvPr/>
        </p:nvSpPr>
        <p:spPr>
          <a:xfrm>
            <a:off x="594360" y="5257800"/>
            <a:ext cx="11018520" cy="603504"/>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257800"/>
            <a:ext cx="5120640" cy="603504"/>
          </a:xfrm>
          <a:prstGeom prst="rect">
            <a:avLst/>
          </a:prstGeom>
          <a:noFill/>
        </p:spPr>
        <p:txBody>
          <a:bodyPr wrap="square" anchor="ctr" lIns="0" rIns="0" tIns="0" bIns="0">
            <a:spAutoFit/>
          </a:bodyPr>
          <a:lstStyle/>
          <a:p>
            <a:pPr algn="l"/>
            <a:r>
              <a:rPr sz="1150" b="1" i="0">
                <a:solidFill>
                  <a:srgbClr val="028090"/>
                </a:solidFill>
                <a:latin typeface="Courier New"/>
              </a:rPr>
              <a:t>Role1 --|&gt; Role2</a:t>
            </a:r>
          </a:p>
        </p:txBody>
      </p:sp>
      <p:sp>
        <p:nvSpPr>
          <p:cNvPr id="21" name="TextBox 20"/>
          <p:cNvSpPr txBox="1"/>
          <p:nvPr/>
        </p:nvSpPr>
        <p:spPr>
          <a:xfrm>
            <a:off x="6217920" y="5257800"/>
            <a:ext cx="5212080" cy="603504"/>
          </a:xfrm>
          <a:prstGeom prst="rect">
            <a:avLst/>
          </a:prstGeom>
          <a:noFill/>
        </p:spPr>
        <p:txBody>
          <a:bodyPr wrap="square" anchor="ctr" lIns="0" rIns="0" tIns="0" bIns="0">
            <a:spAutoFit/>
          </a:bodyPr>
          <a:lstStyle/>
          <a:p>
            <a:pPr algn="l">
              <a:lnSpc>
                <a:spcPct val="102000"/>
              </a:lnSpc>
            </a:pPr>
            <a:r>
              <a:rPr sz="1150" b="0" i="0">
                <a:solidFill>
                  <a:srgbClr val="17292D"/>
                </a:solidFill>
                <a:latin typeface="Calibri"/>
              </a:rPr>
              <a:t>Kế thừa vai trò — role hierarchy RBAC₁</a:t>
            </a:r>
          </a:p>
        </p:txBody>
      </p:sp>
      <p:sp>
        <p:nvSpPr>
          <p:cNvPr id="22" name="TextBox 21"/>
          <p:cNvSpPr txBox="1"/>
          <p:nvPr/>
        </p:nvSpPr>
        <p:spPr>
          <a:xfrm>
            <a:off x="594360" y="6062472"/>
            <a:ext cx="11018520" cy="822960"/>
          </a:xfrm>
          <a:prstGeom prst="rect">
            <a:avLst/>
          </a:prstGeom>
          <a:noFill/>
        </p:spPr>
        <p:txBody>
          <a:bodyPr wrap="square" anchor="t" lIns="0" rIns="0" tIns="0" bIns="0">
            <a:spAutoFit/>
          </a:bodyPr>
          <a:lstStyle/>
          <a:p>
            <a:pPr algn="ctr">
              <a:lnSpc>
                <a:spcPct val="112000"/>
              </a:lnSpc>
            </a:pPr>
            <a:r>
              <a:rPr sz="1250" b="0" i="1">
                <a:solidFill>
                  <a:srgbClr val="5A7278"/>
                </a:solidFill>
                <a:latin typeface="Calibri"/>
              </a:rPr>
              <a:t>Parser recursive-descent viết tay (443 dòng), không phụ thuộc PlantUML server — kiểm soát trọn vẹn thông báo lỗi theo dòng của file .puml.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3 · Tool support — hiện thực hóa phương pháp</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Hiện thực Bước 1 — đặc tả RBAC trong class diagram</a:t>
            </a:r>
          </a:p>
        </p:txBody>
      </p:sp>
      <p:sp>
        <p:nvSpPr>
          <p:cNvPr id="4" name="Rounded Rectangle 3"/>
          <p:cNvSpPr/>
          <p:nvPr/>
        </p:nvSpPr>
        <p:spPr>
          <a:xfrm>
            <a:off x="594360" y="1691640"/>
            <a:ext cx="5806440" cy="3977639"/>
          </a:xfrm>
          <a:prstGeom prst="roundRect">
            <a:avLst>
              <a:gd name="adj" fmla="val 5500"/>
            </a:avLst>
          </a:prstGeom>
          <a:solidFill>
            <a:srgbClr val="0E3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892808"/>
            <a:ext cx="5294375" cy="3575303"/>
          </a:xfrm>
          <a:prstGeom prst="rect">
            <a:avLst/>
          </a:prstGeom>
          <a:noFill/>
        </p:spPr>
        <p:txBody>
          <a:bodyPr wrap="square" anchor="t" lIns="0" rIns="0" tIns="0" bIns="0">
            <a:spAutoFit/>
          </a:bodyPr>
          <a:lstStyle/>
          <a:p>
            <a:pPr algn="l">
              <a:spcAft>
                <a:spcPts val="250"/>
              </a:spcAft>
            </a:pPr>
            <a:r>
              <a:rPr sz="1100" b="0" i="0">
                <a:solidFill>
                  <a:srgbClr val="F9E795"/>
                </a:solidFill>
                <a:latin typeface="Courier New"/>
              </a:rPr>
              <a:t>package "RBAC" &lt;&lt;AccessControl&gt;&gt; {</a:t>
            </a:r>
          </a:p>
          <a:p>
            <a:pPr algn="l">
              <a:spcAft>
                <a:spcPts val="250"/>
              </a:spcAft>
            </a:pPr>
            <a:r>
              <a:rPr sz="1100" b="0" i="0">
                <a:solidFill>
                  <a:srgbClr val="F9E795"/>
                </a:solidFill>
                <a:latin typeface="Courier New"/>
              </a:rPr>
              <a:t>  class Admin &lt;&lt;Role&gt;&gt; {</a:t>
            </a:r>
          </a:p>
          <a:p>
            <a:pPr algn="l">
              <a:spcAft>
                <a:spcPts val="250"/>
              </a:spcAft>
            </a:pPr>
            <a:r>
              <a:rPr sz="1100" b="0" i="0">
                <a:solidFill>
                  <a:srgbClr val="CFE9EB"/>
                </a:solidFill>
                <a:latin typeface="Courier New"/>
              </a:rPr>
              <a:t>    MANAGE_STUDENTS : Student.manage</a:t>
            </a:r>
          </a:p>
          <a:p>
            <a:pPr algn="l">
              <a:spcAft>
                <a:spcPts val="250"/>
              </a:spcAft>
            </a:pPr>
            <a:r>
              <a:rPr sz="1100" b="0" i="0">
                <a:solidFill>
                  <a:srgbClr val="CFE9EB"/>
                </a:solidFill>
                <a:latin typeface="Courier New"/>
              </a:rPr>
              <a:t>    VIEW_STUDENTS   : Student.read [all]</a:t>
            </a:r>
          </a:p>
          <a:p>
            <a:pPr algn="l">
              <a:spcAft>
                <a:spcPts val="250"/>
              </a:spcAft>
            </a:pPr>
            <a:r>
              <a:rPr sz="1100" b="0" i="0">
                <a:solidFill>
                  <a:srgbClr val="8AE6C9"/>
                </a:solidFill>
                <a:latin typeface="Courier New"/>
              </a:rPr>
              <a:t>    &lt;&lt;cardinality max=5&gt;&gt;</a:t>
            </a:r>
          </a:p>
          <a:p>
            <a:pPr algn="l">
              <a:spcAft>
                <a:spcPts val="250"/>
              </a:spcAft>
            </a:pPr>
            <a:r>
              <a:rPr sz="1100" b="0" i="0">
                <a:solidFill>
                  <a:srgbClr val="F9E795"/>
                </a:solidFill>
                <a:latin typeface="Courier New"/>
              </a:rPr>
              <a:t>  }</a:t>
            </a:r>
          </a:p>
          <a:p>
            <a:pPr algn="l">
              <a:spcAft>
                <a:spcPts val="250"/>
              </a:spcAft>
            </a:pPr>
            <a:r>
              <a:rPr sz="1100" b="0" i="0">
                <a:solidFill>
                  <a:srgbClr val="F9E795"/>
                </a:solidFill>
                <a:latin typeface="Courier New"/>
              </a:rPr>
              <a:t>  class EnrollmentOfficer &lt;&lt;Role&gt;&gt; {</a:t>
            </a:r>
          </a:p>
          <a:p>
            <a:pPr algn="l">
              <a:spcAft>
                <a:spcPts val="250"/>
              </a:spcAft>
            </a:pPr>
            <a:r>
              <a:rPr sz="1100" b="0" i="0">
                <a:solidFill>
                  <a:srgbClr val="CFE9EB"/>
                </a:solidFill>
                <a:latin typeface="Courier New"/>
              </a:rPr>
              <a:t>    ENROLL_STUDENTS : Enrolment.create</a:t>
            </a:r>
          </a:p>
          <a:p>
            <a:pPr algn="l">
              <a:spcAft>
                <a:spcPts val="250"/>
              </a:spcAft>
            </a:pPr>
            <a:r>
              <a:rPr sz="1100" b="0" i="0">
                <a:solidFill>
                  <a:srgbClr val="CFE9EB"/>
                </a:solidFill>
                <a:latin typeface="Courier New"/>
              </a:rPr>
              <a:t>    VIEW_STUDENTS   : Student.read [own]</a:t>
            </a:r>
          </a:p>
          <a:p>
            <a:pPr algn="l">
              <a:spcAft>
                <a:spcPts val="250"/>
              </a:spcAft>
            </a:pPr>
            <a:r>
              <a:rPr sz="1100" b="0" i="0">
                <a:solidFill>
                  <a:srgbClr val="F9E795"/>
                </a:solidFill>
                <a:latin typeface="Courier New"/>
              </a:rPr>
              <a:t>  }</a:t>
            </a:r>
          </a:p>
          <a:p>
            <a:pPr algn="l">
              <a:spcAft>
                <a:spcPts val="250"/>
              </a:spcAft>
            </a:pPr>
            <a:r>
              <a:rPr sz="1100" b="1" i="0">
                <a:solidFill>
                  <a:srgbClr val="8AE6C9"/>
                </a:solidFill>
                <a:latin typeface="Courier New"/>
              </a:rPr>
              <a:t>  Admin --|&gt; EnrollmentOfficer</a:t>
            </a:r>
          </a:p>
          <a:p>
            <a:pPr algn="l">
              <a:spcAft>
                <a:spcPts val="250"/>
              </a:spcAft>
            </a:pPr>
            <a:r>
              <a:rPr sz="1100" b="0" i="0">
                <a:solidFill>
                  <a:srgbClr val="8AE6C9"/>
                </a:solidFill>
                <a:latin typeface="Courier New"/>
              </a:rPr>
              <a:t>  Admin ..&gt; Auditor : &lt;&lt;SSD&gt;&gt;</a:t>
            </a:r>
          </a:p>
          <a:p>
            <a:pPr algn="l">
              <a:spcAft>
                <a:spcPts val="250"/>
              </a:spcAft>
            </a:pPr>
            <a:r>
              <a:rPr sz="1100" b="0" i="0">
                <a:solidFill>
                  <a:srgbClr val="8AE6C9"/>
                </a:solidFill>
                <a:latin typeface="Courier New"/>
              </a:rPr>
              <a:t>  EnrollmentOfficer ..&gt; StudentRole :</a:t>
            </a:r>
          </a:p>
          <a:p>
            <a:pPr algn="l">
              <a:spcAft>
                <a:spcPts val="250"/>
              </a:spcAft>
            </a:pPr>
            <a:r>
              <a:rPr sz="1100" b="0" i="0">
                <a:solidFill>
                  <a:srgbClr val="8AE6C9"/>
                </a:solidFill>
                <a:latin typeface="Courier New"/>
              </a:rPr>
              <a:t>      &lt;&lt;DSD(maxActiveRoles=1)&gt;&gt;</a:t>
            </a:r>
          </a:p>
          <a:p>
            <a:pPr algn="l">
              <a:spcAft>
                <a:spcPts val="250"/>
              </a:spcAft>
            </a:pPr>
            <a:r>
              <a:rPr sz="1100" b="0" i="0">
                <a:solidFill>
                  <a:srgbClr val="F9E795"/>
                </a:solidFill>
                <a:latin typeface="Courier New"/>
              </a:rPr>
              <a:t>}</a:t>
            </a:r>
          </a:p>
        </p:txBody>
      </p:sp>
      <p:sp>
        <p:nvSpPr>
          <p:cNvPr id="6" name="Rounded Rectangle 5"/>
          <p:cNvSpPr/>
          <p:nvPr/>
        </p:nvSpPr>
        <p:spPr>
          <a:xfrm>
            <a:off x="6629400" y="1691640"/>
            <a:ext cx="4983480" cy="1298448"/>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1856232"/>
            <a:ext cx="4526280" cy="969264"/>
          </a:xfrm>
          <a:prstGeom prst="rect">
            <a:avLst/>
          </a:prstGeom>
          <a:noFill/>
        </p:spPr>
        <p:txBody>
          <a:bodyPr wrap="square" anchor="t" lIns="0" rIns="0" tIns="0" bIns="0">
            <a:spAutoFit/>
          </a:bodyPr>
          <a:lstStyle/>
          <a:p>
            <a:pPr algn="l">
              <a:spcAft>
                <a:spcPts val="400"/>
              </a:spcAft>
            </a:pPr>
            <a:r>
              <a:rPr sz="1300" b="1" i="0">
                <a:solidFill>
                  <a:srgbClr val="028090"/>
                </a:solidFill>
                <a:latin typeface="Calibri"/>
              </a:rPr>
              <a:t>Permission có ngữ nghĩa</a:t>
            </a:r>
          </a:p>
          <a:p>
            <a:pPr algn="l">
              <a:lnSpc>
                <a:spcPct val="108000"/>
              </a:lnSpc>
            </a:pPr>
            <a:r>
              <a:rPr sz="1100" b="0" i="0">
                <a:solidFill>
                  <a:srgbClr val="17292D"/>
                </a:solidFill>
                <a:latin typeface="Calibri"/>
              </a:rPr>
              <a:t>NAME : Resource.action [scope] — trỏ thẳng vào DClass trong cùng sơ đồ (cross-concern reference), không còn là chuỗi trơ.</a:t>
            </a:r>
          </a:p>
        </p:txBody>
      </p:sp>
      <p:sp>
        <p:nvSpPr>
          <p:cNvPr id="8" name="Rounded Rectangle 7"/>
          <p:cNvSpPr/>
          <p:nvPr/>
        </p:nvSpPr>
        <p:spPr>
          <a:xfrm>
            <a:off x="6629400" y="3118104"/>
            <a:ext cx="4983480" cy="1298448"/>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3282696"/>
            <a:ext cx="4526280" cy="969264"/>
          </a:xfrm>
          <a:prstGeom prst="rect">
            <a:avLst/>
          </a:prstGeom>
          <a:noFill/>
        </p:spPr>
        <p:txBody>
          <a:bodyPr wrap="square" anchor="t" lIns="0" rIns="0" tIns="0" bIns="0">
            <a:spAutoFit/>
          </a:bodyPr>
          <a:lstStyle/>
          <a:p>
            <a:pPr algn="l">
              <a:spcAft>
                <a:spcPts val="400"/>
              </a:spcAft>
            </a:pPr>
            <a:r>
              <a:rPr sz="1300" b="1" i="0">
                <a:solidFill>
                  <a:srgbClr val="028090"/>
                </a:solidFill>
                <a:latin typeface="Calibri"/>
              </a:rPr>
              <a:t>RBAC₁ — hierarchy</a:t>
            </a:r>
          </a:p>
          <a:p>
            <a:pPr algn="l">
              <a:lnSpc>
                <a:spcPct val="108000"/>
              </a:lnSpc>
            </a:pPr>
            <a:r>
              <a:rPr sz="1100" b="0" i="0">
                <a:solidFill>
                  <a:srgbClr val="17292D"/>
                </a:solidFill>
                <a:latin typeface="Calibri"/>
              </a:rPr>
              <a:t>Admin --|&gt; EnrollmentOfficer: Admin tự động kế thừa ENROLL_STUDENTS, VIEW_STUDENTS… qua vòng lặp fixed-point.</a:t>
            </a:r>
          </a:p>
        </p:txBody>
      </p:sp>
      <p:sp>
        <p:nvSpPr>
          <p:cNvPr id="10" name="Rounded Rectangle 9"/>
          <p:cNvSpPr/>
          <p:nvPr/>
        </p:nvSpPr>
        <p:spPr>
          <a:xfrm>
            <a:off x="6629400" y="4544568"/>
            <a:ext cx="4983480" cy="1298448"/>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4709160"/>
            <a:ext cx="4526280" cy="969264"/>
          </a:xfrm>
          <a:prstGeom prst="rect">
            <a:avLst/>
          </a:prstGeom>
          <a:noFill/>
        </p:spPr>
        <p:txBody>
          <a:bodyPr wrap="square" anchor="t" lIns="0" rIns="0" tIns="0" bIns="0">
            <a:spAutoFit/>
          </a:bodyPr>
          <a:lstStyle/>
          <a:p>
            <a:pPr algn="l">
              <a:spcAft>
                <a:spcPts val="400"/>
              </a:spcAft>
            </a:pPr>
            <a:r>
              <a:rPr sz="1300" b="1" i="0">
                <a:solidFill>
                  <a:srgbClr val="028090"/>
                </a:solidFill>
                <a:latin typeface="Calibri"/>
              </a:rPr>
              <a:t>RBAC₂ — ràng buộc</a:t>
            </a:r>
          </a:p>
          <a:p>
            <a:pPr algn="l">
              <a:lnSpc>
                <a:spcPct val="108000"/>
              </a:lnSpc>
            </a:pPr>
            <a:r>
              <a:rPr sz="1100" b="0" i="0">
                <a:solidFill>
                  <a:srgbClr val="17292D"/>
                </a:solidFill>
                <a:latin typeface="Calibri"/>
              </a:rPr>
              <a:t>&lt;&lt;SSD&gt;&gt;, &lt;&lt;DSD(maxActiveRoles)&gt;&gt;, &lt;&lt;cardinality max&gt;&gt; đặc tả được trên sơ đồ; ngữ nghĩa đầy đủ nằm ở file OCL đồng hành.</a:t>
            </a:r>
          </a:p>
        </p:txBody>
      </p:sp>
      <p:sp>
        <p:nvSpPr>
          <p:cNvPr id="12" name="TextBox 11"/>
          <p:cNvSpPr txBox="1"/>
          <p:nvPr/>
        </p:nvSpPr>
        <p:spPr>
          <a:xfrm>
            <a:off x="594360" y="5852160"/>
            <a:ext cx="11018520" cy="457200"/>
          </a:xfrm>
          <a:prstGeom prst="rect">
            <a:avLst/>
          </a:prstGeom>
          <a:noFill/>
        </p:spPr>
        <p:txBody>
          <a:bodyPr wrap="square" anchor="t" lIns="0" rIns="0" tIns="0" bIns="0">
            <a:spAutoFit/>
          </a:bodyPr>
          <a:lstStyle/>
          <a:p>
            <a:pPr algn="ctr"/>
            <a:r>
              <a:rPr sz="1200" b="0" i="1">
                <a:solidFill>
                  <a:srgbClr val="5A7278"/>
                </a:solidFill>
                <a:latin typeface="Calibri"/>
              </a:rPr>
              <a:t>Trích từ examples/course-management.puml — chạy được trực tiếp qua ddd-codegen.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3 · Tool support — hiện thực hóa phương pháp</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Hiện thực Bước 1 — hành vi AGL (ActivityParser)</a:t>
            </a:r>
          </a:p>
        </p:txBody>
      </p:sp>
      <p:sp>
        <p:nvSpPr>
          <p:cNvPr id="4" name="Rounded Rectangle 3"/>
          <p:cNvSpPr/>
          <p:nvPr/>
        </p:nvSpPr>
        <p:spPr>
          <a:xfrm>
            <a:off x="594360" y="1691640"/>
            <a:ext cx="5120640" cy="3383280"/>
          </a:xfrm>
          <a:prstGeom prst="roundRect">
            <a:avLst>
              <a:gd name="adj" fmla="val 5500"/>
            </a:avLst>
          </a:prstGeom>
          <a:solidFill>
            <a:srgbClr val="0E3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892808"/>
            <a:ext cx="4608575" cy="2980944"/>
          </a:xfrm>
          <a:prstGeom prst="rect">
            <a:avLst/>
          </a:prstGeom>
          <a:noFill/>
        </p:spPr>
        <p:txBody>
          <a:bodyPr wrap="square" anchor="t" lIns="0" rIns="0" tIns="0" bIns="0">
            <a:spAutoFit/>
          </a:bodyPr>
          <a:lstStyle/>
          <a:p>
            <a:pPr algn="l">
              <a:spcAft>
                <a:spcPts val="250"/>
              </a:spcAft>
            </a:pPr>
            <a:r>
              <a:rPr sz="1100" b="0" i="0">
                <a:solidFill>
                  <a:srgbClr val="9EDDE2"/>
                </a:solidFill>
                <a:latin typeface="Courier New"/>
              </a:rPr>
              <a:t>' course-management.activity.puml</a:t>
            </a:r>
          </a:p>
          <a:p>
            <a:pPr algn="l">
              <a:spcAft>
                <a:spcPts val="250"/>
              </a:spcAft>
            </a:pPr>
            <a:r>
              <a:rPr sz="1100" b="1" i="0">
                <a:solidFill>
                  <a:srgbClr val="F9E795"/>
                </a:solidFill>
                <a:latin typeface="Courier New"/>
              </a:rPr>
              <a:t>|RegisterStudentUseCase|</a:t>
            </a:r>
          </a:p>
          <a:p>
            <a:pPr algn="l">
              <a:spcAft>
                <a:spcPts val="250"/>
              </a:spcAft>
            </a:pPr>
            <a:r>
              <a:rPr sz="1100" b="0" i="0">
                <a:solidFill>
                  <a:srgbClr val="CFE9EB"/>
                </a:solidFill>
                <a:latin typeface="Courier New"/>
              </a:rPr>
              <a:t>start</a:t>
            </a:r>
          </a:p>
          <a:p>
            <a:pPr algn="l">
              <a:spcAft>
                <a:spcPts val="250"/>
              </a:spcAft>
            </a:pPr>
            <a:r>
              <a:rPr sz="1100" b="0" i="0">
                <a:solidFill>
                  <a:srgbClr val="CFE9EB"/>
                </a:solidFill>
                <a:latin typeface="Courier New"/>
              </a:rPr>
              <a:t>:open;</a:t>
            </a:r>
          </a:p>
          <a:p>
            <a:pPr algn="l">
              <a:spcAft>
                <a:spcPts val="250"/>
              </a:spcAft>
            </a:pPr>
            <a:r>
              <a:rPr sz="1100" b="0" i="0">
                <a:solidFill>
                  <a:srgbClr val="CFE9EB"/>
                </a:solidFill>
                <a:latin typeface="Courier New"/>
              </a:rPr>
              <a:t>:newObject(Student);</a:t>
            </a:r>
          </a:p>
          <a:p>
            <a:pPr algn="l">
              <a:spcAft>
                <a:spcPts val="250"/>
              </a:spcAft>
            </a:pPr>
            <a:r>
              <a:rPr sz="1100" b="0" i="0">
                <a:solidFill>
                  <a:srgbClr val="CFE9EB"/>
                </a:solidFill>
                <a:latin typeface="Courier New"/>
              </a:rPr>
              <a:t>:setDataFieldValues(name,email);</a:t>
            </a:r>
          </a:p>
          <a:p>
            <a:pPr algn="l">
              <a:spcAft>
                <a:spcPts val="250"/>
              </a:spcAft>
            </a:pPr>
            <a:r>
              <a:rPr sz="1100" b="0" i="0">
                <a:solidFill>
                  <a:srgbClr val="CFE9EB"/>
                </a:solidFill>
                <a:latin typeface="Courier New"/>
              </a:rPr>
              <a:t>:createObject(Student);</a:t>
            </a:r>
          </a:p>
          <a:p>
            <a:pPr algn="l">
              <a:spcAft>
                <a:spcPts val="250"/>
              </a:spcAft>
            </a:pPr>
            <a:r>
              <a:rPr sz="1100" b="0" i="0">
                <a:solidFill>
                  <a:srgbClr val="CFE9EB"/>
                </a:solidFill>
                <a:latin typeface="Courier New"/>
              </a:rPr>
              <a:t/>
            </a:r>
          </a:p>
          <a:p>
            <a:pPr algn="l">
              <a:spcAft>
                <a:spcPts val="250"/>
              </a:spcAft>
            </a:pPr>
            <a:r>
              <a:rPr sz="1100" b="1" i="0">
                <a:solidFill>
                  <a:srgbClr val="F9E795"/>
                </a:solidFill>
                <a:latin typeface="Courier New"/>
              </a:rPr>
              <a:t>|Student|</a:t>
            </a:r>
          </a:p>
          <a:p>
            <a:pPr algn="l">
              <a:spcAft>
                <a:spcPts val="250"/>
              </a:spcAft>
            </a:pPr>
            <a:r>
              <a:rPr sz="1100" b="0" i="0">
                <a:solidFill>
                  <a:srgbClr val="8AE6C9"/>
                </a:solidFill>
                <a:latin typeface="Courier New"/>
              </a:rPr>
              <a:t>if (helpRequested?) then (yes)</a:t>
            </a:r>
          </a:p>
          <a:p>
            <a:pPr algn="l">
              <a:spcAft>
                <a:spcPts val="250"/>
              </a:spcAft>
            </a:pPr>
            <a:r>
              <a:rPr sz="1100" b="0" i="0">
                <a:solidFill>
                  <a:srgbClr val="CFE9EB"/>
                </a:solidFill>
                <a:latin typeface="Courier New"/>
              </a:rPr>
              <a:t>  :requestHelp;</a:t>
            </a:r>
          </a:p>
          <a:p>
            <a:pPr algn="l">
              <a:spcAft>
                <a:spcPts val="250"/>
              </a:spcAft>
            </a:pPr>
            <a:r>
              <a:rPr sz="1100" b="0" i="0">
                <a:solidFill>
                  <a:srgbClr val="8AE6C9"/>
                </a:solidFill>
                <a:latin typeface="Courier New"/>
              </a:rPr>
              <a:t>endif</a:t>
            </a:r>
          </a:p>
          <a:p>
            <a:pPr algn="l">
              <a:spcAft>
                <a:spcPts val="250"/>
              </a:spcAft>
            </a:pPr>
            <a:r>
              <a:rPr sz="1100" b="0" i="0">
                <a:solidFill>
                  <a:srgbClr val="CFE9EB"/>
                </a:solidFill>
                <a:latin typeface="Courier New"/>
              </a:rPr>
              <a:t>stop</a:t>
            </a:r>
          </a:p>
        </p:txBody>
      </p:sp>
      <p:sp>
        <p:nvSpPr>
          <p:cNvPr id="6" name="Rounded Rectangle 5"/>
          <p:cNvSpPr/>
          <p:nvPr/>
        </p:nvSpPr>
        <p:spPr>
          <a:xfrm>
            <a:off x="5989320" y="1691640"/>
            <a:ext cx="5623560" cy="896112"/>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0" y="1801368"/>
            <a:ext cx="2148840" cy="676656"/>
          </a:xfrm>
          <a:prstGeom prst="rect">
            <a:avLst/>
          </a:prstGeom>
          <a:noFill/>
        </p:spPr>
        <p:txBody>
          <a:bodyPr wrap="square" anchor="ctr" lIns="0" rIns="0" tIns="0" bIns="0">
            <a:spAutoFit/>
          </a:bodyPr>
          <a:lstStyle/>
          <a:p>
            <a:pPr algn="l">
              <a:lnSpc>
                <a:spcPct val="102000"/>
              </a:lnSpc>
            </a:pPr>
            <a:r>
              <a:rPr sz="1150" b="1" i="0">
                <a:solidFill>
                  <a:srgbClr val="028090"/>
                </a:solidFill>
                <a:latin typeface="Calibri"/>
              </a:rPr>
              <a:t>Swimlane → ANode.refClass</a:t>
            </a:r>
          </a:p>
        </p:txBody>
      </p:sp>
      <p:sp>
        <p:nvSpPr>
          <p:cNvPr id="8" name="TextBox 7"/>
          <p:cNvSpPr txBox="1"/>
          <p:nvPr/>
        </p:nvSpPr>
        <p:spPr>
          <a:xfrm>
            <a:off x="8458200" y="1801368"/>
            <a:ext cx="2926080" cy="676656"/>
          </a:xfrm>
          <a:prstGeom prst="rect">
            <a:avLst/>
          </a:prstGeom>
          <a:noFill/>
        </p:spPr>
        <p:txBody>
          <a:bodyPr wrap="square" anchor="ctr" lIns="0" rIns="0" tIns="0" bIns="0">
            <a:spAutoFit/>
          </a:bodyPr>
          <a:lstStyle/>
          <a:p>
            <a:pPr algn="l">
              <a:lnSpc>
                <a:spcPct val="105000"/>
              </a:lnSpc>
            </a:pPr>
            <a:r>
              <a:rPr sz="1050" b="0" i="0">
                <a:solidFill>
                  <a:srgbClr val="17292D"/>
                </a:solidFill>
                <a:latin typeface="Calibri"/>
              </a:rPr>
              <a:t>Mỗi swimlane |X| gắn chuỗi hành động vào đúng use-case / lớp miền X trong metamodel.</a:t>
            </a:r>
          </a:p>
        </p:txBody>
      </p:sp>
      <p:sp>
        <p:nvSpPr>
          <p:cNvPr id="9" name="Rounded Rectangle 8"/>
          <p:cNvSpPr/>
          <p:nvPr/>
        </p:nvSpPr>
        <p:spPr>
          <a:xfrm>
            <a:off x="5989320" y="2715768"/>
            <a:ext cx="5623560" cy="896112"/>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2825496"/>
            <a:ext cx="2148840" cy="676656"/>
          </a:xfrm>
          <a:prstGeom prst="rect">
            <a:avLst/>
          </a:prstGeom>
          <a:noFill/>
        </p:spPr>
        <p:txBody>
          <a:bodyPr wrap="square" anchor="ctr" lIns="0" rIns="0" tIns="0" bIns="0">
            <a:spAutoFit/>
          </a:bodyPr>
          <a:lstStyle/>
          <a:p>
            <a:pPr algn="l">
              <a:lnSpc>
                <a:spcPct val="102000"/>
              </a:lnSpc>
            </a:pPr>
            <a:r>
              <a:rPr sz="1150" b="1" i="0">
                <a:solidFill>
                  <a:srgbClr val="028090"/>
                </a:solidFill>
                <a:latin typeface="Calibri"/>
              </a:rPr>
              <a:t>MAct → chuỗi SAA</a:t>
            </a:r>
          </a:p>
        </p:txBody>
      </p:sp>
      <p:sp>
        <p:nvSpPr>
          <p:cNvPr id="11" name="TextBox 10"/>
          <p:cNvSpPr txBox="1"/>
          <p:nvPr/>
        </p:nvSpPr>
        <p:spPr>
          <a:xfrm>
            <a:off x="8458200" y="2825496"/>
            <a:ext cx="2926080" cy="676656"/>
          </a:xfrm>
          <a:prstGeom prst="rect">
            <a:avLst/>
          </a:prstGeom>
          <a:noFill/>
        </p:spPr>
        <p:txBody>
          <a:bodyPr wrap="square" anchor="ctr" lIns="0" rIns="0" tIns="0" bIns="0">
            <a:spAutoFit/>
          </a:bodyPr>
          <a:lstStyle/>
          <a:p>
            <a:pPr algn="l">
              <a:lnSpc>
                <a:spcPct val="105000"/>
              </a:lnSpc>
            </a:pPr>
            <a:r>
              <a:rPr sz="1050" b="0" i="0">
                <a:solidFill>
                  <a:srgbClr val="17292D"/>
                </a:solidFill>
                <a:latin typeface="Calibri"/>
              </a:rPr>
              <a:t>open → newObject → setDataFieldValues → createObject gộp thành một AglActivityNode có thứ tự — đúng action sequence của AGL.</a:t>
            </a:r>
          </a:p>
        </p:txBody>
      </p:sp>
      <p:sp>
        <p:nvSpPr>
          <p:cNvPr id="12" name="Rounded Rectangle 11"/>
          <p:cNvSpPr/>
          <p:nvPr/>
        </p:nvSpPr>
        <p:spPr>
          <a:xfrm>
            <a:off x="5989320" y="3739896"/>
            <a:ext cx="5623560" cy="896112"/>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849624"/>
            <a:ext cx="2148840" cy="676656"/>
          </a:xfrm>
          <a:prstGeom prst="rect">
            <a:avLst/>
          </a:prstGeom>
          <a:noFill/>
        </p:spPr>
        <p:txBody>
          <a:bodyPr wrap="square" anchor="ctr" lIns="0" rIns="0" tIns="0" bIns="0">
            <a:spAutoFit/>
          </a:bodyPr>
          <a:lstStyle/>
          <a:p>
            <a:pPr algn="l">
              <a:lnSpc>
                <a:spcPct val="102000"/>
              </a:lnSpc>
            </a:pPr>
            <a:r>
              <a:rPr sz="1150" b="1" i="0">
                <a:solidFill>
                  <a:srgbClr val="028090"/>
                </a:solidFill>
                <a:latin typeface="Calibri"/>
              </a:rPr>
              <a:t>Decision / fork</a:t>
            </a:r>
          </a:p>
        </p:txBody>
      </p:sp>
      <p:sp>
        <p:nvSpPr>
          <p:cNvPr id="14" name="TextBox 13"/>
          <p:cNvSpPr txBox="1"/>
          <p:nvPr/>
        </p:nvSpPr>
        <p:spPr>
          <a:xfrm>
            <a:off x="8458200" y="3849624"/>
            <a:ext cx="2926080" cy="676656"/>
          </a:xfrm>
          <a:prstGeom prst="rect">
            <a:avLst/>
          </a:prstGeom>
          <a:noFill/>
        </p:spPr>
        <p:txBody>
          <a:bodyPr wrap="square" anchor="ctr" lIns="0" rIns="0" tIns="0" bIns="0">
            <a:spAutoFit/>
          </a:bodyPr>
          <a:lstStyle/>
          <a:p>
            <a:pPr algn="l">
              <a:lnSpc>
                <a:spcPct val="105000"/>
              </a:lnSpc>
            </a:pPr>
            <a:r>
              <a:rPr sz="1050" b="0" i="0">
                <a:solidFill>
                  <a:srgbClr val="17292D"/>
                </a:solidFill>
                <a:latin typeface="Calibri"/>
              </a:rPr>
              <a:t>if-else, fork được parse thành Decision/Fork node với nhánh outClasses.</a:t>
            </a:r>
          </a:p>
        </p:txBody>
      </p:sp>
      <p:sp>
        <p:nvSpPr>
          <p:cNvPr id="15" name="Rounded Rectangle 14"/>
          <p:cNvSpPr/>
          <p:nvPr/>
        </p:nvSpPr>
        <p:spPr>
          <a:xfrm>
            <a:off x="5989320" y="4764024"/>
            <a:ext cx="5623560" cy="896112"/>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4873752"/>
            <a:ext cx="2148840" cy="676656"/>
          </a:xfrm>
          <a:prstGeom prst="rect">
            <a:avLst/>
          </a:prstGeom>
          <a:noFill/>
        </p:spPr>
        <p:txBody>
          <a:bodyPr wrap="square" anchor="ctr" lIns="0" rIns="0" tIns="0" bIns="0">
            <a:spAutoFit/>
          </a:bodyPr>
          <a:lstStyle/>
          <a:p>
            <a:pPr algn="l">
              <a:lnSpc>
                <a:spcPct val="102000"/>
              </a:lnSpc>
            </a:pPr>
            <a:r>
              <a:rPr sz="1150" b="1" i="0">
                <a:solidFill>
                  <a:srgbClr val="028090"/>
                </a:solidFill>
                <a:latin typeface="Calibri"/>
              </a:rPr>
              <a:t>Truy vết vào mã</a:t>
            </a:r>
          </a:p>
        </p:txBody>
      </p:sp>
      <p:sp>
        <p:nvSpPr>
          <p:cNvPr id="17" name="TextBox 16"/>
          <p:cNvSpPr txBox="1"/>
          <p:nvPr/>
        </p:nvSpPr>
        <p:spPr>
          <a:xfrm>
            <a:off x="8458200" y="4873752"/>
            <a:ext cx="2926080" cy="676656"/>
          </a:xfrm>
          <a:prstGeom prst="rect">
            <a:avLst/>
          </a:prstGeom>
          <a:noFill/>
        </p:spPr>
        <p:txBody>
          <a:bodyPr wrap="square" anchor="ctr" lIns="0" rIns="0" tIns="0" bIns="0">
            <a:spAutoFit/>
          </a:bodyPr>
          <a:lstStyle/>
          <a:p>
            <a:pPr algn="l">
              <a:lnSpc>
                <a:spcPct val="105000"/>
              </a:lnSpc>
            </a:pPr>
            <a:r>
              <a:rPr sz="1050" b="0" i="0">
                <a:solidFill>
                  <a:srgbClr val="17292D"/>
                </a:solidFill>
                <a:latin typeface="Calibri"/>
              </a:rPr>
              <a:t>Chuỗi hành động xuất hiện thành comment trace trong use-case sinh ra (use-case.hbs).</a:t>
            </a:r>
          </a:p>
        </p:txBody>
      </p:sp>
      <p:sp>
        <p:nvSpPr>
          <p:cNvPr id="18" name="TextBox 17"/>
          <p:cNvSpPr txBox="1"/>
          <p:nvPr/>
        </p:nvSpPr>
        <p:spPr>
          <a:xfrm>
            <a:off x="594360" y="5897880"/>
            <a:ext cx="11018520" cy="457200"/>
          </a:xfrm>
          <a:prstGeom prst="rect">
            <a:avLst/>
          </a:prstGeom>
          <a:noFill/>
        </p:spPr>
        <p:txBody>
          <a:bodyPr wrap="square" anchor="t" lIns="0" rIns="0" tIns="0" bIns="0">
            <a:spAutoFit/>
          </a:bodyPr>
          <a:lstStyle/>
          <a:p>
            <a:pPr algn="ctr"/>
            <a:r>
              <a:rPr sz="1200" b="0" i="1">
                <a:solidFill>
                  <a:srgbClr val="5A7278"/>
                </a:solidFill>
                <a:latin typeface="Calibri"/>
              </a:rPr>
              <a:t>File .activity.puml đặt cạnh sơ đồ lớp được tự phát hiện — hoặc chỉ định qua tùy chọn -a/--activity.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3 · Tool support — hiện thực hóa phương pháp</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Hiện thực Bước 2 — DomainMetamodel: AST trung tâm</a:t>
            </a:r>
          </a:p>
        </p:txBody>
      </p:sp>
      <p:sp>
        <p:nvSpPr>
          <p:cNvPr id="4" name="Rounded Rectangle 3"/>
          <p:cNvSpPr/>
          <p:nvPr/>
        </p:nvSpPr>
        <p:spPr>
          <a:xfrm>
            <a:off x="594360" y="1691640"/>
            <a:ext cx="5806440" cy="4023360"/>
          </a:xfrm>
          <a:prstGeom prst="roundRect">
            <a:avLst>
              <a:gd name="adj" fmla="val 5500"/>
            </a:avLst>
          </a:prstGeom>
          <a:solidFill>
            <a:srgbClr val="0E3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892808"/>
            <a:ext cx="5294375" cy="3621024"/>
          </a:xfrm>
          <a:prstGeom prst="rect">
            <a:avLst/>
          </a:prstGeom>
          <a:noFill/>
        </p:spPr>
        <p:txBody>
          <a:bodyPr wrap="square" anchor="t" lIns="0" rIns="0" tIns="0" bIns="0">
            <a:spAutoFit/>
          </a:bodyPr>
          <a:lstStyle/>
          <a:p>
            <a:pPr algn="l">
              <a:spcAft>
                <a:spcPts val="250"/>
              </a:spcAft>
            </a:pPr>
            <a:r>
              <a:rPr sz="1050" b="0" i="0">
                <a:solidFill>
                  <a:srgbClr val="9EDDE2"/>
                </a:solidFill>
                <a:latin typeface="Courier New"/>
              </a:rPr>
              <a:t>// src/model/dcsl-metamodel.ts</a:t>
            </a:r>
          </a:p>
          <a:p>
            <a:pPr algn="l">
              <a:spcAft>
                <a:spcPts val="250"/>
              </a:spcAft>
            </a:pPr>
            <a:r>
              <a:rPr sz="1050" b="1" i="0">
                <a:solidFill>
                  <a:srgbClr val="F9E795"/>
                </a:solidFill>
                <a:latin typeface="Courier New"/>
              </a:rPr>
              <a:t>export interface DomainMetamodel {</a:t>
            </a:r>
          </a:p>
          <a:p>
            <a:pPr algn="l">
              <a:spcAft>
                <a:spcPts val="250"/>
              </a:spcAft>
            </a:pPr>
            <a:r>
              <a:rPr sz="1050" b="0" i="0">
                <a:solidFill>
                  <a:srgbClr val="CFE9EB"/>
                </a:solidFill>
                <a:latin typeface="Courier New"/>
              </a:rPr>
              <a:t>  appName: string;</a:t>
            </a:r>
          </a:p>
          <a:p>
            <a:pPr algn="l">
              <a:spcAft>
                <a:spcPts val="250"/>
              </a:spcAft>
            </a:pPr>
            <a:r>
              <a:rPr sz="1050" b="0" i="0">
                <a:solidFill>
                  <a:srgbClr val="8AE6C9"/>
                </a:solidFill>
                <a:latin typeface="Courier New"/>
              </a:rPr>
              <a:t>  boundedContexts: BoundedContext[];  // DCSL</a:t>
            </a:r>
          </a:p>
          <a:p>
            <a:pPr algn="l">
              <a:spcAft>
                <a:spcPts val="250"/>
              </a:spcAft>
            </a:pPr>
            <a:r>
              <a:rPr sz="1050" b="0" i="0">
                <a:solidFill>
                  <a:srgbClr val="8AE6C9"/>
                </a:solidFill>
                <a:latin typeface="Courier New"/>
              </a:rPr>
              <a:t>  rbac: RbacModel;                    // RBAC</a:t>
            </a:r>
          </a:p>
          <a:p>
            <a:pPr algn="l">
              <a:spcAft>
                <a:spcPts val="250"/>
              </a:spcAft>
            </a:pPr>
            <a:r>
              <a:rPr sz="1050" b="0" i="0">
                <a:solidFill>
                  <a:srgbClr val="8AE6C9"/>
                </a:solidFill>
                <a:latin typeface="Courier New"/>
              </a:rPr>
              <a:t>  ocl?: ModelOclState;                // OCL</a:t>
            </a:r>
          </a:p>
          <a:p>
            <a:pPr algn="l">
              <a:spcAft>
                <a:spcPts val="250"/>
              </a:spcAft>
            </a:pPr>
            <a:r>
              <a:rPr sz="1050" b="0" i="0">
                <a:solidFill>
                  <a:srgbClr val="F9E795"/>
                </a:solidFill>
                <a:latin typeface="Courier New"/>
              </a:rPr>
              <a:t>}</a:t>
            </a:r>
          </a:p>
          <a:p>
            <a:pPr algn="l">
              <a:spcAft>
                <a:spcPts val="250"/>
              </a:spcAft>
            </a:pPr>
            <a:r>
              <a:rPr sz="1050" b="0" i="0">
                <a:solidFill>
                  <a:srgbClr val="CFE9EB"/>
                </a:solidFill>
                <a:latin typeface="Courier New"/>
              </a:rPr>
              <a:t/>
            </a:r>
          </a:p>
          <a:p>
            <a:pPr algn="l">
              <a:spcAft>
                <a:spcPts val="250"/>
              </a:spcAft>
            </a:pPr>
            <a:r>
              <a:rPr sz="1050" b="0" i="0">
                <a:solidFill>
                  <a:srgbClr val="9EDDE2"/>
                </a:solidFill>
                <a:latin typeface="Courier New"/>
              </a:rPr>
              <a:t>// src/model/rbac-metamodel.ts</a:t>
            </a:r>
          </a:p>
          <a:p>
            <a:pPr algn="l">
              <a:spcAft>
                <a:spcPts val="250"/>
              </a:spcAft>
            </a:pPr>
            <a:r>
              <a:rPr sz="1050" b="0" i="0">
                <a:solidFill>
                  <a:srgbClr val="F9E795"/>
                </a:solidFill>
                <a:latin typeface="Courier New"/>
              </a:rPr>
              <a:t>export interface RbacRole {</a:t>
            </a:r>
          </a:p>
          <a:p>
            <a:pPr algn="l">
              <a:spcAft>
                <a:spcPts val="250"/>
              </a:spcAft>
            </a:pPr>
            <a:r>
              <a:rPr sz="1050" b="0" i="0">
                <a:solidFill>
                  <a:srgbClr val="CFE9EB"/>
                </a:solidFill>
                <a:latin typeface="Courier New"/>
              </a:rPr>
              <a:t>  name: string;</a:t>
            </a:r>
          </a:p>
          <a:p>
            <a:pPr algn="l">
              <a:spcAft>
                <a:spcPts val="250"/>
              </a:spcAft>
            </a:pPr>
            <a:r>
              <a:rPr sz="1050" b="0" i="0">
                <a:solidFill>
                  <a:srgbClr val="CFE9EB"/>
                </a:solidFill>
                <a:latin typeface="Courier New"/>
              </a:rPr>
              <a:t>  permissions: string[];</a:t>
            </a:r>
          </a:p>
          <a:p>
            <a:pPr algn="l">
              <a:spcAft>
                <a:spcPts val="250"/>
              </a:spcAft>
            </a:pPr>
            <a:r>
              <a:rPr sz="1050" b="1" i="0">
                <a:solidFill>
                  <a:srgbClr val="8AE6C9"/>
                </a:solidFill>
                <a:latin typeface="Courier New"/>
              </a:rPr>
              <a:t>  extendsRole?: string;   // RBAC1</a:t>
            </a:r>
          </a:p>
          <a:p>
            <a:pPr algn="l">
              <a:spcAft>
                <a:spcPts val="250"/>
              </a:spcAft>
            </a:pPr>
            <a:r>
              <a:rPr sz="1050" b="0" i="0">
                <a:solidFill>
                  <a:srgbClr val="CFE9EB"/>
                </a:solidFill>
                <a:latin typeface="Courier New"/>
              </a:rPr>
              <a:t>  domain?: string;</a:t>
            </a:r>
          </a:p>
          <a:p>
            <a:pPr algn="l">
              <a:spcAft>
                <a:spcPts val="250"/>
              </a:spcAft>
            </a:pPr>
            <a:r>
              <a:rPr sz="1050" b="0" i="0">
                <a:solidFill>
                  <a:srgbClr val="F9E795"/>
                </a:solidFill>
                <a:latin typeface="Courier New"/>
              </a:rPr>
              <a:t>}</a:t>
            </a:r>
          </a:p>
        </p:txBody>
      </p:sp>
      <p:sp>
        <p:nvSpPr>
          <p:cNvPr id="6" name="Rounded Rectangle 5"/>
          <p:cNvSpPr/>
          <p:nvPr/>
        </p:nvSpPr>
        <p:spPr>
          <a:xfrm>
            <a:off x="6629400" y="1691640"/>
            <a:ext cx="4983480" cy="1298448"/>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1856232"/>
            <a:ext cx="4526280" cy="969264"/>
          </a:xfrm>
          <a:prstGeom prst="rect">
            <a:avLst/>
          </a:prstGeom>
          <a:noFill/>
        </p:spPr>
        <p:txBody>
          <a:bodyPr wrap="square" anchor="t" lIns="0" rIns="0" tIns="0" bIns="0">
            <a:spAutoFit/>
          </a:bodyPr>
          <a:lstStyle/>
          <a:p>
            <a:pPr algn="l">
              <a:spcAft>
                <a:spcPts val="400"/>
              </a:spcAft>
            </a:pPr>
            <a:r>
              <a:rPr sz="1300" b="1" i="0">
                <a:solidFill>
                  <a:srgbClr val="028090"/>
                </a:solidFill>
                <a:latin typeface="Calibri"/>
              </a:rPr>
              <a:t>Một AST — ba concern</a:t>
            </a:r>
          </a:p>
          <a:p>
            <a:pPr algn="l">
              <a:lnSpc>
                <a:spcPct val="108000"/>
              </a:lnSpc>
            </a:pPr>
            <a:r>
              <a:rPr sz="1050" b="0" i="0">
                <a:solidFill>
                  <a:srgbClr val="17292D"/>
                </a:solidFill>
                <a:latin typeface="Calibri"/>
              </a:rPr>
              <a:t>DomainMetamodel gộp DCSL (boundedContexts), RBAC (rbac), AGL (node hành vi gắn vào method) và OCL — mọi bước sau chỉ thao tác trên cấu trúc duy nhất này.</a:t>
            </a:r>
          </a:p>
        </p:txBody>
      </p:sp>
      <p:sp>
        <p:nvSpPr>
          <p:cNvPr id="8" name="Rounded Rectangle 7"/>
          <p:cNvSpPr/>
          <p:nvPr/>
        </p:nvSpPr>
        <p:spPr>
          <a:xfrm>
            <a:off x="6629400" y="3118104"/>
            <a:ext cx="4983480" cy="1298448"/>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3282696"/>
            <a:ext cx="4526280" cy="969264"/>
          </a:xfrm>
          <a:prstGeom prst="rect">
            <a:avLst/>
          </a:prstGeom>
          <a:noFill/>
        </p:spPr>
        <p:txBody>
          <a:bodyPr wrap="square" anchor="t" lIns="0" rIns="0" tIns="0" bIns="0">
            <a:spAutoFit/>
          </a:bodyPr>
          <a:lstStyle/>
          <a:p>
            <a:pPr algn="l">
              <a:spcAft>
                <a:spcPts val="400"/>
              </a:spcAft>
            </a:pPr>
            <a:r>
              <a:rPr sz="1300" b="1" i="0">
                <a:solidFill>
                  <a:srgbClr val="028090"/>
                </a:solidFill>
                <a:latin typeface="Calibri"/>
              </a:rPr>
              <a:t>Liên kết chéo trong AST</a:t>
            </a:r>
          </a:p>
          <a:p>
            <a:pPr algn="l">
              <a:lnSpc>
                <a:spcPct val="108000"/>
              </a:lnSpc>
            </a:pPr>
            <a:r>
              <a:rPr sz="1050" b="0" i="0">
                <a:solidFill>
                  <a:srgbClr val="17292D"/>
                </a:solidFill>
                <a:latin typeface="Calibri"/>
              </a:rPr>
              <a:t>DomainClass.permissions nối lớp miền ↔ quyền; DomainMethod.moduleAction nối hành vi AGL ↔ phương thức; RbacRole.extendsRole giữ phân cấp vai trò.</a:t>
            </a:r>
          </a:p>
        </p:txBody>
      </p:sp>
      <p:sp>
        <p:nvSpPr>
          <p:cNvPr id="10" name="Rounded Rectangle 9"/>
          <p:cNvSpPr/>
          <p:nvPr/>
        </p:nvSpPr>
        <p:spPr>
          <a:xfrm>
            <a:off x="6629400" y="4544568"/>
            <a:ext cx="4983480" cy="1298448"/>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4709160"/>
            <a:ext cx="4526280" cy="969264"/>
          </a:xfrm>
          <a:prstGeom prst="rect">
            <a:avLst/>
          </a:prstGeom>
          <a:noFill/>
        </p:spPr>
        <p:txBody>
          <a:bodyPr wrap="square" anchor="t" lIns="0" rIns="0" tIns="0" bIns="0">
            <a:spAutoFit/>
          </a:bodyPr>
          <a:lstStyle/>
          <a:p>
            <a:pPr algn="l">
              <a:spcAft>
                <a:spcPts val="400"/>
              </a:spcAft>
            </a:pPr>
            <a:r>
              <a:rPr sz="1300" b="1" i="0">
                <a:solidFill>
                  <a:srgbClr val="028090"/>
                </a:solidFill>
                <a:latin typeface="Calibri"/>
              </a:rPr>
              <a:t>Hợp nhất từ nhiều nguồn</a:t>
            </a:r>
          </a:p>
          <a:p>
            <a:pPr algn="l">
              <a:lnSpc>
                <a:spcPct val="108000"/>
              </a:lnSpc>
            </a:pPr>
            <a:r>
              <a:rPr sz="1050" b="0" i="0">
                <a:solidFill>
                  <a:srgbClr val="17292D"/>
                </a:solidFill>
                <a:latin typeface="Calibri"/>
              </a:rPr>
              <a:t>Ba parser cùng ghi vào một DomainMetamodel; kiểu hóa tĩnh TypeScript bảo đảm mọi tham chiếu chéo đúng cấu trúc ngay lúc biên dịch.</a:t>
            </a:r>
          </a:p>
        </p:txBody>
      </p:sp>
      <p:sp>
        <p:nvSpPr>
          <p:cNvPr id="12" name="TextBox 11"/>
          <p:cNvSpPr txBox="1"/>
          <p:nvPr/>
        </p:nvSpPr>
        <p:spPr>
          <a:xfrm>
            <a:off x="594360" y="5897880"/>
            <a:ext cx="11018520" cy="457200"/>
          </a:xfrm>
          <a:prstGeom prst="rect">
            <a:avLst/>
          </a:prstGeom>
          <a:noFill/>
        </p:spPr>
        <p:txBody>
          <a:bodyPr wrap="square" anchor="t" lIns="0" rIns="0" tIns="0" bIns="0">
            <a:spAutoFit/>
          </a:bodyPr>
          <a:lstStyle/>
          <a:p>
            <a:pPr algn="ctr"/>
            <a:r>
              <a:rPr sz="1200" b="0" i="1">
                <a:solidFill>
                  <a:srgbClr val="5A7278"/>
                </a:solidFill>
                <a:latin typeface="Calibri"/>
              </a:rPr>
              <a:t>src/model/ tách ba tệp theo concern: dcsl-metamodel.ts · agl-metamodel.ts · rbac-metamodel.ts — phản ánh đúng tính trực giao của phương pháp.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3 · Tool support — hiện thực hóa phương pháp</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Hiện thực Bước 3 — ModelTransformer</a:t>
            </a:r>
          </a:p>
        </p:txBody>
      </p:sp>
      <p:sp>
        <p:nvSpPr>
          <p:cNvPr id="4" name="Oval 3"/>
          <p:cNvSpPr/>
          <p:nvPr/>
        </p:nvSpPr>
        <p:spPr>
          <a:xfrm>
            <a:off x="640080" y="1728216"/>
            <a:ext cx="384048" cy="38404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1</a:t>
            </a:r>
          </a:p>
        </p:txBody>
      </p:sp>
      <p:sp>
        <p:nvSpPr>
          <p:cNvPr id="5" name="TextBox 4"/>
          <p:cNvSpPr txBox="1"/>
          <p:nvPr/>
        </p:nvSpPr>
        <p:spPr>
          <a:xfrm>
            <a:off x="1234440" y="1691640"/>
            <a:ext cx="5669280" cy="1051560"/>
          </a:xfrm>
          <a:prstGeom prst="rect">
            <a:avLst/>
          </a:prstGeom>
          <a:noFill/>
        </p:spPr>
        <p:txBody>
          <a:bodyPr wrap="square" anchor="t" lIns="0" rIns="0" tIns="0" bIns="0">
            <a:spAutoFit/>
          </a:bodyPr>
          <a:lstStyle/>
          <a:p>
            <a:pPr algn="l">
              <a:spcAft>
                <a:spcPts val="200"/>
              </a:spcAft>
            </a:pPr>
            <a:r>
              <a:rPr sz="1400" b="1" i="0">
                <a:solidFill>
                  <a:srgbClr val="17292D"/>
                </a:solidFill>
                <a:latin typeface="Calibri"/>
              </a:rPr>
              <a:t>Chuẩn hóa lớp miền</a:t>
            </a:r>
          </a:p>
          <a:p>
            <a:pPr algn="l">
              <a:lnSpc>
                <a:spcPct val="108000"/>
              </a:lnSpc>
            </a:pPr>
            <a:r>
              <a:rPr sz="1150" b="0" i="0">
                <a:solidFill>
                  <a:srgbClr val="5A7278"/>
                </a:solidFill>
                <a:latin typeface="Calibri"/>
              </a:rPr>
              <a:t>Tự sinh id, createdAt / updatedAt cho mọi Entity — quy ước DCSL, người vẽ không phải lặp lại</a:t>
            </a:r>
          </a:p>
        </p:txBody>
      </p:sp>
      <p:sp>
        <p:nvSpPr>
          <p:cNvPr id="6" name="Oval 5"/>
          <p:cNvSpPr/>
          <p:nvPr/>
        </p:nvSpPr>
        <p:spPr>
          <a:xfrm>
            <a:off x="640080" y="2807208"/>
            <a:ext cx="384048" cy="38404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2</a:t>
            </a:r>
          </a:p>
        </p:txBody>
      </p:sp>
      <p:sp>
        <p:nvSpPr>
          <p:cNvPr id="7" name="TextBox 6"/>
          <p:cNvSpPr txBox="1"/>
          <p:nvPr/>
        </p:nvSpPr>
        <p:spPr>
          <a:xfrm>
            <a:off x="1234440" y="2770632"/>
            <a:ext cx="5669280" cy="1051560"/>
          </a:xfrm>
          <a:prstGeom prst="rect">
            <a:avLst/>
          </a:prstGeom>
          <a:noFill/>
        </p:spPr>
        <p:txBody>
          <a:bodyPr wrap="square" anchor="t" lIns="0" rIns="0" tIns="0" bIns="0">
            <a:spAutoFit/>
          </a:bodyPr>
          <a:lstStyle/>
          <a:p>
            <a:pPr algn="l">
              <a:spcAft>
                <a:spcPts val="200"/>
              </a:spcAft>
            </a:pPr>
            <a:r>
              <a:rPr sz="1400" b="1" i="0">
                <a:solidFill>
                  <a:srgbClr val="17292D"/>
                </a:solidFill>
                <a:latin typeface="Calibri"/>
              </a:rPr>
              <a:t>CRUD mặc định</a:t>
            </a:r>
          </a:p>
          <a:p>
            <a:pPr algn="l">
              <a:lnSpc>
                <a:spcPct val="108000"/>
              </a:lnSpc>
            </a:pPr>
            <a:r>
              <a:rPr sz="1150" b="0" i="0">
                <a:solidFill>
                  <a:srgbClr val="5A7278"/>
                </a:solidFill>
                <a:latin typeface="Calibri"/>
              </a:rPr>
              <a:t>AggregateRoot không khai báo method nào → tự sinh create / findAll / findById / update / delete</a:t>
            </a:r>
          </a:p>
        </p:txBody>
      </p:sp>
      <p:sp>
        <p:nvSpPr>
          <p:cNvPr id="8" name="Oval 7"/>
          <p:cNvSpPr/>
          <p:nvPr/>
        </p:nvSpPr>
        <p:spPr>
          <a:xfrm>
            <a:off x="640080" y="3886200"/>
            <a:ext cx="384048" cy="38404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3</a:t>
            </a:r>
          </a:p>
        </p:txBody>
      </p:sp>
      <p:sp>
        <p:nvSpPr>
          <p:cNvPr id="9" name="TextBox 8"/>
          <p:cNvSpPr txBox="1"/>
          <p:nvPr/>
        </p:nvSpPr>
        <p:spPr>
          <a:xfrm>
            <a:off x="1234440" y="3849624"/>
            <a:ext cx="5669280" cy="1051560"/>
          </a:xfrm>
          <a:prstGeom prst="rect">
            <a:avLst/>
          </a:prstGeom>
          <a:noFill/>
        </p:spPr>
        <p:txBody>
          <a:bodyPr wrap="square" anchor="t" lIns="0" rIns="0" tIns="0" bIns="0">
            <a:spAutoFit/>
          </a:bodyPr>
          <a:lstStyle/>
          <a:p>
            <a:pPr algn="l">
              <a:spcAft>
                <a:spcPts val="200"/>
              </a:spcAft>
            </a:pPr>
            <a:r>
              <a:rPr sz="1400" b="1" i="0">
                <a:solidFill>
                  <a:srgbClr val="17292D"/>
                </a:solidFill>
                <a:latin typeface="Calibri"/>
              </a:rPr>
              <a:t>Repository tự động</a:t>
            </a:r>
          </a:p>
          <a:p>
            <a:pPr algn="l">
              <a:lnSpc>
                <a:spcPct val="108000"/>
              </a:lnSpc>
            </a:pPr>
            <a:r>
              <a:rPr sz="1150" b="0" i="0">
                <a:solidFill>
                  <a:srgbClr val="5A7278"/>
                </a:solidFill>
                <a:latin typeface="Calibri"/>
              </a:rPr>
              <a:t>Mỗi AggregateRoot chưa có repository → tự sinh interface IXRepository + implementation in-memory</a:t>
            </a:r>
          </a:p>
        </p:txBody>
      </p:sp>
      <p:sp>
        <p:nvSpPr>
          <p:cNvPr id="10" name="Oval 9"/>
          <p:cNvSpPr/>
          <p:nvPr/>
        </p:nvSpPr>
        <p:spPr>
          <a:xfrm>
            <a:off x="640080" y="4965192"/>
            <a:ext cx="384048" cy="38404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4</a:t>
            </a:r>
          </a:p>
        </p:txBody>
      </p:sp>
      <p:sp>
        <p:nvSpPr>
          <p:cNvPr id="11" name="TextBox 10"/>
          <p:cNvSpPr txBox="1"/>
          <p:nvPr/>
        </p:nvSpPr>
        <p:spPr>
          <a:xfrm>
            <a:off x="1234440" y="4928616"/>
            <a:ext cx="5669280" cy="1051560"/>
          </a:xfrm>
          <a:prstGeom prst="rect">
            <a:avLst/>
          </a:prstGeom>
          <a:noFill/>
        </p:spPr>
        <p:txBody>
          <a:bodyPr wrap="square" anchor="t" lIns="0" rIns="0" tIns="0" bIns="0">
            <a:spAutoFit/>
          </a:bodyPr>
          <a:lstStyle/>
          <a:p>
            <a:pPr algn="l">
              <a:spcAft>
                <a:spcPts val="200"/>
              </a:spcAft>
            </a:pPr>
            <a:r>
              <a:rPr sz="1400" b="1" i="0">
                <a:solidFill>
                  <a:srgbClr val="17292D"/>
                </a:solidFill>
                <a:latin typeface="Calibri"/>
              </a:rPr>
              <a:t>Lan truyền quyền RBAC₁</a:t>
            </a:r>
          </a:p>
          <a:p>
            <a:pPr algn="l">
              <a:lnSpc>
                <a:spcPct val="108000"/>
              </a:lnSpc>
            </a:pPr>
            <a:r>
              <a:rPr sz="1150" b="0" i="0">
                <a:solidFill>
                  <a:srgbClr val="5A7278"/>
                </a:solidFill>
                <a:latin typeface="Calibri"/>
              </a:rPr>
              <a:t>Vòng lặp fixed-point trên role hierarchy: quyền của role cha = quyền khai báo + quyền mọi role con, hội tụ với hierarchy nhiều tầng</a:t>
            </a:r>
          </a:p>
        </p:txBody>
      </p:sp>
      <p:sp>
        <p:nvSpPr>
          <p:cNvPr id="12" name="Rounded Rectangle 11"/>
          <p:cNvSpPr/>
          <p:nvPr/>
        </p:nvSpPr>
        <p:spPr>
          <a:xfrm>
            <a:off x="7223760" y="1691640"/>
            <a:ext cx="4389120" cy="3291840"/>
          </a:xfrm>
          <a:prstGeom prst="roundRect">
            <a:avLst>
              <a:gd name="adj" fmla="val 5500"/>
            </a:avLst>
          </a:prstGeom>
          <a:solidFill>
            <a:srgbClr val="0E3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79792" y="1892808"/>
            <a:ext cx="3877056" cy="2889504"/>
          </a:xfrm>
          <a:prstGeom prst="rect">
            <a:avLst/>
          </a:prstGeom>
          <a:noFill/>
        </p:spPr>
        <p:txBody>
          <a:bodyPr wrap="square" anchor="t" lIns="0" rIns="0" tIns="0" bIns="0">
            <a:spAutoFit/>
          </a:bodyPr>
          <a:lstStyle/>
          <a:p>
            <a:pPr algn="l">
              <a:spcAft>
                <a:spcPts val="250"/>
              </a:spcAft>
            </a:pPr>
            <a:r>
              <a:rPr sz="1050" b="0" i="0">
                <a:solidFill>
                  <a:srgbClr val="9EDDE2"/>
                </a:solidFill>
                <a:latin typeface="Courier New"/>
              </a:rPr>
              <a:t>// roles.enum.ts (sinh ra)</a:t>
            </a:r>
          </a:p>
          <a:p>
            <a:pPr algn="l">
              <a:spcAft>
                <a:spcPts val="250"/>
              </a:spcAft>
            </a:pPr>
            <a:r>
              <a:rPr sz="1050" b="0" i="0">
                <a:solidFill>
                  <a:srgbClr val="CFE9EB"/>
                </a:solidFill>
                <a:latin typeface="Courier New"/>
              </a:rPr>
              <a:t>export enum Role {</a:t>
            </a:r>
          </a:p>
          <a:p>
            <a:pPr algn="l">
              <a:spcAft>
                <a:spcPts val="250"/>
              </a:spcAft>
            </a:pPr>
            <a:r>
              <a:rPr sz="1050" b="0" i="0">
                <a:solidFill>
                  <a:srgbClr val="CFE9EB"/>
                </a:solidFill>
                <a:latin typeface="Courier New"/>
              </a:rPr>
              <a:t>  ADMIN = 'Admin',</a:t>
            </a:r>
          </a:p>
          <a:p>
            <a:pPr algn="l">
              <a:spcAft>
                <a:spcPts val="250"/>
              </a:spcAft>
            </a:pPr>
            <a:r>
              <a:rPr sz="1050" b="0" i="0">
                <a:solidFill>
                  <a:srgbClr val="CFE9EB"/>
                </a:solidFill>
                <a:latin typeface="Courier New"/>
              </a:rPr>
              <a:t>  ENROLLMENT_OFFICER =</a:t>
            </a:r>
          </a:p>
          <a:p>
            <a:pPr algn="l">
              <a:spcAft>
                <a:spcPts val="250"/>
              </a:spcAft>
            </a:pPr>
            <a:r>
              <a:rPr sz="1050" b="0" i="0">
                <a:solidFill>
                  <a:srgbClr val="CFE9EB"/>
                </a:solidFill>
                <a:latin typeface="Courier New"/>
              </a:rPr>
              <a:t>      'EnrollmentOfficer',</a:t>
            </a:r>
          </a:p>
          <a:p>
            <a:pPr algn="l">
              <a:spcAft>
                <a:spcPts val="250"/>
              </a:spcAft>
            </a:pPr>
            <a:r>
              <a:rPr sz="1050" b="0" i="0">
                <a:solidFill>
                  <a:srgbClr val="CFE9EB"/>
                </a:solidFill>
                <a:latin typeface="Courier New"/>
              </a:rPr>
              <a:t>  STUDENT_ROLE = 'StudentRole',</a:t>
            </a:r>
          </a:p>
          <a:p>
            <a:pPr algn="l">
              <a:spcAft>
                <a:spcPts val="250"/>
              </a:spcAft>
            </a:pPr>
            <a:r>
              <a:rPr sz="1050" b="0" i="0">
                <a:solidFill>
                  <a:srgbClr val="CFE9EB"/>
                </a:solidFill>
                <a:latin typeface="Courier New"/>
              </a:rPr>
              <a:t>}</a:t>
            </a:r>
          </a:p>
          <a:p>
            <a:pPr algn="l">
              <a:spcAft>
                <a:spcPts val="250"/>
              </a:spcAft>
            </a:pPr>
            <a:r>
              <a:rPr sz="1050" b="0" i="0">
                <a:solidFill>
                  <a:srgbClr val="9EDDE2"/>
                </a:solidFill>
                <a:latin typeface="Courier New"/>
              </a:rPr>
              <a:t>// RBAC1 hierarchy (Sandhu96)</a:t>
            </a:r>
          </a:p>
          <a:p>
            <a:pPr algn="l">
              <a:spcAft>
                <a:spcPts val="250"/>
              </a:spcAft>
            </a:pPr>
            <a:r>
              <a:rPr sz="1050" b="0" i="0">
                <a:solidFill>
                  <a:srgbClr val="CFE9EB"/>
                </a:solidFill>
                <a:latin typeface="Courier New"/>
              </a:rPr>
              <a:t>export const ROLE_HIERARCHY = {</a:t>
            </a:r>
          </a:p>
          <a:p>
            <a:pPr algn="l">
              <a:spcAft>
                <a:spcPts val="250"/>
              </a:spcAft>
            </a:pPr>
            <a:r>
              <a:rPr sz="1050" b="1" i="0">
                <a:solidFill>
                  <a:srgbClr val="8AE6C9"/>
                </a:solidFill>
                <a:latin typeface="Courier New"/>
              </a:rPr>
              <a:t>  [Role.ADMIN]:</a:t>
            </a:r>
          </a:p>
          <a:p>
            <a:pPr algn="l">
              <a:spcAft>
                <a:spcPts val="250"/>
              </a:spcAft>
            </a:pPr>
            <a:r>
              <a:rPr sz="1050" b="1" i="0">
                <a:solidFill>
                  <a:srgbClr val="8AE6C9"/>
                </a:solidFill>
                <a:latin typeface="Courier New"/>
              </a:rPr>
              <a:t>    Role.ENROLLMENT_OFFICER,</a:t>
            </a:r>
          </a:p>
          <a:p>
            <a:pPr algn="l">
              <a:spcAft>
                <a:spcPts val="250"/>
              </a:spcAft>
            </a:pPr>
            <a:r>
              <a:rPr sz="1050" b="0" i="0">
                <a:solidFill>
                  <a:srgbClr val="CFE9EB"/>
                </a:solidFill>
                <a:latin typeface="Courier New"/>
              </a:rPr>
              <a:t>};</a:t>
            </a:r>
          </a:p>
        </p:txBody>
      </p:sp>
      <p:sp>
        <p:nvSpPr>
          <p:cNvPr id="14" name="TextBox 13"/>
          <p:cNvSpPr txBox="1"/>
          <p:nvPr/>
        </p:nvSpPr>
        <p:spPr>
          <a:xfrm>
            <a:off x="7223760" y="5120640"/>
            <a:ext cx="4389120" cy="914400"/>
          </a:xfrm>
          <a:prstGeom prst="rect">
            <a:avLst/>
          </a:prstGeom>
          <a:noFill/>
        </p:spPr>
        <p:txBody>
          <a:bodyPr wrap="square" anchor="t" lIns="0" rIns="0" tIns="0" bIns="0">
            <a:spAutoFit/>
          </a:bodyPr>
          <a:lstStyle/>
          <a:p>
            <a:pPr algn="l">
              <a:lnSpc>
                <a:spcPct val="110000"/>
              </a:lnSpc>
            </a:pPr>
            <a:r>
              <a:rPr sz="1150" b="0" i="1">
                <a:solidFill>
                  <a:srgbClr val="5A7278"/>
                </a:solidFill>
                <a:latin typeface="Calibri"/>
              </a:rPr>
              <a:t>16 lớp của CourseMan được làm giàu tự động ở bước này trước khi sinh mã.</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3 · Tool support — hiện thực hóa phương pháp</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Hiện thực Bước 4 — OCL subset parser</a:t>
            </a:r>
          </a:p>
        </p:txBody>
      </p:sp>
      <p:sp>
        <p:nvSpPr>
          <p:cNvPr id="4" name="Rounded Rectangle 3"/>
          <p:cNvSpPr/>
          <p:nvPr/>
        </p:nvSpPr>
        <p:spPr>
          <a:xfrm>
            <a:off x="594360" y="1691640"/>
            <a:ext cx="5806440" cy="3246120"/>
          </a:xfrm>
          <a:prstGeom prst="roundRect">
            <a:avLst>
              <a:gd name="adj" fmla="val 5500"/>
            </a:avLst>
          </a:prstGeom>
          <a:solidFill>
            <a:srgbClr val="0E3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892808"/>
            <a:ext cx="5294375" cy="2843784"/>
          </a:xfrm>
          <a:prstGeom prst="rect">
            <a:avLst/>
          </a:prstGeom>
          <a:noFill/>
        </p:spPr>
        <p:txBody>
          <a:bodyPr wrap="square" anchor="t" lIns="0" rIns="0" tIns="0" bIns="0">
            <a:spAutoFit/>
          </a:bodyPr>
          <a:lstStyle/>
          <a:p>
            <a:pPr algn="l">
              <a:spcAft>
                <a:spcPts val="250"/>
              </a:spcAft>
            </a:pPr>
            <a:r>
              <a:rPr sz="1100" b="0" i="0">
                <a:solidFill>
                  <a:srgbClr val="9EDDE2"/>
                </a:solidFill>
                <a:latin typeface="Courier New"/>
              </a:rPr>
              <a:t>-- CourseManagementRbac.ocl</a:t>
            </a:r>
          </a:p>
          <a:p>
            <a:pPr algn="l">
              <a:spcAft>
                <a:spcPts val="250"/>
              </a:spcAft>
            </a:pPr>
            <a:r>
              <a:rPr sz="1100" b="0" i="0">
                <a:solidFill>
                  <a:srgbClr val="F9E795"/>
                </a:solidFill>
                <a:latin typeface="Courier New"/>
              </a:rPr>
              <a:t>context Role</a:t>
            </a:r>
          </a:p>
          <a:p>
            <a:pPr algn="l">
              <a:spcAft>
                <a:spcPts val="250"/>
              </a:spcAft>
            </a:pPr>
            <a:r>
              <a:rPr sz="1100" b="0" i="0">
                <a:solidFill>
                  <a:srgbClr val="CFE9EB"/>
                </a:solidFill>
                <a:latin typeface="Courier New"/>
              </a:rPr>
              <a:t>  inv UniqueRoleName:</a:t>
            </a:r>
          </a:p>
          <a:p>
            <a:pPr algn="l">
              <a:spcAft>
                <a:spcPts val="250"/>
              </a:spcAft>
            </a:pPr>
            <a:r>
              <a:rPr sz="1100" b="0" i="0">
                <a:solidFill>
                  <a:srgbClr val="CFE9EB"/>
                </a:solidFill>
                <a:latin typeface="Courier New"/>
              </a:rPr>
              <a:t>    Role.allInstances()-&gt;isUnique(name)</a:t>
            </a:r>
          </a:p>
          <a:p>
            <a:pPr algn="l">
              <a:spcAft>
                <a:spcPts val="250"/>
              </a:spcAft>
            </a:pPr>
            <a:r>
              <a:rPr sz="1100" b="0" i="0">
                <a:solidFill>
                  <a:srgbClr val="CFE9EB"/>
                </a:solidFill>
                <a:latin typeface="Courier New"/>
              </a:rPr>
              <a:t/>
            </a:r>
          </a:p>
          <a:p>
            <a:pPr algn="l">
              <a:spcAft>
                <a:spcPts val="250"/>
              </a:spcAft>
            </a:pPr>
            <a:r>
              <a:rPr sz="1100" b="0" i="0">
                <a:solidFill>
                  <a:srgbClr val="F9E795"/>
                </a:solidFill>
                <a:latin typeface="Courier New"/>
              </a:rPr>
              <a:t>context User</a:t>
            </a:r>
          </a:p>
          <a:p>
            <a:pPr algn="l">
              <a:spcAft>
                <a:spcPts val="250"/>
              </a:spcAft>
            </a:pPr>
            <a:r>
              <a:rPr sz="1100" b="0" i="0">
                <a:solidFill>
                  <a:srgbClr val="CFE9EB"/>
                </a:solidFill>
                <a:latin typeface="Courier New"/>
              </a:rPr>
              <a:t>  inv OnlyAssignedRolesActivated:</a:t>
            </a:r>
          </a:p>
          <a:p>
            <a:pPr algn="l">
              <a:spcAft>
                <a:spcPts val="250"/>
              </a:spcAft>
            </a:pPr>
            <a:r>
              <a:rPr sz="1100" b="0" i="0">
                <a:solidFill>
                  <a:srgbClr val="CFE9EB"/>
                </a:solidFill>
                <a:latin typeface="Courier New"/>
              </a:rPr>
              <a:t>    self.sessions-&gt;forAll(s |</a:t>
            </a:r>
          </a:p>
          <a:p>
            <a:pPr algn="l">
              <a:spcAft>
                <a:spcPts val="250"/>
              </a:spcAft>
            </a:pPr>
            <a:r>
              <a:rPr sz="1100" b="0" i="0">
                <a:solidFill>
                  <a:srgbClr val="CFE9EB"/>
                </a:solidFill>
                <a:latin typeface="Courier New"/>
              </a:rPr>
              <a:t>      s.activeRoles-&gt;forAll(r |</a:t>
            </a:r>
          </a:p>
          <a:p>
            <a:pPr algn="l">
              <a:spcAft>
                <a:spcPts val="250"/>
              </a:spcAft>
            </a:pPr>
            <a:r>
              <a:rPr sz="1100" b="0" i="0">
                <a:solidFill>
                  <a:srgbClr val="CFE9EB"/>
                </a:solidFill>
                <a:latin typeface="Courier New"/>
              </a:rPr>
              <a:t>        self.assignedRoles-&gt;includes(r)))</a:t>
            </a:r>
          </a:p>
        </p:txBody>
      </p:sp>
      <p:sp>
        <p:nvSpPr>
          <p:cNvPr id="6" name="Rounded Rectangle 5"/>
          <p:cNvSpPr/>
          <p:nvPr/>
        </p:nvSpPr>
        <p:spPr>
          <a:xfrm>
            <a:off x="6629400" y="1691640"/>
            <a:ext cx="4983480" cy="658368"/>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03720" y="1691640"/>
            <a:ext cx="2286000" cy="658368"/>
          </a:xfrm>
          <a:prstGeom prst="rect">
            <a:avLst/>
          </a:prstGeom>
          <a:noFill/>
        </p:spPr>
        <p:txBody>
          <a:bodyPr wrap="square" anchor="ctr" lIns="0" rIns="0" tIns="0" bIns="0">
            <a:spAutoFit/>
          </a:bodyPr>
          <a:lstStyle/>
          <a:p>
            <a:pPr algn="l"/>
            <a:r>
              <a:rPr sz="1250" b="1" i="0">
                <a:solidFill>
                  <a:srgbClr val="028090"/>
                </a:solidFill>
                <a:latin typeface="Courier New"/>
              </a:rPr>
              <a:t>ocl-tokens</a:t>
            </a:r>
          </a:p>
        </p:txBody>
      </p:sp>
      <p:sp>
        <p:nvSpPr>
          <p:cNvPr id="8" name="TextBox 7"/>
          <p:cNvSpPr txBox="1"/>
          <p:nvPr/>
        </p:nvSpPr>
        <p:spPr>
          <a:xfrm>
            <a:off x="9281160" y="1691640"/>
            <a:ext cx="2194560" cy="658368"/>
          </a:xfrm>
          <a:prstGeom prst="rect">
            <a:avLst/>
          </a:prstGeom>
          <a:noFill/>
        </p:spPr>
        <p:txBody>
          <a:bodyPr wrap="square" anchor="ctr" lIns="0" rIns="0" tIns="0" bIns="0">
            <a:spAutoFit/>
          </a:bodyPr>
          <a:lstStyle/>
          <a:p>
            <a:pPr algn="l">
              <a:lnSpc>
                <a:spcPct val="102000"/>
              </a:lnSpc>
            </a:pPr>
            <a:r>
              <a:rPr sz="1050" b="0" i="0">
                <a:solidFill>
                  <a:srgbClr val="17292D"/>
                </a:solidFill>
                <a:latin typeface="Calibri"/>
              </a:rPr>
              <a:t>định nghĩa token (118 dòng)</a:t>
            </a:r>
          </a:p>
        </p:txBody>
      </p:sp>
      <p:sp>
        <p:nvSpPr>
          <p:cNvPr id="9" name="Right Arrow 8"/>
          <p:cNvSpPr/>
          <p:nvPr/>
        </p:nvSpPr>
        <p:spPr>
          <a:xfrm rot="5400000">
            <a:off x="8549640" y="2359152"/>
            <a:ext cx="182880" cy="182880"/>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29400" y="2560320"/>
            <a:ext cx="4983480" cy="658368"/>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0" y="2560320"/>
            <a:ext cx="2286000" cy="658368"/>
          </a:xfrm>
          <a:prstGeom prst="rect">
            <a:avLst/>
          </a:prstGeom>
          <a:noFill/>
        </p:spPr>
        <p:txBody>
          <a:bodyPr wrap="square" anchor="ctr" lIns="0" rIns="0" tIns="0" bIns="0">
            <a:spAutoFit/>
          </a:bodyPr>
          <a:lstStyle/>
          <a:p>
            <a:pPr algn="l"/>
            <a:r>
              <a:rPr sz="1250" b="1" i="0">
                <a:solidFill>
                  <a:srgbClr val="028090"/>
                </a:solidFill>
                <a:latin typeface="Courier New"/>
              </a:rPr>
              <a:t>ocl-cst-parser</a:t>
            </a:r>
          </a:p>
        </p:txBody>
      </p:sp>
      <p:sp>
        <p:nvSpPr>
          <p:cNvPr id="12" name="TextBox 11"/>
          <p:cNvSpPr txBox="1"/>
          <p:nvPr/>
        </p:nvSpPr>
        <p:spPr>
          <a:xfrm>
            <a:off x="9281160" y="2560320"/>
            <a:ext cx="2194560" cy="658368"/>
          </a:xfrm>
          <a:prstGeom prst="rect">
            <a:avLst/>
          </a:prstGeom>
          <a:noFill/>
        </p:spPr>
        <p:txBody>
          <a:bodyPr wrap="square" anchor="ctr" lIns="0" rIns="0" tIns="0" bIns="0">
            <a:spAutoFit/>
          </a:bodyPr>
          <a:lstStyle/>
          <a:p>
            <a:pPr algn="l">
              <a:lnSpc>
                <a:spcPct val="102000"/>
              </a:lnSpc>
            </a:pPr>
            <a:r>
              <a:rPr sz="1050" b="0" i="0">
                <a:solidFill>
                  <a:srgbClr val="17292D"/>
                </a:solidFill>
                <a:latin typeface="Calibri"/>
              </a:rPr>
              <a:t>văn phạm chevrotain → CST (389 dòng)</a:t>
            </a:r>
          </a:p>
        </p:txBody>
      </p:sp>
      <p:sp>
        <p:nvSpPr>
          <p:cNvPr id="13" name="Right Arrow 12"/>
          <p:cNvSpPr/>
          <p:nvPr/>
        </p:nvSpPr>
        <p:spPr>
          <a:xfrm rot="5400000">
            <a:off x="8549640" y="3227832"/>
            <a:ext cx="182880" cy="182880"/>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29400" y="3429000"/>
            <a:ext cx="4983480" cy="658368"/>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03720" y="3429000"/>
            <a:ext cx="2286000" cy="658368"/>
          </a:xfrm>
          <a:prstGeom prst="rect">
            <a:avLst/>
          </a:prstGeom>
          <a:noFill/>
        </p:spPr>
        <p:txBody>
          <a:bodyPr wrap="square" anchor="ctr" lIns="0" rIns="0" tIns="0" bIns="0">
            <a:spAutoFit/>
          </a:bodyPr>
          <a:lstStyle/>
          <a:p>
            <a:pPr algn="l"/>
            <a:r>
              <a:rPr sz="1250" b="1" i="0">
                <a:solidFill>
                  <a:srgbClr val="028090"/>
                </a:solidFill>
                <a:latin typeface="Courier New"/>
              </a:rPr>
              <a:t>ocl-ast-builder</a:t>
            </a:r>
          </a:p>
        </p:txBody>
      </p:sp>
      <p:sp>
        <p:nvSpPr>
          <p:cNvPr id="16" name="TextBox 15"/>
          <p:cNvSpPr txBox="1"/>
          <p:nvPr/>
        </p:nvSpPr>
        <p:spPr>
          <a:xfrm>
            <a:off x="9281160" y="3429000"/>
            <a:ext cx="2194560" cy="658368"/>
          </a:xfrm>
          <a:prstGeom prst="rect">
            <a:avLst/>
          </a:prstGeom>
          <a:noFill/>
        </p:spPr>
        <p:txBody>
          <a:bodyPr wrap="square" anchor="ctr" lIns="0" rIns="0" tIns="0" bIns="0">
            <a:spAutoFit/>
          </a:bodyPr>
          <a:lstStyle/>
          <a:p>
            <a:pPr algn="l">
              <a:lnSpc>
                <a:spcPct val="102000"/>
              </a:lnSpc>
            </a:pPr>
            <a:r>
              <a:rPr sz="1050" b="0" i="0">
                <a:solidFill>
                  <a:srgbClr val="17292D"/>
                </a:solidFill>
                <a:latin typeface="Calibri"/>
              </a:rPr>
              <a:t>CST → AST có kiểu (307 dòng)</a:t>
            </a:r>
          </a:p>
        </p:txBody>
      </p:sp>
      <p:sp>
        <p:nvSpPr>
          <p:cNvPr id="17" name="Rounded Rectangle 16"/>
          <p:cNvSpPr/>
          <p:nvPr/>
        </p:nvSpPr>
        <p:spPr>
          <a:xfrm>
            <a:off x="6629400" y="4343400"/>
            <a:ext cx="4983480" cy="146304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0" y="4507992"/>
            <a:ext cx="4526280" cy="1133856"/>
          </a:xfrm>
          <a:prstGeom prst="rect">
            <a:avLst/>
          </a:prstGeom>
          <a:noFill/>
        </p:spPr>
        <p:txBody>
          <a:bodyPr wrap="square" anchor="t" lIns="0" rIns="0" tIns="0" bIns="0">
            <a:spAutoFit/>
          </a:bodyPr>
          <a:lstStyle/>
          <a:p>
            <a:pPr algn="l">
              <a:spcAft>
                <a:spcPts val="400"/>
              </a:spcAft>
            </a:pPr>
            <a:r>
              <a:rPr sz="1300" b="1" i="0">
                <a:solidFill>
                  <a:srgbClr val="028090"/>
                </a:solidFill>
                <a:latin typeface="Calibri"/>
              </a:rPr>
              <a:t>Phạm vi subset</a:t>
            </a:r>
          </a:p>
          <a:p>
            <a:pPr algn="l">
              <a:lnSpc>
                <a:spcPct val="108000"/>
              </a:lnSpc>
            </a:pPr>
            <a:r>
              <a:rPr sz="1100" b="0" i="0">
                <a:solidFill>
                  <a:srgbClr val="17292D"/>
                </a:solidFill>
                <a:latin typeface="Calibri"/>
              </a:rPr>
              <a:t>inv trong context; forAll / exists / includes / isUnique; navigation qua thuộc tính; biểu thức boolean. Đủ cho lớp bất biến RBAC₀–₂ chuẩn của Ray–Li–France.</a:t>
            </a:r>
          </a:p>
        </p:txBody>
      </p:sp>
      <p:sp>
        <p:nvSpPr>
          <p:cNvPr id="19" name="TextBox 18"/>
          <p:cNvSpPr txBox="1"/>
          <p:nvPr/>
        </p:nvSpPr>
        <p:spPr>
          <a:xfrm>
            <a:off x="594360" y="5166360"/>
            <a:ext cx="5806440" cy="822960"/>
          </a:xfrm>
          <a:prstGeom prst="rect">
            <a:avLst/>
          </a:prstGeom>
          <a:noFill/>
        </p:spPr>
        <p:txBody>
          <a:bodyPr wrap="square" anchor="t" lIns="0" rIns="0" tIns="0" bIns="0">
            <a:spAutoFit/>
          </a:bodyPr>
          <a:lstStyle/>
          <a:p>
            <a:pPr algn="l">
              <a:lnSpc>
                <a:spcPct val="112000"/>
              </a:lnSpc>
            </a:pPr>
            <a:r>
              <a:rPr sz="1200" b="0" i="1">
                <a:solidFill>
                  <a:srgbClr val="5A7278"/>
                </a:solidFill>
                <a:latin typeface="Calibri"/>
              </a:rPr>
              <a:t>Trạng thái: parser hoàn chỉnh + demo; bước kiểm chứng bất biến trên mô hình (trước khi sinh mã) đang tích hợp.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3 · Tool support — hiện thực hóa phương pháp</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Hiện thực Bước 5 — mã NestJS sinh ra</a:t>
            </a:r>
          </a:p>
        </p:txBody>
      </p:sp>
      <p:sp>
        <p:nvSpPr>
          <p:cNvPr id="4" name="Rounded Rectangle 3"/>
          <p:cNvSpPr/>
          <p:nvPr/>
        </p:nvSpPr>
        <p:spPr>
          <a:xfrm>
            <a:off x="594360" y="1691640"/>
            <a:ext cx="5577840" cy="3931920"/>
          </a:xfrm>
          <a:prstGeom prst="roundRect">
            <a:avLst>
              <a:gd name="adj" fmla="val 5500"/>
            </a:avLst>
          </a:prstGeom>
          <a:solidFill>
            <a:srgbClr val="0E3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892808"/>
            <a:ext cx="5065775" cy="3529584"/>
          </a:xfrm>
          <a:prstGeom prst="rect">
            <a:avLst/>
          </a:prstGeom>
          <a:noFill/>
        </p:spPr>
        <p:txBody>
          <a:bodyPr wrap="square" anchor="t" lIns="0" rIns="0" tIns="0" bIns="0">
            <a:spAutoFit/>
          </a:bodyPr>
          <a:lstStyle/>
          <a:p>
            <a:pPr algn="l">
              <a:spcAft>
                <a:spcPts val="250"/>
              </a:spcAft>
            </a:pPr>
            <a:r>
              <a:rPr sz="1050" b="0" i="0">
                <a:solidFill>
                  <a:srgbClr val="9EDDE2"/>
                </a:solidFill>
                <a:latin typeface="Courier New"/>
              </a:rPr>
              <a:t>/**</a:t>
            </a:r>
          </a:p>
          <a:p>
            <a:pPr algn="l">
              <a:spcAft>
                <a:spcPts val="250"/>
              </a:spcAft>
            </a:pPr>
            <a:r>
              <a:rPr sz="1050" b="1" i="0">
                <a:solidFill>
                  <a:srgbClr val="9EDDE2"/>
                </a:solidFill>
                <a:latin typeface="Courier New"/>
              </a:rPr>
              <a:t> * RegisterStudentUseCase</a:t>
            </a:r>
          </a:p>
          <a:p>
            <a:pPr algn="l">
              <a:spcAft>
                <a:spcPts val="250"/>
              </a:spcAft>
            </a:pPr>
            <a:r>
              <a:rPr sz="1050" b="0" i="0">
                <a:solidFill>
                  <a:srgbClr val="9EDDE2"/>
                </a:solidFill>
                <a:latin typeface="Courier New"/>
              </a:rPr>
              <a:t> * Generated by ddd-codegen</a:t>
            </a:r>
          </a:p>
          <a:p>
            <a:pPr algn="l">
              <a:spcAft>
                <a:spcPts val="250"/>
              </a:spcAft>
            </a:pPr>
            <a:r>
              <a:rPr sz="1050" b="0" i="0">
                <a:solidFill>
                  <a:srgbClr val="9EDDE2"/>
                </a:solidFill>
                <a:latin typeface="Courier New"/>
              </a:rPr>
              <a:t> * Metamodel: AGL ANode (SAA)</a:t>
            </a:r>
          </a:p>
          <a:p>
            <a:pPr algn="l">
              <a:spcAft>
                <a:spcPts val="250"/>
              </a:spcAft>
            </a:pPr>
            <a:r>
              <a:rPr sz="1050" b="0" i="0">
                <a:solidFill>
                  <a:srgbClr val="9EDDE2"/>
                </a:solidFill>
                <a:latin typeface="Courier New"/>
              </a:rPr>
              <a:t> * Trace từ .activity.puml:</a:t>
            </a:r>
          </a:p>
          <a:p>
            <a:pPr algn="l">
              <a:spcAft>
                <a:spcPts val="250"/>
              </a:spcAft>
            </a:pPr>
            <a:r>
              <a:rPr sz="1050" b="0" i="0">
                <a:solidFill>
                  <a:srgbClr val="F9E795"/>
                </a:solidFill>
                <a:latin typeface="Courier New"/>
              </a:rPr>
              <a:t> *  open → newObject →</a:t>
            </a:r>
          </a:p>
          <a:p>
            <a:pPr algn="l">
              <a:spcAft>
                <a:spcPts val="250"/>
              </a:spcAft>
            </a:pPr>
            <a:r>
              <a:rPr sz="1050" b="0" i="0">
                <a:solidFill>
                  <a:srgbClr val="F9E795"/>
                </a:solidFill>
                <a:latin typeface="Courier New"/>
              </a:rPr>
              <a:t> *  setDataFieldValues → createObject</a:t>
            </a:r>
          </a:p>
          <a:p>
            <a:pPr algn="l">
              <a:spcAft>
                <a:spcPts val="250"/>
              </a:spcAft>
            </a:pPr>
            <a:r>
              <a:rPr sz="1050" b="0" i="0">
                <a:solidFill>
                  <a:srgbClr val="9EDDE2"/>
                </a:solidFill>
                <a:latin typeface="Courier New"/>
              </a:rPr>
              <a:t> */</a:t>
            </a:r>
          </a:p>
          <a:p>
            <a:pPr algn="l">
              <a:spcAft>
                <a:spcPts val="250"/>
              </a:spcAft>
            </a:pPr>
            <a:r>
              <a:rPr sz="1050" b="0" i="0">
                <a:solidFill>
                  <a:srgbClr val="8AE6C9"/>
                </a:solidFill>
                <a:latin typeface="Courier New"/>
              </a:rPr>
              <a:t>@CommandHandler(RegisterStudentCommand)</a:t>
            </a:r>
          </a:p>
          <a:p>
            <a:pPr algn="l">
              <a:spcAft>
                <a:spcPts val="250"/>
              </a:spcAft>
            </a:pPr>
            <a:r>
              <a:rPr sz="1050" b="0" i="0">
                <a:solidFill>
                  <a:srgbClr val="CFE9EB"/>
                </a:solidFill>
                <a:latin typeface="Courier New"/>
              </a:rPr>
              <a:t>export class RegisterStudentUseCase</a:t>
            </a:r>
          </a:p>
          <a:p>
            <a:pPr algn="l">
              <a:spcAft>
                <a:spcPts val="250"/>
              </a:spcAft>
            </a:pPr>
            <a:r>
              <a:rPr sz="1050" b="0" i="0">
                <a:solidFill>
                  <a:srgbClr val="CFE9EB"/>
                </a:solidFill>
                <a:latin typeface="Courier New"/>
              </a:rPr>
              <a:t>  implements ICommandHandler&lt;...&gt; {</a:t>
            </a:r>
          </a:p>
          <a:p>
            <a:pPr algn="l">
              <a:spcAft>
                <a:spcPts val="250"/>
              </a:spcAft>
            </a:pPr>
            <a:r>
              <a:rPr sz="1050" b="0" i="0">
                <a:solidFill>
                  <a:srgbClr val="CFE9EB"/>
                </a:solidFill>
                <a:latin typeface="Courier New"/>
              </a:rPr>
              <a:t>  constructor(</a:t>
            </a:r>
          </a:p>
          <a:p>
            <a:pPr algn="l">
              <a:spcAft>
                <a:spcPts val="250"/>
              </a:spcAft>
            </a:pPr>
            <a:r>
              <a:rPr sz="1050" b="0" i="0">
                <a:solidFill>
                  <a:srgbClr val="CFE9EB"/>
                </a:solidFill>
                <a:latin typeface="Courier New"/>
              </a:rPr>
              <a:t>    @Inject(STUDENT_REPOSITORY_TOKEN)</a:t>
            </a:r>
          </a:p>
          <a:p>
            <a:pPr algn="l">
              <a:spcAft>
                <a:spcPts val="250"/>
              </a:spcAft>
            </a:pPr>
            <a:r>
              <a:rPr sz="1050" b="0" i="0">
                <a:solidFill>
                  <a:srgbClr val="CFE9EB"/>
                </a:solidFill>
                <a:latin typeface="Courier New"/>
              </a:rPr>
              <a:t>    private repo: IStudentRepository,</a:t>
            </a:r>
          </a:p>
          <a:p>
            <a:pPr algn="l">
              <a:spcAft>
                <a:spcPts val="250"/>
              </a:spcAft>
            </a:pPr>
            <a:r>
              <a:rPr sz="1050" b="0" i="0">
                <a:solidFill>
                  <a:srgbClr val="CFE9EB"/>
                </a:solidFill>
                <a:latin typeface="Courier New"/>
              </a:rPr>
              <a:t>  ) {}</a:t>
            </a:r>
          </a:p>
        </p:txBody>
      </p:sp>
      <p:sp>
        <p:nvSpPr>
          <p:cNvPr id="6" name="Rounded Rectangle 5"/>
          <p:cNvSpPr/>
          <p:nvPr/>
        </p:nvSpPr>
        <p:spPr>
          <a:xfrm>
            <a:off x="6355080" y="1691640"/>
            <a:ext cx="5257800" cy="2560320"/>
          </a:xfrm>
          <a:prstGeom prst="roundRect">
            <a:avLst>
              <a:gd name="adj" fmla="val 5500"/>
            </a:avLst>
          </a:prstGeom>
          <a:solidFill>
            <a:srgbClr val="0E3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11112" y="1892808"/>
            <a:ext cx="4745736" cy="2157984"/>
          </a:xfrm>
          <a:prstGeom prst="rect">
            <a:avLst/>
          </a:prstGeom>
          <a:noFill/>
        </p:spPr>
        <p:txBody>
          <a:bodyPr wrap="square" anchor="t" lIns="0" rIns="0" tIns="0" bIns="0">
            <a:spAutoFit/>
          </a:bodyPr>
          <a:lstStyle/>
          <a:p>
            <a:pPr algn="l">
              <a:spcAft>
                <a:spcPts val="250"/>
              </a:spcAft>
            </a:pPr>
            <a:r>
              <a:rPr sz="1050" b="0" i="0">
                <a:solidFill>
                  <a:srgbClr val="9EDDE2"/>
                </a:solidFill>
                <a:latin typeface="Courier New"/>
              </a:rPr>
              <a:t>// rbac.guard.ts — RBAC1 runtime</a:t>
            </a:r>
          </a:p>
          <a:p>
            <a:pPr algn="l">
              <a:spcAft>
                <a:spcPts val="250"/>
              </a:spcAft>
            </a:pPr>
            <a:r>
              <a:rPr sz="1050" b="0" i="0">
                <a:solidFill>
                  <a:srgbClr val="CFE9EB"/>
                </a:solidFill>
                <a:latin typeface="Courier New"/>
              </a:rPr>
              <a:t>canActivate(ctx): boolean {</a:t>
            </a:r>
          </a:p>
          <a:p>
            <a:pPr algn="l">
              <a:spcAft>
                <a:spcPts val="250"/>
              </a:spcAft>
            </a:pPr>
            <a:r>
              <a:rPr sz="1050" b="0" i="0">
                <a:solidFill>
                  <a:srgbClr val="9EDDE2"/>
                </a:solidFill>
                <a:latin typeface="Courier New"/>
              </a:rPr>
              <a:t>  // 1. user → active roles</a:t>
            </a:r>
          </a:p>
          <a:p>
            <a:pPr algn="l">
              <a:spcAft>
                <a:spcPts val="250"/>
              </a:spcAft>
            </a:pPr>
            <a:r>
              <a:rPr sz="1050" b="0" i="0">
                <a:solidFill>
                  <a:srgbClr val="9EDDE2"/>
                </a:solidFill>
                <a:latin typeface="Courier New"/>
              </a:rPr>
              <a:t>  // 2. mở rộng quyền qua</a:t>
            </a:r>
          </a:p>
          <a:p>
            <a:pPr algn="l">
              <a:spcAft>
                <a:spcPts val="250"/>
              </a:spcAft>
            </a:pPr>
            <a:r>
              <a:rPr sz="1050" b="0" i="0">
                <a:solidFill>
                  <a:srgbClr val="9EDDE2"/>
                </a:solidFill>
                <a:latin typeface="Courier New"/>
              </a:rPr>
              <a:t>  //    ROLE_HIERARCHY (RBAC1)</a:t>
            </a:r>
          </a:p>
          <a:p>
            <a:pPr algn="l">
              <a:spcAft>
                <a:spcPts val="250"/>
              </a:spcAft>
            </a:pPr>
            <a:r>
              <a:rPr sz="1050" b="0" i="0">
                <a:solidFill>
                  <a:srgbClr val="9EDDE2"/>
                </a:solidFill>
                <a:latin typeface="Courier New"/>
              </a:rPr>
              <a:t>  // 3. so với PA map +</a:t>
            </a:r>
          </a:p>
          <a:p>
            <a:pPr algn="l">
              <a:spcAft>
                <a:spcPts val="250"/>
              </a:spcAft>
            </a:pPr>
            <a:r>
              <a:rPr sz="1050" b="0" i="0">
                <a:solidFill>
                  <a:srgbClr val="9EDDE2"/>
                </a:solidFill>
                <a:latin typeface="Courier New"/>
              </a:rPr>
              <a:t>  //    @RequirePermission</a:t>
            </a:r>
          </a:p>
          <a:p>
            <a:pPr algn="l">
              <a:spcAft>
                <a:spcPts val="250"/>
              </a:spcAft>
            </a:pPr>
            <a:r>
              <a:rPr sz="1050" b="0" i="0">
                <a:solidFill>
                  <a:srgbClr val="CFE9EB"/>
                </a:solidFill>
                <a:latin typeface="Courier New"/>
              </a:rPr>
              <a:t>  ...</a:t>
            </a:r>
          </a:p>
          <a:p>
            <a:pPr algn="l">
              <a:spcAft>
                <a:spcPts val="250"/>
              </a:spcAft>
            </a:pPr>
            <a:r>
              <a:rPr sz="1050" b="0" i="0">
                <a:solidFill>
                  <a:srgbClr val="8AE6C9"/>
                </a:solidFill>
                <a:latin typeface="Courier New"/>
              </a:rPr>
              <a:t>  throw new ForbiddenException();</a:t>
            </a:r>
          </a:p>
          <a:p>
            <a:pPr algn="l">
              <a:spcAft>
                <a:spcPts val="250"/>
              </a:spcAft>
            </a:pPr>
            <a:r>
              <a:rPr sz="1050" b="0" i="0">
                <a:solidFill>
                  <a:srgbClr val="CFE9EB"/>
                </a:solidFill>
                <a:latin typeface="Courier New"/>
              </a:rPr>
              <a:t>}</a:t>
            </a:r>
          </a:p>
        </p:txBody>
      </p:sp>
      <p:sp>
        <p:nvSpPr>
          <p:cNvPr id="8" name="Rounded Rectangle 7"/>
          <p:cNvSpPr/>
          <p:nvPr/>
        </p:nvSpPr>
        <p:spPr>
          <a:xfrm>
            <a:off x="6355080" y="4434840"/>
            <a:ext cx="5257800" cy="118872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4599431"/>
            <a:ext cx="4800600" cy="859536"/>
          </a:xfrm>
          <a:prstGeom prst="rect">
            <a:avLst/>
          </a:prstGeom>
          <a:noFill/>
        </p:spPr>
        <p:txBody>
          <a:bodyPr wrap="square" anchor="t" lIns="0" rIns="0" tIns="0" bIns="0">
            <a:spAutoFit/>
          </a:bodyPr>
          <a:lstStyle/>
          <a:p>
            <a:pPr algn="l">
              <a:spcAft>
                <a:spcPts val="400"/>
              </a:spcAft>
            </a:pPr>
            <a:r>
              <a:rPr sz="1250" b="1" i="0">
                <a:solidFill>
                  <a:srgbClr val="028090"/>
                </a:solidFill>
                <a:latin typeface="Calibri"/>
              </a:rPr>
              <a:t>Cấu trúc DDD 4 tầng cho mỗi bounded context</a:t>
            </a:r>
          </a:p>
          <a:p>
            <a:pPr algn="l">
              <a:lnSpc>
                <a:spcPct val="108000"/>
              </a:lnSpc>
            </a:pPr>
            <a:r>
              <a:rPr sz="1050" b="0" i="0">
                <a:solidFill>
                  <a:srgbClr val="17292D"/>
                </a:solidFill>
                <a:latin typeface="Calibri"/>
              </a:rPr>
              <a:t>domain (entities, VO, events, services, repositories) · application (use-cases) · infrastructure · presentation — cùng auth/ (rbac + guards + decorators) dùng chung.</a:t>
            </a:r>
          </a:p>
        </p:txBody>
      </p:sp>
      <p:sp>
        <p:nvSpPr>
          <p:cNvPr id="10" name="TextBox 9"/>
          <p:cNvSpPr txBox="1"/>
          <p:nvPr/>
        </p:nvSpPr>
        <p:spPr>
          <a:xfrm>
            <a:off x="594360" y="5806440"/>
            <a:ext cx="11018520" cy="457200"/>
          </a:xfrm>
          <a:prstGeom prst="rect">
            <a:avLst/>
          </a:prstGeom>
          <a:noFill/>
        </p:spPr>
        <p:txBody>
          <a:bodyPr wrap="square" anchor="t" lIns="0" rIns="0" tIns="0" bIns="0">
            <a:spAutoFit/>
          </a:bodyPr>
          <a:lstStyle/>
          <a:p>
            <a:pPr algn="ctr"/>
            <a:r>
              <a:rPr sz="1200" b="0" i="1">
                <a:solidFill>
                  <a:srgbClr val="5A7278"/>
                </a:solidFill>
                <a:latin typeface="Calibri"/>
              </a:rPr>
              <a:t>Controller sinh kèm @UseGuards(RbacGuard) và @RequirePermission trên từng endpoint theo đúng PA map từ sơ đồ.</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4 · Đánh giá thực nghiệm</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Câu hỏi nghiên cứu &amp; thiết kế đánh giá</a:t>
            </a:r>
          </a:p>
        </p:txBody>
      </p:sp>
      <p:sp>
        <p:nvSpPr>
          <p:cNvPr id="4" name="Rounded Rectangle 3"/>
          <p:cNvSpPr/>
          <p:nvPr/>
        </p:nvSpPr>
        <p:spPr>
          <a:xfrm>
            <a:off x="594360" y="1691640"/>
            <a:ext cx="5440680" cy="205740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874520"/>
            <a:ext cx="4928616" cy="365760"/>
          </a:xfrm>
          <a:prstGeom prst="rect">
            <a:avLst/>
          </a:prstGeom>
          <a:noFill/>
        </p:spPr>
        <p:txBody>
          <a:bodyPr wrap="square" anchor="t" lIns="0" rIns="0" tIns="0" bIns="0">
            <a:spAutoFit/>
          </a:bodyPr>
          <a:lstStyle/>
          <a:p>
            <a:pPr algn="l"/>
            <a:r>
              <a:rPr sz="1450" b="1" i="0">
                <a:solidFill>
                  <a:srgbClr val="028090"/>
                </a:solidFill>
                <a:latin typeface="Calibri"/>
              </a:rPr>
              <a:t>RQ1 · Tính khả thi</a:t>
            </a:r>
          </a:p>
        </p:txBody>
      </p:sp>
      <p:sp>
        <p:nvSpPr>
          <p:cNvPr id="6" name="TextBox 5"/>
          <p:cNvSpPr txBox="1"/>
          <p:nvPr/>
        </p:nvSpPr>
        <p:spPr>
          <a:xfrm>
            <a:off x="850392" y="2258568"/>
            <a:ext cx="4928616" cy="731520"/>
          </a:xfrm>
          <a:prstGeom prst="rect">
            <a:avLst/>
          </a:prstGeom>
          <a:noFill/>
        </p:spPr>
        <p:txBody>
          <a:bodyPr wrap="square" anchor="t" lIns="0" rIns="0" tIns="0" bIns="0">
            <a:spAutoFit/>
          </a:bodyPr>
          <a:lstStyle/>
          <a:p>
            <a:pPr algn="l">
              <a:lnSpc>
                <a:spcPct val="110000"/>
              </a:lnSpc>
            </a:pPr>
            <a:r>
              <a:rPr sz="1200" b="1" i="0">
                <a:solidFill>
                  <a:srgbClr val="17292D"/>
                </a:solidFill>
                <a:latin typeface="Calibri"/>
              </a:rPr>
              <a:t>Phương pháp + công cụ có sinh được hệ thống hoạt động đúng đặc tả RBAC?</a:t>
            </a:r>
          </a:p>
        </p:txBody>
      </p:sp>
      <p:sp>
        <p:nvSpPr>
          <p:cNvPr id="7" name="TextBox 6"/>
          <p:cNvSpPr txBox="1"/>
          <p:nvPr/>
        </p:nvSpPr>
        <p:spPr>
          <a:xfrm>
            <a:off x="850392" y="3063240"/>
            <a:ext cx="4928616" cy="594360"/>
          </a:xfrm>
          <a:prstGeom prst="rect">
            <a:avLst/>
          </a:prstGeom>
          <a:noFill/>
        </p:spPr>
        <p:txBody>
          <a:bodyPr wrap="square" anchor="t" lIns="0" rIns="0" tIns="0" bIns="0">
            <a:spAutoFit/>
          </a:bodyPr>
          <a:lstStyle/>
          <a:p>
            <a:pPr algn="l">
              <a:lnSpc>
                <a:spcPct val="108000"/>
              </a:lnSpc>
            </a:pPr>
            <a:r>
              <a:rPr sz="1050" b="1" i="0">
                <a:solidFill>
                  <a:srgbClr val="5A7278"/>
                </a:solidFill>
                <a:latin typeface="Calibri"/>
              </a:rPr>
              <a:t>Cách đánh giá:  </a:t>
            </a:r>
            <a:r>
              <a:rPr sz="1050" b="0" i="0">
                <a:solidFill>
                  <a:srgbClr val="5A7278"/>
                </a:solidFill>
                <a:latin typeface="Calibri"/>
              </a:rPr>
              <a:t>Case study CourseMan end-to-end; bộ kịch bản truy cập cho phép / bị cấm.</a:t>
            </a:r>
          </a:p>
        </p:txBody>
      </p:sp>
      <p:sp>
        <p:nvSpPr>
          <p:cNvPr id="8" name="Rounded Rectangle 7"/>
          <p:cNvSpPr/>
          <p:nvPr/>
        </p:nvSpPr>
        <p:spPr>
          <a:xfrm>
            <a:off x="6199632" y="1691640"/>
            <a:ext cx="5440680" cy="205740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55664" y="1874520"/>
            <a:ext cx="4928616" cy="365760"/>
          </a:xfrm>
          <a:prstGeom prst="rect">
            <a:avLst/>
          </a:prstGeom>
          <a:noFill/>
        </p:spPr>
        <p:txBody>
          <a:bodyPr wrap="square" anchor="t" lIns="0" rIns="0" tIns="0" bIns="0">
            <a:spAutoFit/>
          </a:bodyPr>
          <a:lstStyle/>
          <a:p>
            <a:pPr algn="l"/>
            <a:r>
              <a:rPr sz="1450" b="1" i="0">
                <a:solidFill>
                  <a:srgbClr val="028090"/>
                </a:solidFill>
                <a:latin typeface="Calibri"/>
              </a:rPr>
              <a:t>RQ2 · Năng suất</a:t>
            </a:r>
          </a:p>
        </p:txBody>
      </p:sp>
      <p:sp>
        <p:nvSpPr>
          <p:cNvPr id="10" name="TextBox 9"/>
          <p:cNvSpPr txBox="1"/>
          <p:nvPr/>
        </p:nvSpPr>
        <p:spPr>
          <a:xfrm>
            <a:off x="6455664" y="2258568"/>
            <a:ext cx="4928616" cy="731520"/>
          </a:xfrm>
          <a:prstGeom prst="rect">
            <a:avLst/>
          </a:prstGeom>
          <a:noFill/>
        </p:spPr>
        <p:txBody>
          <a:bodyPr wrap="square" anchor="t" lIns="0" rIns="0" tIns="0" bIns="0">
            <a:spAutoFit/>
          </a:bodyPr>
          <a:lstStyle/>
          <a:p>
            <a:pPr algn="l">
              <a:lnSpc>
                <a:spcPct val="110000"/>
              </a:lnSpc>
            </a:pPr>
            <a:r>
              <a:rPr sz="1200" b="1" i="0">
                <a:solidFill>
                  <a:srgbClr val="17292D"/>
                </a:solidFill>
                <a:latin typeface="Calibri"/>
              </a:rPr>
              <a:t>Tiết kiệm bao nhiêu công sức so với cài đặt thủ công?</a:t>
            </a:r>
          </a:p>
        </p:txBody>
      </p:sp>
      <p:sp>
        <p:nvSpPr>
          <p:cNvPr id="11" name="TextBox 10"/>
          <p:cNvSpPr txBox="1"/>
          <p:nvPr/>
        </p:nvSpPr>
        <p:spPr>
          <a:xfrm>
            <a:off x="6455664" y="3063240"/>
            <a:ext cx="4928616" cy="594360"/>
          </a:xfrm>
          <a:prstGeom prst="rect">
            <a:avLst/>
          </a:prstGeom>
          <a:noFill/>
        </p:spPr>
        <p:txBody>
          <a:bodyPr wrap="square" anchor="t" lIns="0" rIns="0" tIns="0" bIns="0">
            <a:spAutoFit/>
          </a:bodyPr>
          <a:lstStyle/>
          <a:p>
            <a:pPr algn="l">
              <a:lnSpc>
                <a:spcPct val="108000"/>
              </a:lnSpc>
            </a:pPr>
            <a:r>
              <a:rPr sz="1050" b="1" i="0">
                <a:solidFill>
                  <a:srgbClr val="5A7278"/>
                </a:solidFill>
                <a:latin typeface="Calibri"/>
              </a:rPr>
              <a:t>Cách đánh giá:  </a:t>
            </a:r>
            <a:r>
              <a:rPr sz="1050" b="0" i="0">
                <a:solidFill>
                  <a:srgbClr val="5A7278"/>
                </a:solidFill>
                <a:latin typeface="Calibri"/>
              </a:rPr>
              <a:t>LoC đặc tả vs mã sinh ra; thời gian thêm một vai trò / quyền mới.</a:t>
            </a:r>
          </a:p>
        </p:txBody>
      </p:sp>
      <p:sp>
        <p:nvSpPr>
          <p:cNvPr id="12" name="Rounded Rectangle 11"/>
          <p:cNvSpPr/>
          <p:nvPr/>
        </p:nvSpPr>
        <p:spPr>
          <a:xfrm>
            <a:off x="594360" y="3913632"/>
            <a:ext cx="5440680" cy="205740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4096512"/>
            <a:ext cx="4928616" cy="365760"/>
          </a:xfrm>
          <a:prstGeom prst="rect">
            <a:avLst/>
          </a:prstGeom>
          <a:noFill/>
        </p:spPr>
        <p:txBody>
          <a:bodyPr wrap="square" anchor="t" lIns="0" rIns="0" tIns="0" bIns="0">
            <a:spAutoFit/>
          </a:bodyPr>
          <a:lstStyle/>
          <a:p>
            <a:pPr algn="l"/>
            <a:r>
              <a:rPr sz="1450" b="1" i="0">
                <a:solidFill>
                  <a:srgbClr val="028090"/>
                </a:solidFill>
                <a:latin typeface="Calibri"/>
              </a:rPr>
              <a:t>RQ3 · Tính đúng đắn</a:t>
            </a:r>
          </a:p>
        </p:txBody>
      </p:sp>
      <p:sp>
        <p:nvSpPr>
          <p:cNvPr id="14" name="TextBox 13"/>
          <p:cNvSpPr txBox="1"/>
          <p:nvPr/>
        </p:nvSpPr>
        <p:spPr>
          <a:xfrm>
            <a:off x="850392" y="4480560"/>
            <a:ext cx="4928616" cy="731520"/>
          </a:xfrm>
          <a:prstGeom prst="rect">
            <a:avLst/>
          </a:prstGeom>
          <a:noFill/>
        </p:spPr>
        <p:txBody>
          <a:bodyPr wrap="square" anchor="t" lIns="0" rIns="0" tIns="0" bIns="0">
            <a:spAutoFit/>
          </a:bodyPr>
          <a:lstStyle/>
          <a:p>
            <a:pPr algn="l">
              <a:lnSpc>
                <a:spcPct val="110000"/>
              </a:lnSpc>
            </a:pPr>
            <a:r>
              <a:rPr sz="1200" b="1" i="0">
                <a:solidFill>
                  <a:srgbClr val="17292D"/>
                </a:solidFill>
                <a:latin typeface="Calibri"/>
              </a:rPr>
              <a:t>Vi phạm ràng buộc có bị phát hiện và ngăn chặn?</a:t>
            </a:r>
          </a:p>
        </p:txBody>
      </p:sp>
      <p:sp>
        <p:nvSpPr>
          <p:cNvPr id="15" name="TextBox 14"/>
          <p:cNvSpPr txBox="1"/>
          <p:nvPr/>
        </p:nvSpPr>
        <p:spPr>
          <a:xfrm>
            <a:off x="850392" y="5285232"/>
            <a:ext cx="4928616" cy="594360"/>
          </a:xfrm>
          <a:prstGeom prst="rect">
            <a:avLst/>
          </a:prstGeom>
          <a:noFill/>
        </p:spPr>
        <p:txBody>
          <a:bodyPr wrap="square" anchor="t" lIns="0" rIns="0" tIns="0" bIns="0">
            <a:spAutoFit/>
          </a:bodyPr>
          <a:lstStyle/>
          <a:p>
            <a:pPr algn="l">
              <a:lnSpc>
                <a:spcPct val="108000"/>
              </a:lnSpc>
            </a:pPr>
            <a:r>
              <a:rPr sz="1050" b="1" i="0">
                <a:solidFill>
                  <a:srgbClr val="5A7278"/>
                </a:solidFill>
                <a:latin typeface="Calibri"/>
              </a:rPr>
              <a:t>Cách đánh giá:  </a:t>
            </a:r>
            <a:r>
              <a:rPr sz="1050" b="0" i="0">
                <a:solidFill>
                  <a:srgbClr val="5A7278"/>
                </a:solidFill>
                <a:latin typeface="Calibri"/>
              </a:rPr>
              <a:t>Mutation test trên mô hình; kịch bản vi phạm SSD/DSD lúc vận hành.</a:t>
            </a:r>
          </a:p>
        </p:txBody>
      </p:sp>
      <p:sp>
        <p:nvSpPr>
          <p:cNvPr id="16" name="Rounded Rectangle 15"/>
          <p:cNvSpPr/>
          <p:nvPr/>
        </p:nvSpPr>
        <p:spPr>
          <a:xfrm>
            <a:off x="6199632" y="3913632"/>
            <a:ext cx="5440680" cy="205740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4096512"/>
            <a:ext cx="4928616" cy="365760"/>
          </a:xfrm>
          <a:prstGeom prst="rect">
            <a:avLst/>
          </a:prstGeom>
          <a:noFill/>
        </p:spPr>
        <p:txBody>
          <a:bodyPr wrap="square" anchor="t" lIns="0" rIns="0" tIns="0" bIns="0">
            <a:spAutoFit/>
          </a:bodyPr>
          <a:lstStyle/>
          <a:p>
            <a:pPr algn="l"/>
            <a:r>
              <a:rPr sz="1450" b="1" i="0">
                <a:solidFill>
                  <a:srgbClr val="028090"/>
                </a:solidFill>
                <a:latin typeface="Calibri"/>
              </a:rPr>
              <a:t>RQ4 · Truy vết &amp; dễ hiểu</a:t>
            </a:r>
          </a:p>
        </p:txBody>
      </p:sp>
      <p:sp>
        <p:nvSpPr>
          <p:cNvPr id="18" name="TextBox 17"/>
          <p:cNvSpPr txBox="1"/>
          <p:nvPr/>
        </p:nvSpPr>
        <p:spPr>
          <a:xfrm>
            <a:off x="6455664" y="4480560"/>
            <a:ext cx="4928616" cy="731520"/>
          </a:xfrm>
          <a:prstGeom prst="rect">
            <a:avLst/>
          </a:prstGeom>
          <a:noFill/>
        </p:spPr>
        <p:txBody>
          <a:bodyPr wrap="square" anchor="t" lIns="0" rIns="0" tIns="0" bIns="0">
            <a:spAutoFit/>
          </a:bodyPr>
          <a:lstStyle/>
          <a:p>
            <a:pPr algn="l">
              <a:lnSpc>
                <a:spcPct val="110000"/>
              </a:lnSpc>
            </a:pPr>
            <a:r>
              <a:rPr sz="1200" b="1" i="0">
                <a:solidFill>
                  <a:srgbClr val="17292D"/>
                </a:solidFill>
                <a:latin typeface="Calibri"/>
              </a:rPr>
              <a:t>Mã sinh ra có đối chiếu ngược được về mô hình? Người đọc có hiểu?</a:t>
            </a:r>
          </a:p>
        </p:txBody>
      </p:sp>
      <p:sp>
        <p:nvSpPr>
          <p:cNvPr id="19" name="TextBox 18"/>
          <p:cNvSpPr txBox="1"/>
          <p:nvPr/>
        </p:nvSpPr>
        <p:spPr>
          <a:xfrm>
            <a:off x="6455664" y="5285232"/>
            <a:ext cx="4928616" cy="594360"/>
          </a:xfrm>
          <a:prstGeom prst="rect">
            <a:avLst/>
          </a:prstGeom>
          <a:noFill/>
        </p:spPr>
        <p:txBody>
          <a:bodyPr wrap="square" anchor="t" lIns="0" rIns="0" tIns="0" bIns="0">
            <a:spAutoFit/>
          </a:bodyPr>
          <a:lstStyle/>
          <a:p>
            <a:pPr algn="l">
              <a:lnSpc>
                <a:spcPct val="108000"/>
              </a:lnSpc>
            </a:pPr>
            <a:r>
              <a:rPr sz="1050" b="1" i="0">
                <a:solidFill>
                  <a:srgbClr val="5A7278"/>
                </a:solidFill>
                <a:latin typeface="Calibri"/>
              </a:rPr>
              <a:t>Cách đánh giá:  </a:t>
            </a:r>
            <a:r>
              <a:rPr sz="1050" b="0" i="0">
                <a:solidFill>
                  <a:srgbClr val="5A7278"/>
                </a:solidFill>
                <a:latin typeface="Calibri"/>
              </a:rPr>
              <a:t>Kiểm tra ngẫu nhiên chú thích trace; khảo sát người đọc sơ đồ.</a:t>
            </a:r>
          </a:p>
        </p:txBody>
      </p:sp>
      <p:sp>
        <p:nvSpPr>
          <p:cNvPr id="20" name="TextBox 19"/>
          <p:cNvSpPr txBox="1"/>
          <p:nvPr/>
        </p:nvSpPr>
        <p:spPr>
          <a:xfrm>
            <a:off x="594360" y="5989320"/>
            <a:ext cx="11018520" cy="457200"/>
          </a:xfrm>
          <a:prstGeom prst="rect">
            <a:avLst/>
          </a:prstGeom>
          <a:noFill/>
        </p:spPr>
        <p:txBody>
          <a:bodyPr wrap="square" anchor="t" lIns="0" rIns="0" tIns="0" bIns="0">
            <a:spAutoFit/>
          </a:bodyPr>
          <a:lstStyle/>
          <a:p>
            <a:pPr algn="ctr"/>
            <a:r>
              <a:rPr sz="1200" b="0" i="1">
                <a:solidFill>
                  <a:srgbClr val="5A7278"/>
                </a:solidFill>
                <a:latin typeface="Calibri"/>
              </a:rPr>
              <a:t>Khung tiêu chí kế thừa mạch DCSL/AGL: feasibility · productivity · understandability — mở rộng thêm tính đúng đắn của phân quyền.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4 · Đánh giá thực nghiệm</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Thiết kế đánh giá thực nghiệm</a:t>
            </a:r>
          </a:p>
        </p:txBody>
      </p:sp>
      <p:sp>
        <p:nvSpPr>
          <p:cNvPr id="4" name="TextBox 3"/>
          <p:cNvSpPr txBox="1"/>
          <p:nvPr/>
        </p:nvSpPr>
        <p:spPr>
          <a:xfrm>
            <a:off x="594360" y="1554480"/>
            <a:ext cx="5394960" cy="365760"/>
          </a:xfrm>
          <a:prstGeom prst="rect">
            <a:avLst/>
          </a:prstGeom>
          <a:noFill/>
        </p:spPr>
        <p:txBody>
          <a:bodyPr wrap="square" anchor="t" lIns="0" rIns="0" tIns="0" bIns="0">
            <a:spAutoFit/>
          </a:bodyPr>
          <a:lstStyle/>
          <a:p>
            <a:pPr algn="l"/>
            <a:r>
              <a:rPr sz="1350" b="1" i="0">
                <a:solidFill>
                  <a:srgbClr val="17292D"/>
                </a:solidFill>
                <a:latin typeface="Calibri"/>
              </a:rPr>
              <a:t>Quy trình 4 bước</a:t>
            </a:r>
          </a:p>
        </p:txBody>
      </p:sp>
      <p:sp>
        <p:nvSpPr>
          <p:cNvPr id="5" name="Oval 4"/>
          <p:cNvSpPr/>
          <p:nvPr/>
        </p:nvSpPr>
        <p:spPr>
          <a:xfrm>
            <a:off x="640080" y="2002536"/>
            <a:ext cx="384048" cy="38404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1</a:t>
            </a:r>
          </a:p>
        </p:txBody>
      </p:sp>
      <p:sp>
        <p:nvSpPr>
          <p:cNvPr id="6" name="TextBox 5"/>
          <p:cNvSpPr txBox="1"/>
          <p:nvPr/>
        </p:nvSpPr>
        <p:spPr>
          <a:xfrm>
            <a:off x="1234440" y="1965960"/>
            <a:ext cx="4846320" cy="1005840"/>
          </a:xfrm>
          <a:prstGeom prst="rect">
            <a:avLst/>
          </a:prstGeom>
          <a:noFill/>
        </p:spPr>
        <p:txBody>
          <a:bodyPr wrap="square" anchor="t" lIns="0" rIns="0" tIns="0" bIns="0">
            <a:spAutoFit/>
          </a:bodyPr>
          <a:lstStyle/>
          <a:p>
            <a:pPr algn="l">
              <a:spcAft>
                <a:spcPts val="200"/>
              </a:spcAft>
            </a:pPr>
            <a:r>
              <a:rPr sz="1350" b="1" i="0">
                <a:solidFill>
                  <a:srgbClr val="17292D"/>
                </a:solidFill>
                <a:latin typeface="Calibri"/>
              </a:rPr>
              <a:t>Sinh hệ thống</a:t>
            </a:r>
          </a:p>
          <a:p>
            <a:pPr algn="l">
              <a:lnSpc>
                <a:spcPct val="108000"/>
              </a:lnSpc>
            </a:pPr>
            <a:r>
              <a:rPr sz="1100" b="0" i="0">
                <a:solidFill>
                  <a:srgbClr val="5A7278"/>
                </a:solidFill>
                <a:latin typeface="Calibri"/>
              </a:rPr>
              <a:t>Một lệnh generate từ đặc tả CourseMan → toàn bộ mã ứng dụng + phân quyền</a:t>
            </a:r>
          </a:p>
        </p:txBody>
      </p:sp>
      <p:sp>
        <p:nvSpPr>
          <p:cNvPr id="7" name="Oval 6"/>
          <p:cNvSpPr/>
          <p:nvPr/>
        </p:nvSpPr>
        <p:spPr>
          <a:xfrm>
            <a:off x="640080" y="3026664"/>
            <a:ext cx="384048" cy="38404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2</a:t>
            </a:r>
          </a:p>
        </p:txBody>
      </p:sp>
      <p:sp>
        <p:nvSpPr>
          <p:cNvPr id="8" name="TextBox 7"/>
          <p:cNvSpPr txBox="1"/>
          <p:nvPr/>
        </p:nvSpPr>
        <p:spPr>
          <a:xfrm>
            <a:off x="1234440" y="2990088"/>
            <a:ext cx="4846320" cy="1005840"/>
          </a:xfrm>
          <a:prstGeom prst="rect">
            <a:avLst/>
          </a:prstGeom>
          <a:noFill/>
        </p:spPr>
        <p:txBody>
          <a:bodyPr wrap="square" anchor="t" lIns="0" rIns="0" tIns="0" bIns="0">
            <a:spAutoFit/>
          </a:bodyPr>
          <a:lstStyle/>
          <a:p>
            <a:pPr algn="l">
              <a:spcAft>
                <a:spcPts val="200"/>
              </a:spcAft>
            </a:pPr>
            <a:r>
              <a:rPr sz="1350" b="1" i="0">
                <a:solidFill>
                  <a:srgbClr val="17292D"/>
                </a:solidFill>
                <a:latin typeface="Calibri"/>
              </a:rPr>
              <a:t>Chạy kịch bản truy cập</a:t>
            </a:r>
          </a:p>
          <a:p>
            <a:pPr algn="l">
              <a:lnSpc>
                <a:spcPct val="108000"/>
              </a:lnSpc>
            </a:pPr>
            <a:r>
              <a:rPr sz="1100" b="0" i="0">
                <a:solidFill>
                  <a:srgbClr val="5A7278"/>
                </a:solidFill>
                <a:latin typeface="Calibri"/>
              </a:rPr>
              <a:t>Bộ kịch bản cho phép / bị cấm suy từ đặc tả, chạy e2e trên mã sinh ra</a:t>
            </a:r>
          </a:p>
        </p:txBody>
      </p:sp>
      <p:sp>
        <p:nvSpPr>
          <p:cNvPr id="9" name="Oval 8"/>
          <p:cNvSpPr/>
          <p:nvPr/>
        </p:nvSpPr>
        <p:spPr>
          <a:xfrm>
            <a:off x="640080" y="4050792"/>
            <a:ext cx="384048" cy="38404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3</a:t>
            </a:r>
          </a:p>
        </p:txBody>
      </p:sp>
      <p:sp>
        <p:nvSpPr>
          <p:cNvPr id="10" name="TextBox 9"/>
          <p:cNvSpPr txBox="1"/>
          <p:nvPr/>
        </p:nvSpPr>
        <p:spPr>
          <a:xfrm>
            <a:off x="1234440" y="4014216"/>
            <a:ext cx="4846320" cy="1005840"/>
          </a:xfrm>
          <a:prstGeom prst="rect">
            <a:avLst/>
          </a:prstGeom>
          <a:noFill/>
        </p:spPr>
        <p:txBody>
          <a:bodyPr wrap="square" anchor="t" lIns="0" rIns="0" tIns="0" bIns="0">
            <a:spAutoFit/>
          </a:bodyPr>
          <a:lstStyle/>
          <a:p>
            <a:pPr algn="l">
              <a:spcAft>
                <a:spcPts val="200"/>
              </a:spcAft>
            </a:pPr>
            <a:r>
              <a:rPr sz="1350" b="1" i="0">
                <a:solidFill>
                  <a:srgbClr val="17292D"/>
                </a:solidFill>
                <a:latin typeface="Calibri"/>
              </a:rPr>
              <a:t>Mutation test</a:t>
            </a:r>
          </a:p>
          <a:p>
            <a:pPr algn="l">
              <a:lnSpc>
                <a:spcPct val="108000"/>
              </a:lnSpc>
            </a:pPr>
            <a:r>
              <a:rPr sz="1100" b="0" i="0">
                <a:solidFill>
                  <a:srgbClr val="5A7278"/>
                </a:solidFill>
                <a:latin typeface="Calibri"/>
              </a:rPr>
              <a:t>Cố ý làm sai mô hình (đảo SSD, thêm chu trình kế thừa…) → pipeline phải phát hiện</a:t>
            </a:r>
          </a:p>
        </p:txBody>
      </p:sp>
      <p:sp>
        <p:nvSpPr>
          <p:cNvPr id="11" name="Oval 10"/>
          <p:cNvSpPr/>
          <p:nvPr/>
        </p:nvSpPr>
        <p:spPr>
          <a:xfrm>
            <a:off x="640080" y="5074920"/>
            <a:ext cx="384048" cy="38404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4</a:t>
            </a:r>
          </a:p>
        </p:txBody>
      </p:sp>
      <p:sp>
        <p:nvSpPr>
          <p:cNvPr id="12" name="TextBox 11"/>
          <p:cNvSpPr txBox="1"/>
          <p:nvPr/>
        </p:nvSpPr>
        <p:spPr>
          <a:xfrm>
            <a:off x="1234440" y="5038344"/>
            <a:ext cx="4846320" cy="1005840"/>
          </a:xfrm>
          <a:prstGeom prst="rect">
            <a:avLst/>
          </a:prstGeom>
          <a:noFill/>
        </p:spPr>
        <p:txBody>
          <a:bodyPr wrap="square" anchor="t" lIns="0" rIns="0" tIns="0" bIns="0">
            <a:spAutoFit/>
          </a:bodyPr>
          <a:lstStyle/>
          <a:p>
            <a:pPr algn="l">
              <a:spcAft>
                <a:spcPts val="200"/>
              </a:spcAft>
            </a:pPr>
            <a:r>
              <a:rPr sz="1350" b="1" i="0">
                <a:solidFill>
                  <a:srgbClr val="17292D"/>
                </a:solidFill>
                <a:latin typeface="Calibri"/>
              </a:rPr>
              <a:t>Đo đạc &amp; khảo sát</a:t>
            </a:r>
          </a:p>
          <a:p>
            <a:pPr algn="l">
              <a:lnSpc>
                <a:spcPct val="108000"/>
              </a:lnSpc>
            </a:pPr>
            <a:r>
              <a:rPr sz="1100" b="0" i="0">
                <a:solidFill>
                  <a:srgbClr val="5A7278"/>
                </a:solidFill>
                <a:latin typeface="Calibri"/>
              </a:rPr>
              <a:t>LoC, thời gian thêm vai trò/quyền, kiểm tra truy vết, khảo sát người đọc</a:t>
            </a:r>
          </a:p>
        </p:txBody>
      </p:sp>
      <p:sp>
        <p:nvSpPr>
          <p:cNvPr id="13" name="TextBox 12"/>
          <p:cNvSpPr txBox="1"/>
          <p:nvPr/>
        </p:nvSpPr>
        <p:spPr>
          <a:xfrm>
            <a:off x="6400800" y="1554480"/>
            <a:ext cx="5212080" cy="365760"/>
          </a:xfrm>
          <a:prstGeom prst="rect">
            <a:avLst/>
          </a:prstGeom>
          <a:noFill/>
        </p:spPr>
        <p:txBody>
          <a:bodyPr wrap="square" anchor="t" lIns="0" rIns="0" tIns="0" bIns="0">
            <a:spAutoFit/>
          </a:bodyPr>
          <a:lstStyle/>
          <a:p>
            <a:pPr algn="l"/>
            <a:r>
              <a:rPr sz="1350" b="1" i="0">
                <a:solidFill>
                  <a:srgbClr val="17292D"/>
                </a:solidFill>
                <a:latin typeface="Calibri"/>
              </a:rPr>
              <a:t>RQ ↔ thước đo ↔ nguồn dữ liệu</a:t>
            </a:r>
          </a:p>
        </p:txBody>
      </p:sp>
      <p:sp>
        <p:nvSpPr>
          <p:cNvPr id="14" name="Rounded Rectangle 13"/>
          <p:cNvSpPr/>
          <p:nvPr/>
        </p:nvSpPr>
        <p:spPr>
          <a:xfrm>
            <a:off x="6400800" y="1965960"/>
            <a:ext cx="5212080" cy="84124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1965960"/>
            <a:ext cx="777240" cy="841248"/>
          </a:xfrm>
          <a:prstGeom prst="rect">
            <a:avLst/>
          </a:prstGeom>
          <a:noFill/>
        </p:spPr>
        <p:txBody>
          <a:bodyPr wrap="square" anchor="ctr" lIns="0" rIns="0" tIns="0" bIns="0">
            <a:spAutoFit/>
          </a:bodyPr>
          <a:lstStyle/>
          <a:p>
            <a:pPr algn="l"/>
            <a:r>
              <a:rPr sz="1300" b="1" i="0">
                <a:solidFill>
                  <a:srgbClr val="028090"/>
                </a:solidFill>
                <a:latin typeface="Calibri"/>
              </a:rPr>
              <a:t>RQ1</a:t>
            </a:r>
          </a:p>
        </p:txBody>
      </p:sp>
      <p:sp>
        <p:nvSpPr>
          <p:cNvPr id="16" name="TextBox 15"/>
          <p:cNvSpPr txBox="1"/>
          <p:nvPr/>
        </p:nvSpPr>
        <p:spPr>
          <a:xfrm>
            <a:off x="7498079" y="2075688"/>
            <a:ext cx="3977639" cy="365760"/>
          </a:xfrm>
          <a:prstGeom prst="rect">
            <a:avLst/>
          </a:prstGeom>
          <a:noFill/>
        </p:spPr>
        <p:txBody>
          <a:bodyPr wrap="square" anchor="t" lIns="0" rIns="0" tIns="0" bIns="0">
            <a:spAutoFit/>
          </a:bodyPr>
          <a:lstStyle/>
          <a:p>
            <a:pPr algn="l">
              <a:lnSpc>
                <a:spcPct val="102000"/>
              </a:lnSpc>
            </a:pPr>
            <a:r>
              <a:rPr sz="1050" b="1" i="0">
                <a:solidFill>
                  <a:srgbClr val="17292D"/>
                </a:solidFill>
                <a:latin typeface="Calibri"/>
              </a:rPr>
              <a:t>Kịch bản pass / fail đúng kỳ vọng</a:t>
            </a:r>
          </a:p>
        </p:txBody>
      </p:sp>
      <p:sp>
        <p:nvSpPr>
          <p:cNvPr id="17" name="TextBox 16"/>
          <p:cNvSpPr txBox="1"/>
          <p:nvPr/>
        </p:nvSpPr>
        <p:spPr>
          <a:xfrm>
            <a:off x="7498079" y="2441448"/>
            <a:ext cx="3977639" cy="320040"/>
          </a:xfrm>
          <a:prstGeom prst="rect">
            <a:avLst/>
          </a:prstGeom>
          <a:noFill/>
        </p:spPr>
        <p:txBody>
          <a:bodyPr wrap="square" anchor="t" lIns="0" rIns="0" tIns="0" bIns="0">
            <a:spAutoFit/>
          </a:bodyPr>
          <a:lstStyle/>
          <a:p>
            <a:pPr algn="l"/>
            <a:r>
              <a:rPr sz="1000" b="0" i="0">
                <a:solidFill>
                  <a:srgbClr val="5A7278"/>
                </a:solidFill>
                <a:latin typeface="Calibri"/>
              </a:rPr>
              <a:t>e2e trên mã sinh ra</a:t>
            </a:r>
          </a:p>
        </p:txBody>
      </p:sp>
      <p:sp>
        <p:nvSpPr>
          <p:cNvPr id="18" name="Rounded Rectangle 17"/>
          <p:cNvSpPr/>
          <p:nvPr/>
        </p:nvSpPr>
        <p:spPr>
          <a:xfrm>
            <a:off x="6400800" y="2935224"/>
            <a:ext cx="5212080" cy="84124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2935224"/>
            <a:ext cx="777240" cy="841248"/>
          </a:xfrm>
          <a:prstGeom prst="rect">
            <a:avLst/>
          </a:prstGeom>
          <a:noFill/>
        </p:spPr>
        <p:txBody>
          <a:bodyPr wrap="square" anchor="ctr" lIns="0" rIns="0" tIns="0" bIns="0">
            <a:spAutoFit/>
          </a:bodyPr>
          <a:lstStyle/>
          <a:p>
            <a:pPr algn="l"/>
            <a:r>
              <a:rPr sz="1300" b="1" i="0">
                <a:solidFill>
                  <a:srgbClr val="028090"/>
                </a:solidFill>
                <a:latin typeface="Calibri"/>
              </a:rPr>
              <a:t>RQ2</a:t>
            </a:r>
          </a:p>
        </p:txBody>
      </p:sp>
      <p:sp>
        <p:nvSpPr>
          <p:cNvPr id="20" name="TextBox 19"/>
          <p:cNvSpPr txBox="1"/>
          <p:nvPr/>
        </p:nvSpPr>
        <p:spPr>
          <a:xfrm>
            <a:off x="7498079" y="3044952"/>
            <a:ext cx="3977639" cy="365760"/>
          </a:xfrm>
          <a:prstGeom prst="rect">
            <a:avLst/>
          </a:prstGeom>
          <a:noFill/>
        </p:spPr>
        <p:txBody>
          <a:bodyPr wrap="square" anchor="t" lIns="0" rIns="0" tIns="0" bIns="0">
            <a:spAutoFit/>
          </a:bodyPr>
          <a:lstStyle/>
          <a:p>
            <a:pPr algn="l">
              <a:lnSpc>
                <a:spcPct val="102000"/>
              </a:lnSpc>
            </a:pPr>
            <a:r>
              <a:rPr sz="1050" b="1" i="0">
                <a:solidFill>
                  <a:srgbClr val="17292D"/>
                </a:solidFill>
                <a:latin typeface="Calibri"/>
              </a:rPr>
              <a:t>LoC đặc tả vs mã; thời gian thao tác</a:t>
            </a:r>
          </a:p>
        </p:txBody>
      </p:sp>
      <p:sp>
        <p:nvSpPr>
          <p:cNvPr id="21" name="TextBox 20"/>
          <p:cNvSpPr txBox="1"/>
          <p:nvPr/>
        </p:nvSpPr>
        <p:spPr>
          <a:xfrm>
            <a:off x="7498079" y="3410712"/>
            <a:ext cx="3977639" cy="320040"/>
          </a:xfrm>
          <a:prstGeom prst="rect">
            <a:avLst/>
          </a:prstGeom>
          <a:noFill/>
        </p:spPr>
        <p:txBody>
          <a:bodyPr wrap="square" anchor="t" lIns="0" rIns="0" tIns="0" bIns="0">
            <a:spAutoFit/>
          </a:bodyPr>
          <a:lstStyle/>
          <a:p>
            <a:pPr algn="l"/>
            <a:r>
              <a:rPr sz="1000" b="0" i="0">
                <a:solidFill>
                  <a:srgbClr val="5A7278"/>
                </a:solidFill>
                <a:latin typeface="Calibri"/>
              </a:rPr>
              <a:t>đo trên CourseMan</a:t>
            </a:r>
          </a:p>
        </p:txBody>
      </p:sp>
      <p:sp>
        <p:nvSpPr>
          <p:cNvPr id="22" name="Rounded Rectangle 21"/>
          <p:cNvSpPr/>
          <p:nvPr/>
        </p:nvSpPr>
        <p:spPr>
          <a:xfrm>
            <a:off x="6400800" y="3904487"/>
            <a:ext cx="5212080" cy="84124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29400" y="3904487"/>
            <a:ext cx="777240" cy="841248"/>
          </a:xfrm>
          <a:prstGeom prst="rect">
            <a:avLst/>
          </a:prstGeom>
          <a:noFill/>
        </p:spPr>
        <p:txBody>
          <a:bodyPr wrap="square" anchor="ctr" lIns="0" rIns="0" tIns="0" bIns="0">
            <a:spAutoFit/>
          </a:bodyPr>
          <a:lstStyle/>
          <a:p>
            <a:pPr algn="l"/>
            <a:r>
              <a:rPr sz="1300" b="1" i="0">
                <a:solidFill>
                  <a:srgbClr val="028090"/>
                </a:solidFill>
                <a:latin typeface="Calibri"/>
              </a:rPr>
              <a:t>RQ3</a:t>
            </a:r>
          </a:p>
        </p:txBody>
      </p:sp>
      <p:sp>
        <p:nvSpPr>
          <p:cNvPr id="24" name="TextBox 23"/>
          <p:cNvSpPr txBox="1"/>
          <p:nvPr/>
        </p:nvSpPr>
        <p:spPr>
          <a:xfrm>
            <a:off x="7498079" y="4014215"/>
            <a:ext cx="3977639" cy="365760"/>
          </a:xfrm>
          <a:prstGeom prst="rect">
            <a:avLst/>
          </a:prstGeom>
          <a:noFill/>
        </p:spPr>
        <p:txBody>
          <a:bodyPr wrap="square" anchor="t" lIns="0" rIns="0" tIns="0" bIns="0">
            <a:spAutoFit/>
          </a:bodyPr>
          <a:lstStyle/>
          <a:p>
            <a:pPr algn="l">
              <a:lnSpc>
                <a:spcPct val="102000"/>
              </a:lnSpc>
            </a:pPr>
            <a:r>
              <a:rPr sz="1050" b="1" i="0">
                <a:solidFill>
                  <a:srgbClr val="17292D"/>
                </a:solidFill>
                <a:latin typeface="Calibri"/>
              </a:rPr>
              <a:t>Tỉ lệ vi phạm bị phát hiện</a:t>
            </a:r>
          </a:p>
        </p:txBody>
      </p:sp>
      <p:sp>
        <p:nvSpPr>
          <p:cNvPr id="25" name="TextBox 24"/>
          <p:cNvSpPr txBox="1"/>
          <p:nvPr/>
        </p:nvSpPr>
        <p:spPr>
          <a:xfrm>
            <a:off x="7498079" y="4379975"/>
            <a:ext cx="3977639" cy="320040"/>
          </a:xfrm>
          <a:prstGeom prst="rect">
            <a:avLst/>
          </a:prstGeom>
          <a:noFill/>
        </p:spPr>
        <p:txBody>
          <a:bodyPr wrap="square" anchor="t" lIns="0" rIns="0" tIns="0" bIns="0">
            <a:spAutoFit/>
          </a:bodyPr>
          <a:lstStyle/>
          <a:p>
            <a:pPr algn="l"/>
            <a:r>
              <a:rPr sz="1000" b="0" i="0">
                <a:solidFill>
                  <a:srgbClr val="5A7278"/>
                </a:solidFill>
                <a:latin typeface="Calibri"/>
              </a:rPr>
              <a:t>mutation test + kịch bản cấm</a:t>
            </a:r>
          </a:p>
        </p:txBody>
      </p:sp>
      <p:sp>
        <p:nvSpPr>
          <p:cNvPr id="26" name="Rounded Rectangle 25"/>
          <p:cNvSpPr/>
          <p:nvPr/>
        </p:nvSpPr>
        <p:spPr>
          <a:xfrm>
            <a:off x="6400800" y="4873752"/>
            <a:ext cx="5212080" cy="84124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4873752"/>
            <a:ext cx="777240" cy="841248"/>
          </a:xfrm>
          <a:prstGeom prst="rect">
            <a:avLst/>
          </a:prstGeom>
          <a:noFill/>
        </p:spPr>
        <p:txBody>
          <a:bodyPr wrap="square" anchor="ctr" lIns="0" rIns="0" tIns="0" bIns="0">
            <a:spAutoFit/>
          </a:bodyPr>
          <a:lstStyle/>
          <a:p>
            <a:pPr algn="l"/>
            <a:r>
              <a:rPr sz="1300" b="1" i="0">
                <a:solidFill>
                  <a:srgbClr val="028090"/>
                </a:solidFill>
                <a:latin typeface="Calibri"/>
              </a:rPr>
              <a:t>RQ4</a:t>
            </a:r>
          </a:p>
        </p:txBody>
      </p:sp>
      <p:sp>
        <p:nvSpPr>
          <p:cNvPr id="28" name="TextBox 27"/>
          <p:cNvSpPr txBox="1"/>
          <p:nvPr/>
        </p:nvSpPr>
        <p:spPr>
          <a:xfrm>
            <a:off x="7498079" y="4983480"/>
            <a:ext cx="3977639" cy="365760"/>
          </a:xfrm>
          <a:prstGeom prst="rect">
            <a:avLst/>
          </a:prstGeom>
          <a:noFill/>
        </p:spPr>
        <p:txBody>
          <a:bodyPr wrap="square" anchor="t" lIns="0" rIns="0" tIns="0" bIns="0">
            <a:spAutoFit/>
          </a:bodyPr>
          <a:lstStyle/>
          <a:p>
            <a:pPr algn="l">
              <a:lnSpc>
                <a:spcPct val="102000"/>
              </a:lnSpc>
            </a:pPr>
            <a:r>
              <a:rPr sz="1050" b="1" i="0">
                <a:solidFill>
                  <a:srgbClr val="17292D"/>
                </a:solidFill>
                <a:latin typeface="Calibri"/>
              </a:rPr>
              <a:t>% chú thích trace đúng; điểm khảo sát</a:t>
            </a:r>
          </a:p>
        </p:txBody>
      </p:sp>
      <p:sp>
        <p:nvSpPr>
          <p:cNvPr id="29" name="TextBox 28"/>
          <p:cNvSpPr txBox="1"/>
          <p:nvPr/>
        </p:nvSpPr>
        <p:spPr>
          <a:xfrm>
            <a:off x="7498079" y="5349240"/>
            <a:ext cx="3977639" cy="320040"/>
          </a:xfrm>
          <a:prstGeom prst="rect">
            <a:avLst/>
          </a:prstGeom>
          <a:noFill/>
        </p:spPr>
        <p:txBody>
          <a:bodyPr wrap="square" anchor="t" lIns="0" rIns="0" tIns="0" bIns="0">
            <a:spAutoFit/>
          </a:bodyPr>
          <a:lstStyle/>
          <a:p>
            <a:pPr algn="l"/>
            <a:r>
              <a:rPr sz="1000" b="0" i="0">
                <a:solidFill>
                  <a:srgbClr val="5A7278"/>
                </a:solidFill>
                <a:latin typeface="Calibri"/>
              </a:rPr>
              <a:t>mã sinh + phiếu khảo sát</a:t>
            </a:r>
          </a:p>
        </p:txBody>
      </p:sp>
      <p:sp>
        <p:nvSpPr>
          <p:cNvPr id="30" name="TextBox 29"/>
          <p:cNvSpPr txBox="1"/>
          <p:nvPr/>
        </p:nvSpPr>
        <p:spPr>
          <a:xfrm>
            <a:off x="594360" y="6035040"/>
            <a:ext cx="11018520" cy="457200"/>
          </a:xfrm>
          <a:prstGeom prst="rect">
            <a:avLst/>
          </a:prstGeom>
          <a:noFill/>
        </p:spPr>
        <p:txBody>
          <a:bodyPr wrap="square" anchor="t" lIns="0" rIns="0" tIns="0" bIns="0">
            <a:spAutoFit/>
          </a:bodyPr>
          <a:lstStyle/>
          <a:p>
            <a:pPr algn="ctr"/>
            <a:r>
              <a:rPr sz="1200" b="0" i="1">
                <a:solidFill>
                  <a:srgbClr val="5A7278"/>
                </a:solidFill>
                <a:latin typeface="Calibri"/>
              </a:rPr>
              <a:t>Mọi kịch bản và phép đo đều suy trực tiếp từ đặc tả — hạn chế thiên lệch khi tác giả tự đánh giá (xem threats to validity).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4 · Đánh giá thực nghiệm</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Kịch bản kiểm thử trên CourseMan</a:t>
            </a:r>
          </a:p>
        </p:txBody>
      </p:sp>
      <p:sp>
        <p:nvSpPr>
          <p:cNvPr id="4" name="Rounded Rectangle 3"/>
          <p:cNvSpPr/>
          <p:nvPr/>
        </p:nvSpPr>
        <p:spPr>
          <a:xfrm>
            <a:off x="594360" y="1691640"/>
            <a:ext cx="11018520" cy="56692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91640"/>
            <a:ext cx="685800" cy="566928"/>
          </a:xfrm>
          <a:prstGeom prst="rect">
            <a:avLst/>
          </a:prstGeom>
          <a:noFill/>
        </p:spPr>
        <p:txBody>
          <a:bodyPr wrap="square" anchor="ctr" lIns="0" rIns="0" tIns="0" bIns="0">
            <a:spAutoFit/>
          </a:bodyPr>
          <a:lstStyle/>
          <a:p>
            <a:pPr algn="l"/>
            <a:r>
              <a:rPr sz="1200" b="1" i="0">
                <a:solidFill>
                  <a:srgbClr val="17292D"/>
                </a:solidFill>
                <a:latin typeface="Courier New"/>
              </a:rPr>
              <a:t>TC1</a:t>
            </a:r>
          </a:p>
        </p:txBody>
      </p:sp>
      <p:sp>
        <p:nvSpPr>
          <p:cNvPr id="6" name="Rounded Rectangle 5"/>
          <p:cNvSpPr/>
          <p:nvPr/>
        </p:nvSpPr>
        <p:spPr>
          <a:xfrm>
            <a:off x="1600200" y="1810512"/>
            <a:ext cx="1143000" cy="329184"/>
          </a:xfrm>
          <a:prstGeom prst="roundRect">
            <a:avLst>
              <a:gd name="adj" fmla="val 5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00200" y="1810512"/>
            <a:ext cx="1143000" cy="329184"/>
          </a:xfrm>
          <a:prstGeom prst="rect">
            <a:avLst/>
          </a:prstGeom>
          <a:noFill/>
        </p:spPr>
        <p:txBody>
          <a:bodyPr wrap="square" anchor="ctr" lIns="0" rIns="0" tIns="0" bIns="0">
            <a:spAutoFit/>
          </a:bodyPr>
          <a:lstStyle/>
          <a:p>
            <a:pPr algn="ctr"/>
            <a:r>
              <a:rPr sz="1000" b="1" i="0">
                <a:solidFill>
                  <a:srgbClr val="FFFFFF"/>
                </a:solidFill>
                <a:latin typeface="Calibri"/>
              </a:rPr>
              <a:t>Cho phép</a:t>
            </a:r>
          </a:p>
        </p:txBody>
      </p:sp>
      <p:sp>
        <p:nvSpPr>
          <p:cNvPr id="8" name="TextBox 7"/>
          <p:cNvSpPr txBox="1"/>
          <p:nvPr/>
        </p:nvSpPr>
        <p:spPr>
          <a:xfrm>
            <a:off x="2926080" y="1691640"/>
            <a:ext cx="6035040" cy="566928"/>
          </a:xfrm>
          <a:prstGeom prst="rect">
            <a:avLst/>
          </a:prstGeom>
          <a:noFill/>
        </p:spPr>
        <p:txBody>
          <a:bodyPr wrap="square" anchor="ctr" lIns="0" rIns="0" tIns="0" bIns="0">
            <a:spAutoFit/>
          </a:bodyPr>
          <a:lstStyle/>
          <a:p>
            <a:pPr algn="l"/>
            <a:r>
              <a:rPr sz="1150" b="0" i="0">
                <a:solidFill>
                  <a:srgbClr val="17292D"/>
                </a:solidFill>
                <a:latin typeface="Calibri"/>
              </a:rPr>
              <a:t>Officer tạo Enrolment — có quyền ENROLL_STUDENTS</a:t>
            </a:r>
          </a:p>
        </p:txBody>
      </p:sp>
      <p:sp>
        <p:nvSpPr>
          <p:cNvPr id="9" name="TextBox 8"/>
          <p:cNvSpPr txBox="1"/>
          <p:nvPr/>
        </p:nvSpPr>
        <p:spPr>
          <a:xfrm>
            <a:off x="9052560" y="1691640"/>
            <a:ext cx="2377440" cy="566928"/>
          </a:xfrm>
          <a:prstGeom prst="rect">
            <a:avLst/>
          </a:prstGeom>
          <a:noFill/>
        </p:spPr>
        <p:txBody>
          <a:bodyPr wrap="square" anchor="ctr" lIns="0" rIns="0" tIns="0" bIns="0">
            <a:spAutoFit/>
          </a:bodyPr>
          <a:lstStyle/>
          <a:p>
            <a:pPr algn="l">
              <a:lnSpc>
                <a:spcPct val="102000"/>
              </a:lnSpc>
            </a:pPr>
            <a:r>
              <a:rPr sz="1000" b="0" i="1">
                <a:solidFill>
                  <a:srgbClr val="5A7278"/>
                </a:solidFill>
                <a:latin typeface="Calibri"/>
              </a:rPr>
              <a:t>guard lúc vận hành</a:t>
            </a:r>
          </a:p>
        </p:txBody>
      </p:sp>
      <p:sp>
        <p:nvSpPr>
          <p:cNvPr id="10" name="Rounded Rectangle 9"/>
          <p:cNvSpPr/>
          <p:nvPr/>
        </p:nvSpPr>
        <p:spPr>
          <a:xfrm>
            <a:off x="594360" y="2386584"/>
            <a:ext cx="11018520" cy="56692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386584"/>
            <a:ext cx="685800" cy="566928"/>
          </a:xfrm>
          <a:prstGeom prst="rect">
            <a:avLst/>
          </a:prstGeom>
          <a:noFill/>
        </p:spPr>
        <p:txBody>
          <a:bodyPr wrap="square" anchor="ctr" lIns="0" rIns="0" tIns="0" bIns="0">
            <a:spAutoFit/>
          </a:bodyPr>
          <a:lstStyle/>
          <a:p>
            <a:pPr algn="l"/>
            <a:r>
              <a:rPr sz="1200" b="1" i="0">
                <a:solidFill>
                  <a:srgbClr val="17292D"/>
                </a:solidFill>
                <a:latin typeface="Courier New"/>
              </a:rPr>
              <a:t>TC2</a:t>
            </a:r>
          </a:p>
        </p:txBody>
      </p:sp>
      <p:sp>
        <p:nvSpPr>
          <p:cNvPr id="12" name="Rounded Rectangle 11"/>
          <p:cNvSpPr/>
          <p:nvPr/>
        </p:nvSpPr>
        <p:spPr>
          <a:xfrm>
            <a:off x="1600200" y="2505456"/>
            <a:ext cx="1143000" cy="329184"/>
          </a:xfrm>
          <a:prstGeom prst="roundRect">
            <a:avLst>
              <a:gd name="adj" fmla="val 5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00200" y="2505456"/>
            <a:ext cx="1143000" cy="329184"/>
          </a:xfrm>
          <a:prstGeom prst="rect">
            <a:avLst/>
          </a:prstGeom>
          <a:noFill/>
        </p:spPr>
        <p:txBody>
          <a:bodyPr wrap="square" anchor="ctr" lIns="0" rIns="0" tIns="0" bIns="0">
            <a:spAutoFit/>
          </a:bodyPr>
          <a:lstStyle/>
          <a:p>
            <a:pPr algn="ctr"/>
            <a:r>
              <a:rPr sz="1000" b="1" i="0">
                <a:solidFill>
                  <a:srgbClr val="FFFFFF"/>
                </a:solidFill>
                <a:latin typeface="Calibri"/>
              </a:rPr>
              <a:t>Bị chặn</a:t>
            </a:r>
          </a:p>
        </p:txBody>
      </p:sp>
      <p:sp>
        <p:nvSpPr>
          <p:cNvPr id="14" name="TextBox 13"/>
          <p:cNvSpPr txBox="1"/>
          <p:nvPr/>
        </p:nvSpPr>
        <p:spPr>
          <a:xfrm>
            <a:off x="2926080" y="2386584"/>
            <a:ext cx="6035040" cy="566928"/>
          </a:xfrm>
          <a:prstGeom prst="rect">
            <a:avLst/>
          </a:prstGeom>
          <a:noFill/>
        </p:spPr>
        <p:txBody>
          <a:bodyPr wrap="square" anchor="ctr" lIns="0" rIns="0" tIns="0" bIns="0">
            <a:spAutoFit/>
          </a:bodyPr>
          <a:lstStyle/>
          <a:p>
            <a:pPr algn="l"/>
            <a:r>
              <a:rPr sz="1150" b="0" i="0">
                <a:solidFill>
                  <a:srgbClr val="17292D"/>
                </a:solidFill>
                <a:latin typeface="Calibri"/>
              </a:rPr>
              <a:t>StudentRole tạo Enrolment — không có quyền</a:t>
            </a:r>
          </a:p>
        </p:txBody>
      </p:sp>
      <p:sp>
        <p:nvSpPr>
          <p:cNvPr id="15" name="TextBox 14"/>
          <p:cNvSpPr txBox="1"/>
          <p:nvPr/>
        </p:nvSpPr>
        <p:spPr>
          <a:xfrm>
            <a:off x="9052560" y="2386584"/>
            <a:ext cx="2377440" cy="566928"/>
          </a:xfrm>
          <a:prstGeom prst="rect">
            <a:avLst/>
          </a:prstGeom>
          <a:noFill/>
        </p:spPr>
        <p:txBody>
          <a:bodyPr wrap="square" anchor="ctr" lIns="0" rIns="0" tIns="0" bIns="0">
            <a:spAutoFit/>
          </a:bodyPr>
          <a:lstStyle/>
          <a:p>
            <a:pPr algn="l">
              <a:lnSpc>
                <a:spcPct val="102000"/>
              </a:lnSpc>
            </a:pPr>
            <a:r>
              <a:rPr sz="1000" b="0" i="1">
                <a:solidFill>
                  <a:srgbClr val="5A7278"/>
                </a:solidFill>
                <a:latin typeface="Calibri"/>
              </a:rPr>
              <a:t>guard lúc vận hành</a:t>
            </a:r>
          </a:p>
        </p:txBody>
      </p:sp>
      <p:sp>
        <p:nvSpPr>
          <p:cNvPr id="16" name="Rounded Rectangle 15"/>
          <p:cNvSpPr/>
          <p:nvPr/>
        </p:nvSpPr>
        <p:spPr>
          <a:xfrm>
            <a:off x="594360" y="3081528"/>
            <a:ext cx="11018520" cy="56692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081528"/>
            <a:ext cx="685800" cy="566928"/>
          </a:xfrm>
          <a:prstGeom prst="rect">
            <a:avLst/>
          </a:prstGeom>
          <a:noFill/>
        </p:spPr>
        <p:txBody>
          <a:bodyPr wrap="square" anchor="ctr" lIns="0" rIns="0" tIns="0" bIns="0">
            <a:spAutoFit/>
          </a:bodyPr>
          <a:lstStyle/>
          <a:p>
            <a:pPr algn="l"/>
            <a:r>
              <a:rPr sz="1200" b="1" i="0">
                <a:solidFill>
                  <a:srgbClr val="17292D"/>
                </a:solidFill>
                <a:latin typeface="Courier New"/>
              </a:rPr>
              <a:t>TC3</a:t>
            </a:r>
          </a:p>
        </p:txBody>
      </p:sp>
      <p:sp>
        <p:nvSpPr>
          <p:cNvPr id="18" name="Rounded Rectangle 17"/>
          <p:cNvSpPr/>
          <p:nvPr/>
        </p:nvSpPr>
        <p:spPr>
          <a:xfrm>
            <a:off x="1600200" y="3200400"/>
            <a:ext cx="1143000" cy="329184"/>
          </a:xfrm>
          <a:prstGeom prst="roundRect">
            <a:avLst>
              <a:gd name="adj" fmla="val 5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200400"/>
            <a:ext cx="1143000" cy="329184"/>
          </a:xfrm>
          <a:prstGeom prst="rect">
            <a:avLst/>
          </a:prstGeom>
          <a:noFill/>
        </p:spPr>
        <p:txBody>
          <a:bodyPr wrap="square" anchor="ctr" lIns="0" rIns="0" tIns="0" bIns="0">
            <a:spAutoFit/>
          </a:bodyPr>
          <a:lstStyle/>
          <a:p>
            <a:pPr algn="ctr"/>
            <a:r>
              <a:rPr sz="1000" b="1" i="0">
                <a:solidFill>
                  <a:srgbClr val="FFFFFF"/>
                </a:solidFill>
                <a:latin typeface="Calibri"/>
              </a:rPr>
              <a:t>Cho phép</a:t>
            </a:r>
          </a:p>
        </p:txBody>
      </p:sp>
      <p:sp>
        <p:nvSpPr>
          <p:cNvPr id="20" name="TextBox 19"/>
          <p:cNvSpPr txBox="1"/>
          <p:nvPr/>
        </p:nvSpPr>
        <p:spPr>
          <a:xfrm>
            <a:off x="2926080" y="3081528"/>
            <a:ext cx="6035040" cy="566928"/>
          </a:xfrm>
          <a:prstGeom prst="rect">
            <a:avLst/>
          </a:prstGeom>
          <a:noFill/>
        </p:spPr>
        <p:txBody>
          <a:bodyPr wrap="square" anchor="ctr" lIns="0" rIns="0" tIns="0" bIns="0">
            <a:spAutoFit/>
          </a:bodyPr>
          <a:lstStyle/>
          <a:p>
            <a:pPr algn="l"/>
            <a:r>
              <a:rPr sz="1150" b="0" i="0">
                <a:solidFill>
                  <a:srgbClr val="17292D"/>
                </a:solidFill>
                <a:latin typeface="Calibri"/>
              </a:rPr>
              <a:t>Admin đọc Student — quyền kế thừa qua phân cấp (RBAC₁)</a:t>
            </a:r>
          </a:p>
        </p:txBody>
      </p:sp>
      <p:sp>
        <p:nvSpPr>
          <p:cNvPr id="21" name="TextBox 20"/>
          <p:cNvSpPr txBox="1"/>
          <p:nvPr/>
        </p:nvSpPr>
        <p:spPr>
          <a:xfrm>
            <a:off x="9052560" y="3081528"/>
            <a:ext cx="2377440" cy="566928"/>
          </a:xfrm>
          <a:prstGeom prst="rect">
            <a:avLst/>
          </a:prstGeom>
          <a:noFill/>
        </p:spPr>
        <p:txBody>
          <a:bodyPr wrap="square" anchor="ctr" lIns="0" rIns="0" tIns="0" bIns="0">
            <a:spAutoFit/>
          </a:bodyPr>
          <a:lstStyle/>
          <a:p>
            <a:pPr algn="l">
              <a:lnSpc>
                <a:spcPct val="102000"/>
              </a:lnSpc>
            </a:pPr>
            <a:r>
              <a:rPr sz="1000" b="0" i="1">
                <a:solidFill>
                  <a:srgbClr val="5A7278"/>
                </a:solidFill>
                <a:latin typeface="Calibri"/>
              </a:rPr>
              <a:t>guard lúc vận hành</a:t>
            </a:r>
          </a:p>
        </p:txBody>
      </p:sp>
      <p:sp>
        <p:nvSpPr>
          <p:cNvPr id="22" name="Rounded Rectangle 21"/>
          <p:cNvSpPr/>
          <p:nvPr/>
        </p:nvSpPr>
        <p:spPr>
          <a:xfrm>
            <a:off x="594360" y="3776472"/>
            <a:ext cx="11018520" cy="56692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776472"/>
            <a:ext cx="685800" cy="566928"/>
          </a:xfrm>
          <a:prstGeom prst="rect">
            <a:avLst/>
          </a:prstGeom>
          <a:noFill/>
        </p:spPr>
        <p:txBody>
          <a:bodyPr wrap="square" anchor="ctr" lIns="0" rIns="0" tIns="0" bIns="0">
            <a:spAutoFit/>
          </a:bodyPr>
          <a:lstStyle/>
          <a:p>
            <a:pPr algn="l"/>
            <a:r>
              <a:rPr sz="1200" b="1" i="0">
                <a:solidFill>
                  <a:srgbClr val="17292D"/>
                </a:solidFill>
                <a:latin typeface="Courier New"/>
              </a:rPr>
              <a:t>TC4</a:t>
            </a:r>
          </a:p>
        </p:txBody>
      </p:sp>
      <p:sp>
        <p:nvSpPr>
          <p:cNvPr id="24" name="Rounded Rectangle 23"/>
          <p:cNvSpPr/>
          <p:nvPr/>
        </p:nvSpPr>
        <p:spPr>
          <a:xfrm>
            <a:off x="1600200" y="3895344"/>
            <a:ext cx="1143000" cy="329184"/>
          </a:xfrm>
          <a:prstGeom prst="roundRect">
            <a:avLst>
              <a:gd name="adj" fmla="val 5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00200" y="3895344"/>
            <a:ext cx="1143000" cy="329184"/>
          </a:xfrm>
          <a:prstGeom prst="rect">
            <a:avLst/>
          </a:prstGeom>
          <a:noFill/>
        </p:spPr>
        <p:txBody>
          <a:bodyPr wrap="square" anchor="ctr" lIns="0" rIns="0" tIns="0" bIns="0">
            <a:spAutoFit/>
          </a:bodyPr>
          <a:lstStyle/>
          <a:p>
            <a:pPr algn="ctr"/>
            <a:r>
              <a:rPr sz="1000" b="1" i="0">
                <a:solidFill>
                  <a:srgbClr val="FFFFFF"/>
                </a:solidFill>
                <a:latin typeface="Calibri"/>
              </a:rPr>
              <a:t>Bị chặn</a:t>
            </a:r>
          </a:p>
        </p:txBody>
      </p:sp>
      <p:sp>
        <p:nvSpPr>
          <p:cNvPr id="26" name="TextBox 25"/>
          <p:cNvSpPr txBox="1"/>
          <p:nvPr/>
        </p:nvSpPr>
        <p:spPr>
          <a:xfrm>
            <a:off x="2926080" y="3776472"/>
            <a:ext cx="6035040" cy="566928"/>
          </a:xfrm>
          <a:prstGeom prst="rect">
            <a:avLst/>
          </a:prstGeom>
          <a:noFill/>
        </p:spPr>
        <p:txBody>
          <a:bodyPr wrap="square" anchor="ctr" lIns="0" rIns="0" tIns="0" bIns="0">
            <a:spAutoFit/>
          </a:bodyPr>
          <a:lstStyle/>
          <a:p>
            <a:pPr algn="l"/>
            <a:r>
              <a:rPr sz="1150" b="0" i="0">
                <a:solidFill>
                  <a:srgbClr val="17292D"/>
                </a:solidFill>
                <a:latin typeface="Calibri"/>
              </a:rPr>
              <a:t>Gán đồng thời Admin + Auditor — vi phạm «SSD»</a:t>
            </a:r>
          </a:p>
        </p:txBody>
      </p:sp>
      <p:sp>
        <p:nvSpPr>
          <p:cNvPr id="27" name="TextBox 26"/>
          <p:cNvSpPr txBox="1"/>
          <p:nvPr/>
        </p:nvSpPr>
        <p:spPr>
          <a:xfrm>
            <a:off x="9052560" y="3776472"/>
            <a:ext cx="2377440" cy="566928"/>
          </a:xfrm>
          <a:prstGeom prst="rect">
            <a:avLst/>
          </a:prstGeom>
          <a:noFill/>
        </p:spPr>
        <p:txBody>
          <a:bodyPr wrap="square" anchor="ctr" lIns="0" rIns="0" tIns="0" bIns="0">
            <a:spAutoFit/>
          </a:bodyPr>
          <a:lstStyle/>
          <a:p>
            <a:pPr algn="l">
              <a:lnSpc>
                <a:spcPct val="102000"/>
              </a:lnSpc>
            </a:pPr>
            <a:r>
              <a:rPr sz="1000" b="0" i="1">
                <a:solidFill>
                  <a:srgbClr val="5A7278"/>
                </a:solidFill>
                <a:latin typeface="Calibri"/>
              </a:rPr>
              <a:t>kiểm chứng mô hình (Bước 4)</a:t>
            </a:r>
          </a:p>
        </p:txBody>
      </p:sp>
      <p:sp>
        <p:nvSpPr>
          <p:cNvPr id="28" name="Rounded Rectangle 27"/>
          <p:cNvSpPr/>
          <p:nvPr/>
        </p:nvSpPr>
        <p:spPr>
          <a:xfrm>
            <a:off x="594360" y="4471416"/>
            <a:ext cx="11018520" cy="56692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4471416"/>
            <a:ext cx="685800" cy="566928"/>
          </a:xfrm>
          <a:prstGeom prst="rect">
            <a:avLst/>
          </a:prstGeom>
          <a:noFill/>
        </p:spPr>
        <p:txBody>
          <a:bodyPr wrap="square" anchor="ctr" lIns="0" rIns="0" tIns="0" bIns="0">
            <a:spAutoFit/>
          </a:bodyPr>
          <a:lstStyle/>
          <a:p>
            <a:pPr algn="l"/>
            <a:r>
              <a:rPr sz="1200" b="1" i="0">
                <a:solidFill>
                  <a:srgbClr val="17292D"/>
                </a:solidFill>
                <a:latin typeface="Courier New"/>
              </a:rPr>
              <a:t>TC5</a:t>
            </a:r>
          </a:p>
        </p:txBody>
      </p:sp>
      <p:sp>
        <p:nvSpPr>
          <p:cNvPr id="30" name="Rounded Rectangle 29"/>
          <p:cNvSpPr/>
          <p:nvPr/>
        </p:nvSpPr>
        <p:spPr>
          <a:xfrm>
            <a:off x="1600200" y="4590288"/>
            <a:ext cx="1143000" cy="329184"/>
          </a:xfrm>
          <a:prstGeom prst="roundRect">
            <a:avLst>
              <a:gd name="adj" fmla="val 5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00200" y="4590288"/>
            <a:ext cx="1143000" cy="329184"/>
          </a:xfrm>
          <a:prstGeom prst="rect">
            <a:avLst/>
          </a:prstGeom>
          <a:noFill/>
        </p:spPr>
        <p:txBody>
          <a:bodyPr wrap="square" anchor="ctr" lIns="0" rIns="0" tIns="0" bIns="0">
            <a:spAutoFit/>
          </a:bodyPr>
          <a:lstStyle/>
          <a:p>
            <a:pPr algn="ctr"/>
            <a:r>
              <a:rPr sz="1000" b="1" i="0">
                <a:solidFill>
                  <a:srgbClr val="FFFFFF"/>
                </a:solidFill>
                <a:latin typeface="Calibri"/>
              </a:rPr>
              <a:t>Bị chặn</a:t>
            </a:r>
          </a:p>
        </p:txBody>
      </p:sp>
      <p:sp>
        <p:nvSpPr>
          <p:cNvPr id="32" name="TextBox 31"/>
          <p:cNvSpPr txBox="1"/>
          <p:nvPr/>
        </p:nvSpPr>
        <p:spPr>
          <a:xfrm>
            <a:off x="2926080" y="4471416"/>
            <a:ext cx="6035040" cy="566928"/>
          </a:xfrm>
          <a:prstGeom prst="rect">
            <a:avLst/>
          </a:prstGeom>
          <a:noFill/>
        </p:spPr>
        <p:txBody>
          <a:bodyPr wrap="square" anchor="ctr" lIns="0" rIns="0" tIns="0" bIns="0">
            <a:spAutoFit/>
          </a:bodyPr>
          <a:lstStyle/>
          <a:p>
            <a:pPr algn="l"/>
            <a:r>
              <a:rPr sz="1150" b="0" i="0">
                <a:solidFill>
                  <a:srgbClr val="17292D"/>
                </a:solidFill>
                <a:latin typeface="Calibri"/>
              </a:rPr>
              <a:t>Kích hoạt Officer + StudentRole cùng phiên — vi phạm «DSD»</a:t>
            </a:r>
          </a:p>
        </p:txBody>
      </p:sp>
      <p:sp>
        <p:nvSpPr>
          <p:cNvPr id="33" name="TextBox 32"/>
          <p:cNvSpPr txBox="1"/>
          <p:nvPr/>
        </p:nvSpPr>
        <p:spPr>
          <a:xfrm>
            <a:off x="9052560" y="4471416"/>
            <a:ext cx="2377440" cy="566928"/>
          </a:xfrm>
          <a:prstGeom prst="rect">
            <a:avLst/>
          </a:prstGeom>
          <a:noFill/>
        </p:spPr>
        <p:txBody>
          <a:bodyPr wrap="square" anchor="ctr" lIns="0" rIns="0" tIns="0" bIns="0">
            <a:spAutoFit/>
          </a:bodyPr>
          <a:lstStyle/>
          <a:p>
            <a:pPr algn="l">
              <a:lnSpc>
                <a:spcPct val="102000"/>
              </a:lnSpc>
            </a:pPr>
            <a:r>
              <a:rPr sz="1000" b="0" i="1">
                <a:solidFill>
                  <a:srgbClr val="5A7278"/>
                </a:solidFill>
                <a:latin typeface="Calibri"/>
              </a:rPr>
              <a:t>guard lúc vận hành (Bước 4)</a:t>
            </a:r>
          </a:p>
        </p:txBody>
      </p:sp>
      <p:sp>
        <p:nvSpPr>
          <p:cNvPr id="34" name="Rounded Rectangle 33"/>
          <p:cNvSpPr/>
          <p:nvPr/>
        </p:nvSpPr>
        <p:spPr>
          <a:xfrm>
            <a:off x="594360" y="5166359"/>
            <a:ext cx="11018520" cy="56692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 y="5166359"/>
            <a:ext cx="685800" cy="566928"/>
          </a:xfrm>
          <a:prstGeom prst="rect">
            <a:avLst/>
          </a:prstGeom>
          <a:noFill/>
        </p:spPr>
        <p:txBody>
          <a:bodyPr wrap="square" anchor="ctr" lIns="0" rIns="0" tIns="0" bIns="0">
            <a:spAutoFit/>
          </a:bodyPr>
          <a:lstStyle/>
          <a:p>
            <a:pPr algn="l"/>
            <a:r>
              <a:rPr sz="1200" b="1" i="0">
                <a:solidFill>
                  <a:srgbClr val="17292D"/>
                </a:solidFill>
                <a:latin typeface="Courier New"/>
              </a:rPr>
              <a:t>TC6</a:t>
            </a:r>
          </a:p>
        </p:txBody>
      </p:sp>
      <p:sp>
        <p:nvSpPr>
          <p:cNvPr id="36" name="Rounded Rectangle 35"/>
          <p:cNvSpPr/>
          <p:nvPr/>
        </p:nvSpPr>
        <p:spPr>
          <a:xfrm>
            <a:off x="1600200" y="5285231"/>
            <a:ext cx="1143000" cy="329184"/>
          </a:xfrm>
          <a:prstGeom prst="roundRect">
            <a:avLst>
              <a:gd name="adj" fmla="val 5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00200" y="5285231"/>
            <a:ext cx="1143000" cy="329184"/>
          </a:xfrm>
          <a:prstGeom prst="rect">
            <a:avLst/>
          </a:prstGeom>
          <a:noFill/>
        </p:spPr>
        <p:txBody>
          <a:bodyPr wrap="square" anchor="ctr" lIns="0" rIns="0" tIns="0" bIns="0">
            <a:spAutoFit/>
          </a:bodyPr>
          <a:lstStyle/>
          <a:p>
            <a:pPr algn="ctr"/>
            <a:r>
              <a:rPr sz="1000" b="1" i="0">
                <a:solidFill>
                  <a:srgbClr val="FFFFFF"/>
                </a:solidFill>
                <a:latin typeface="Calibri"/>
              </a:rPr>
              <a:t>Bị chặn</a:t>
            </a:r>
          </a:p>
        </p:txBody>
      </p:sp>
      <p:sp>
        <p:nvSpPr>
          <p:cNvPr id="38" name="TextBox 37"/>
          <p:cNvSpPr txBox="1"/>
          <p:nvPr/>
        </p:nvSpPr>
        <p:spPr>
          <a:xfrm>
            <a:off x="2926080" y="5166359"/>
            <a:ext cx="6035040" cy="566928"/>
          </a:xfrm>
          <a:prstGeom prst="rect">
            <a:avLst/>
          </a:prstGeom>
          <a:noFill/>
        </p:spPr>
        <p:txBody>
          <a:bodyPr wrap="square" anchor="ctr" lIns="0" rIns="0" tIns="0" bIns="0">
            <a:spAutoFit/>
          </a:bodyPr>
          <a:lstStyle/>
          <a:p>
            <a:pPr algn="l"/>
            <a:r>
              <a:rPr sz="1150" b="0" i="0">
                <a:solidFill>
                  <a:srgbClr val="17292D"/>
                </a:solidFill>
                <a:latin typeface="Calibri"/>
              </a:rPr>
              <a:t>Thêm chu trình kế thừa vai trò vào đặc tả</a:t>
            </a:r>
          </a:p>
        </p:txBody>
      </p:sp>
      <p:sp>
        <p:nvSpPr>
          <p:cNvPr id="39" name="TextBox 38"/>
          <p:cNvSpPr txBox="1"/>
          <p:nvPr/>
        </p:nvSpPr>
        <p:spPr>
          <a:xfrm>
            <a:off x="9052560" y="5166359"/>
            <a:ext cx="2377440" cy="566928"/>
          </a:xfrm>
          <a:prstGeom prst="rect">
            <a:avLst/>
          </a:prstGeom>
          <a:noFill/>
        </p:spPr>
        <p:txBody>
          <a:bodyPr wrap="square" anchor="ctr" lIns="0" rIns="0" tIns="0" bIns="0">
            <a:spAutoFit/>
          </a:bodyPr>
          <a:lstStyle/>
          <a:p>
            <a:pPr algn="l">
              <a:lnSpc>
                <a:spcPct val="102000"/>
              </a:lnSpc>
            </a:pPr>
            <a:r>
              <a:rPr sz="1000" b="0" i="1">
                <a:solidFill>
                  <a:srgbClr val="5A7278"/>
                </a:solidFill>
                <a:latin typeface="Calibri"/>
              </a:rPr>
              <a:t>kiểm chứng mô hình (Bước 4)</a:t>
            </a:r>
          </a:p>
        </p:txBody>
      </p:sp>
      <p:sp>
        <p:nvSpPr>
          <p:cNvPr id="40" name="TextBox 39"/>
          <p:cNvSpPr txBox="1"/>
          <p:nvPr/>
        </p:nvSpPr>
        <p:spPr>
          <a:xfrm>
            <a:off x="594360" y="5952743"/>
            <a:ext cx="11018520" cy="731520"/>
          </a:xfrm>
          <a:prstGeom prst="rect">
            <a:avLst/>
          </a:prstGeom>
          <a:noFill/>
        </p:spPr>
        <p:txBody>
          <a:bodyPr wrap="square" anchor="t" lIns="0" rIns="0" tIns="0" bIns="0">
            <a:spAutoFit/>
          </a:bodyPr>
          <a:lstStyle/>
          <a:p>
            <a:pPr algn="ctr">
              <a:lnSpc>
                <a:spcPct val="112000"/>
              </a:lnSpc>
            </a:pPr>
            <a:r>
              <a:rPr sz="1200" b="0" i="1">
                <a:solidFill>
                  <a:srgbClr val="5A7278"/>
                </a:solidFill>
                <a:latin typeface="Calibri"/>
              </a:rPr>
              <a:t>TC1–TC3 chạy được với guard RBAC₁ hiện tại; TC4–TC6 thuộc bước kiểm chứng ràng buộc đang tích hợp. Mỗi kịch bản là một bài e2e tự động trên mã sinh ra.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4 · Đánh giá thực nghiệm</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Kết quả sơ bộ trên case study CourseMan</a:t>
            </a:r>
          </a:p>
        </p:txBody>
      </p:sp>
      <p:sp>
        <p:nvSpPr>
          <p:cNvPr id="4" name="Rounded Rectangle 3"/>
          <p:cNvSpPr/>
          <p:nvPr/>
        </p:nvSpPr>
        <p:spPr>
          <a:xfrm>
            <a:off x="594360" y="1737360"/>
            <a:ext cx="2743200" cy="192024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65960"/>
            <a:ext cx="2377440" cy="685800"/>
          </a:xfrm>
          <a:prstGeom prst="rect">
            <a:avLst/>
          </a:prstGeom>
          <a:noFill/>
        </p:spPr>
        <p:txBody>
          <a:bodyPr wrap="square" anchor="t" lIns="0" rIns="0" tIns="0" bIns="0">
            <a:spAutoFit/>
          </a:bodyPr>
          <a:lstStyle/>
          <a:p>
            <a:pPr algn="l"/>
            <a:r>
              <a:rPr sz="4000" b="1" i="0">
                <a:solidFill>
                  <a:srgbClr val="028090"/>
                </a:solidFill>
                <a:latin typeface="Cambria"/>
              </a:rPr>
              <a:t>331</a:t>
            </a:r>
          </a:p>
        </p:txBody>
      </p:sp>
      <p:sp>
        <p:nvSpPr>
          <p:cNvPr id="6" name="TextBox 5"/>
          <p:cNvSpPr txBox="1"/>
          <p:nvPr/>
        </p:nvSpPr>
        <p:spPr>
          <a:xfrm>
            <a:off x="777240" y="2697480"/>
            <a:ext cx="2377440" cy="365760"/>
          </a:xfrm>
          <a:prstGeom prst="rect">
            <a:avLst/>
          </a:prstGeom>
          <a:noFill/>
        </p:spPr>
        <p:txBody>
          <a:bodyPr wrap="square" anchor="t" lIns="0" rIns="0" tIns="0" bIns="0">
            <a:spAutoFit/>
          </a:bodyPr>
          <a:lstStyle/>
          <a:p>
            <a:pPr algn="l"/>
            <a:r>
              <a:rPr sz="1250" b="1" i="0">
                <a:solidFill>
                  <a:srgbClr val="17292D"/>
                </a:solidFill>
                <a:latin typeface="Calibri"/>
              </a:rPr>
              <a:t>dòng đặc tả đầu vào</a:t>
            </a:r>
          </a:p>
        </p:txBody>
      </p:sp>
      <p:sp>
        <p:nvSpPr>
          <p:cNvPr id="7" name="TextBox 6"/>
          <p:cNvSpPr txBox="1"/>
          <p:nvPr/>
        </p:nvSpPr>
        <p:spPr>
          <a:xfrm>
            <a:off x="777240" y="3063239"/>
            <a:ext cx="2377440" cy="548640"/>
          </a:xfrm>
          <a:prstGeom prst="rect">
            <a:avLst/>
          </a:prstGeom>
          <a:noFill/>
        </p:spPr>
        <p:txBody>
          <a:bodyPr wrap="square" anchor="t" lIns="0" rIns="0" tIns="0" bIns="0">
            <a:spAutoFit/>
          </a:bodyPr>
          <a:lstStyle/>
          <a:p>
            <a:pPr algn="l">
              <a:lnSpc>
                <a:spcPct val="105000"/>
              </a:lnSpc>
            </a:pPr>
            <a:r>
              <a:rPr sz="1050" b="0" i="0">
                <a:solidFill>
                  <a:srgbClr val="5A7278"/>
                </a:solidFill>
                <a:latin typeface="Calibri"/>
              </a:rPr>
              <a:t>223 .puml + 22 .activity.puml + 86 .ocl</a:t>
            </a:r>
          </a:p>
        </p:txBody>
      </p:sp>
      <p:sp>
        <p:nvSpPr>
          <p:cNvPr id="8" name="Rounded Rectangle 7"/>
          <p:cNvSpPr/>
          <p:nvPr/>
        </p:nvSpPr>
        <p:spPr>
          <a:xfrm>
            <a:off x="3438144" y="1737360"/>
            <a:ext cx="2743200" cy="192024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21024" y="1965960"/>
            <a:ext cx="2377440" cy="685800"/>
          </a:xfrm>
          <a:prstGeom prst="rect">
            <a:avLst/>
          </a:prstGeom>
          <a:noFill/>
        </p:spPr>
        <p:txBody>
          <a:bodyPr wrap="square" anchor="t" lIns="0" rIns="0" tIns="0" bIns="0">
            <a:spAutoFit/>
          </a:bodyPr>
          <a:lstStyle/>
          <a:p>
            <a:pPr algn="l"/>
            <a:r>
              <a:rPr sz="4000" b="1" i="0">
                <a:solidFill>
                  <a:srgbClr val="028090"/>
                </a:solidFill>
                <a:latin typeface="Cambria"/>
              </a:rPr>
              <a:t>31</a:t>
            </a:r>
          </a:p>
        </p:txBody>
      </p:sp>
      <p:sp>
        <p:nvSpPr>
          <p:cNvPr id="10" name="TextBox 9"/>
          <p:cNvSpPr txBox="1"/>
          <p:nvPr/>
        </p:nvSpPr>
        <p:spPr>
          <a:xfrm>
            <a:off x="3621024" y="2697480"/>
            <a:ext cx="2377440" cy="365760"/>
          </a:xfrm>
          <a:prstGeom prst="rect">
            <a:avLst/>
          </a:prstGeom>
          <a:noFill/>
        </p:spPr>
        <p:txBody>
          <a:bodyPr wrap="square" anchor="t" lIns="0" rIns="0" tIns="0" bIns="0">
            <a:spAutoFit/>
          </a:bodyPr>
          <a:lstStyle/>
          <a:p>
            <a:pPr algn="l"/>
            <a:r>
              <a:rPr sz="1250" b="1" i="0">
                <a:solidFill>
                  <a:srgbClr val="17292D"/>
                </a:solidFill>
                <a:latin typeface="Calibri"/>
              </a:rPr>
              <a:t>file TypeScript sinh ra</a:t>
            </a:r>
          </a:p>
        </p:txBody>
      </p:sp>
      <p:sp>
        <p:nvSpPr>
          <p:cNvPr id="11" name="TextBox 10"/>
          <p:cNvSpPr txBox="1"/>
          <p:nvPr/>
        </p:nvSpPr>
        <p:spPr>
          <a:xfrm>
            <a:off x="3621024" y="3063239"/>
            <a:ext cx="2377440" cy="548640"/>
          </a:xfrm>
          <a:prstGeom prst="rect">
            <a:avLst/>
          </a:prstGeom>
          <a:noFill/>
        </p:spPr>
        <p:txBody>
          <a:bodyPr wrap="square" anchor="t" lIns="0" rIns="0" tIns="0" bIns="0">
            <a:spAutoFit/>
          </a:bodyPr>
          <a:lstStyle/>
          <a:p>
            <a:pPr algn="l">
              <a:lnSpc>
                <a:spcPct val="105000"/>
              </a:lnSpc>
            </a:pPr>
            <a:r>
              <a:rPr sz="1050" b="0" i="0">
                <a:solidFill>
                  <a:srgbClr val="5A7278"/>
                </a:solidFill>
                <a:latin typeface="Calibri"/>
              </a:rPr>
              <a:t>1.432 dòng mã — gấp ≈ 4,3 lần đặc tả</a:t>
            </a:r>
          </a:p>
        </p:txBody>
      </p:sp>
      <p:sp>
        <p:nvSpPr>
          <p:cNvPr id="12" name="Rounded Rectangle 11"/>
          <p:cNvSpPr/>
          <p:nvPr/>
        </p:nvSpPr>
        <p:spPr>
          <a:xfrm>
            <a:off x="6281928" y="1737360"/>
            <a:ext cx="2743200" cy="1920240"/>
          </a:xfrm>
          <a:prstGeom prst="roundRect">
            <a:avLst>
              <a:gd name="adj" fmla="val 5500"/>
            </a:avLst>
          </a:prstGeom>
          <a:solidFill>
            <a:srgbClr val="E9F4F5"/>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8" y="1965960"/>
            <a:ext cx="2377440" cy="685800"/>
          </a:xfrm>
          <a:prstGeom prst="rect">
            <a:avLst/>
          </a:prstGeom>
          <a:noFill/>
        </p:spPr>
        <p:txBody>
          <a:bodyPr wrap="square" anchor="t" lIns="0" rIns="0" tIns="0" bIns="0">
            <a:spAutoFit/>
          </a:bodyPr>
          <a:lstStyle/>
          <a:p>
            <a:pPr algn="l"/>
            <a:r>
              <a:rPr sz="4000" b="1" i="0">
                <a:solidFill>
                  <a:srgbClr val="028090"/>
                </a:solidFill>
                <a:latin typeface="Cambria"/>
              </a:rPr>
              <a:t>16</a:t>
            </a:r>
          </a:p>
        </p:txBody>
      </p:sp>
      <p:sp>
        <p:nvSpPr>
          <p:cNvPr id="14" name="TextBox 13"/>
          <p:cNvSpPr txBox="1"/>
          <p:nvPr/>
        </p:nvSpPr>
        <p:spPr>
          <a:xfrm>
            <a:off x="6464808" y="2697480"/>
            <a:ext cx="2377440" cy="365760"/>
          </a:xfrm>
          <a:prstGeom prst="rect">
            <a:avLst/>
          </a:prstGeom>
          <a:noFill/>
        </p:spPr>
        <p:txBody>
          <a:bodyPr wrap="square" anchor="t" lIns="0" rIns="0" tIns="0" bIns="0">
            <a:spAutoFit/>
          </a:bodyPr>
          <a:lstStyle/>
          <a:p>
            <a:pPr algn="l"/>
            <a:r>
              <a:rPr sz="1250" b="1" i="0">
                <a:solidFill>
                  <a:srgbClr val="17292D"/>
                </a:solidFill>
                <a:latin typeface="Calibri"/>
              </a:rPr>
              <a:t>lớp miền được làm giàu</a:t>
            </a:r>
          </a:p>
        </p:txBody>
      </p:sp>
      <p:sp>
        <p:nvSpPr>
          <p:cNvPr id="15" name="TextBox 14"/>
          <p:cNvSpPr txBox="1"/>
          <p:nvPr/>
        </p:nvSpPr>
        <p:spPr>
          <a:xfrm>
            <a:off x="6464808" y="3063239"/>
            <a:ext cx="2377440" cy="548640"/>
          </a:xfrm>
          <a:prstGeom prst="rect">
            <a:avLst/>
          </a:prstGeom>
          <a:noFill/>
        </p:spPr>
        <p:txBody>
          <a:bodyPr wrap="square" anchor="t" lIns="0" rIns="0" tIns="0" bIns="0">
            <a:spAutoFit/>
          </a:bodyPr>
          <a:lstStyle/>
          <a:p>
            <a:pPr algn="l">
              <a:lnSpc>
                <a:spcPct val="105000"/>
              </a:lnSpc>
            </a:pPr>
            <a:r>
              <a:rPr sz="1050" b="0" i="0">
                <a:solidFill>
                  <a:srgbClr val="5A7278"/>
                </a:solidFill>
                <a:latin typeface="Calibri"/>
              </a:rPr>
              <a:t>2 bounded context · 4 AGL activity node</a:t>
            </a:r>
          </a:p>
        </p:txBody>
      </p:sp>
      <p:sp>
        <p:nvSpPr>
          <p:cNvPr id="16" name="Rounded Rectangle 15"/>
          <p:cNvSpPr/>
          <p:nvPr/>
        </p:nvSpPr>
        <p:spPr>
          <a:xfrm>
            <a:off x="9125712" y="1737360"/>
            <a:ext cx="2743200" cy="192024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8592" y="1965960"/>
            <a:ext cx="2377440" cy="685800"/>
          </a:xfrm>
          <a:prstGeom prst="rect">
            <a:avLst/>
          </a:prstGeom>
          <a:noFill/>
        </p:spPr>
        <p:txBody>
          <a:bodyPr wrap="square" anchor="t" lIns="0" rIns="0" tIns="0" bIns="0">
            <a:spAutoFit/>
          </a:bodyPr>
          <a:lstStyle/>
          <a:p>
            <a:pPr algn="l"/>
            <a:r>
              <a:rPr sz="4000" b="1" i="0">
                <a:solidFill>
                  <a:srgbClr val="028090"/>
                </a:solidFill>
                <a:latin typeface="Cambria"/>
              </a:rPr>
              <a:t>3 / 15</a:t>
            </a:r>
          </a:p>
        </p:txBody>
      </p:sp>
      <p:sp>
        <p:nvSpPr>
          <p:cNvPr id="18" name="TextBox 17"/>
          <p:cNvSpPr txBox="1"/>
          <p:nvPr/>
        </p:nvSpPr>
        <p:spPr>
          <a:xfrm>
            <a:off x="9308592" y="2697480"/>
            <a:ext cx="2377440" cy="365760"/>
          </a:xfrm>
          <a:prstGeom prst="rect">
            <a:avLst/>
          </a:prstGeom>
          <a:noFill/>
        </p:spPr>
        <p:txBody>
          <a:bodyPr wrap="square" anchor="t" lIns="0" rIns="0" tIns="0" bIns="0">
            <a:spAutoFit/>
          </a:bodyPr>
          <a:lstStyle/>
          <a:p>
            <a:pPr algn="l"/>
            <a:r>
              <a:rPr sz="1250" b="1" i="0">
                <a:solidFill>
                  <a:srgbClr val="17292D"/>
                </a:solidFill>
                <a:latin typeface="Calibri"/>
              </a:rPr>
              <a:t>role / permission</a:t>
            </a:r>
          </a:p>
        </p:txBody>
      </p:sp>
      <p:sp>
        <p:nvSpPr>
          <p:cNvPr id="19" name="TextBox 18"/>
          <p:cNvSpPr txBox="1"/>
          <p:nvPr/>
        </p:nvSpPr>
        <p:spPr>
          <a:xfrm>
            <a:off x="9308592" y="3063239"/>
            <a:ext cx="2377440" cy="548640"/>
          </a:xfrm>
          <a:prstGeom prst="rect">
            <a:avLst/>
          </a:prstGeom>
          <a:noFill/>
        </p:spPr>
        <p:txBody>
          <a:bodyPr wrap="square" anchor="t" lIns="0" rIns="0" tIns="0" bIns="0">
            <a:spAutoFit/>
          </a:bodyPr>
          <a:lstStyle/>
          <a:p>
            <a:pPr algn="l">
              <a:lnSpc>
                <a:spcPct val="105000"/>
              </a:lnSpc>
            </a:pPr>
            <a:r>
              <a:rPr sz="1050" b="0" i="0">
                <a:solidFill>
                  <a:srgbClr val="5A7278"/>
                </a:solidFill>
                <a:latin typeface="Calibri"/>
              </a:rPr>
              <a:t>sinh đủ enum, PA map, guard, decorator</a:t>
            </a:r>
          </a:p>
        </p:txBody>
      </p:sp>
      <p:sp>
        <p:nvSpPr>
          <p:cNvPr id="20" name="Rounded Rectangle 19"/>
          <p:cNvSpPr/>
          <p:nvPr/>
        </p:nvSpPr>
        <p:spPr>
          <a:xfrm>
            <a:off x="594360" y="3977639"/>
            <a:ext cx="11018520" cy="65836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977639"/>
            <a:ext cx="2651760" cy="658368"/>
          </a:xfrm>
          <a:prstGeom prst="rect">
            <a:avLst/>
          </a:prstGeom>
          <a:noFill/>
        </p:spPr>
        <p:txBody>
          <a:bodyPr wrap="square" anchor="ctr" lIns="0" rIns="0" tIns="0" bIns="0">
            <a:spAutoFit/>
          </a:bodyPr>
          <a:lstStyle/>
          <a:p>
            <a:pPr algn="l"/>
            <a:r>
              <a:rPr sz="1200" b="1" i="0">
                <a:solidFill>
                  <a:srgbClr val="028090"/>
                </a:solidFill>
                <a:latin typeface="Courier New"/>
              </a:rPr>
              <a:t>EnrollmentContext</a:t>
            </a:r>
          </a:p>
        </p:txBody>
      </p:sp>
      <p:sp>
        <p:nvSpPr>
          <p:cNvPr id="22" name="TextBox 21"/>
          <p:cNvSpPr txBox="1"/>
          <p:nvPr/>
        </p:nvSpPr>
        <p:spPr>
          <a:xfrm>
            <a:off x="3657600" y="3977639"/>
            <a:ext cx="7680960" cy="658368"/>
          </a:xfrm>
          <a:prstGeom prst="rect">
            <a:avLst/>
          </a:prstGeom>
          <a:noFill/>
        </p:spPr>
        <p:txBody>
          <a:bodyPr wrap="square" anchor="ctr" lIns="0" rIns="0" tIns="0" bIns="0">
            <a:spAutoFit/>
          </a:bodyPr>
          <a:lstStyle/>
          <a:p>
            <a:pPr algn="l">
              <a:lnSpc>
                <a:spcPct val="105000"/>
              </a:lnSpc>
            </a:pPr>
            <a:r>
              <a:rPr sz="1100" b="0" i="0">
                <a:solidFill>
                  <a:srgbClr val="17292D"/>
                </a:solidFill>
                <a:latin typeface="Calibri"/>
              </a:rPr>
              <a:t>Student (AggregateRoot) · CourseModule · Enrolment · StudentName, Grade (VO) · 2 DomainEvent · EnrollmentService · 3 UseCase · 2 Repository</a:t>
            </a:r>
          </a:p>
        </p:txBody>
      </p:sp>
      <p:sp>
        <p:nvSpPr>
          <p:cNvPr id="23" name="Rounded Rectangle 22"/>
          <p:cNvSpPr/>
          <p:nvPr/>
        </p:nvSpPr>
        <p:spPr>
          <a:xfrm>
            <a:off x="594360" y="4764024"/>
            <a:ext cx="11018520" cy="65836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764024"/>
            <a:ext cx="2651760" cy="658368"/>
          </a:xfrm>
          <a:prstGeom prst="rect">
            <a:avLst/>
          </a:prstGeom>
          <a:noFill/>
        </p:spPr>
        <p:txBody>
          <a:bodyPr wrap="square" anchor="ctr" lIns="0" rIns="0" tIns="0" bIns="0">
            <a:spAutoFit/>
          </a:bodyPr>
          <a:lstStyle/>
          <a:p>
            <a:pPr algn="l"/>
            <a:r>
              <a:rPr sz="1200" b="1" i="0">
                <a:solidFill>
                  <a:srgbClr val="028090"/>
                </a:solidFill>
                <a:latin typeface="Courier New"/>
              </a:rPr>
              <a:t>SClassContext</a:t>
            </a:r>
          </a:p>
        </p:txBody>
      </p:sp>
      <p:sp>
        <p:nvSpPr>
          <p:cNvPr id="25" name="TextBox 24"/>
          <p:cNvSpPr txBox="1"/>
          <p:nvPr/>
        </p:nvSpPr>
        <p:spPr>
          <a:xfrm>
            <a:off x="3657600" y="4764024"/>
            <a:ext cx="7680960" cy="658368"/>
          </a:xfrm>
          <a:prstGeom prst="rect">
            <a:avLst/>
          </a:prstGeom>
          <a:noFill/>
        </p:spPr>
        <p:txBody>
          <a:bodyPr wrap="square" anchor="ctr" lIns="0" rIns="0" tIns="0" bIns="0">
            <a:spAutoFit/>
          </a:bodyPr>
          <a:lstStyle/>
          <a:p>
            <a:pPr algn="l">
              <a:lnSpc>
                <a:spcPct val="105000"/>
              </a:lnSpc>
            </a:pPr>
            <a:r>
              <a:rPr sz="1100" b="0" i="0">
                <a:solidFill>
                  <a:srgbClr val="17292D"/>
                </a:solidFill>
                <a:latin typeface="Calibri"/>
              </a:rPr>
              <a:t>SClass (AggregateRoot) · SClassRegistration · RegisterIntoClassEvent · ISClassRepository · CRUD tự sinh</a:t>
            </a:r>
          </a:p>
        </p:txBody>
      </p:sp>
      <p:sp>
        <p:nvSpPr>
          <p:cNvPr id="26" name="Rounded Rectangle 25"/>
          <p:cNvSpPr/>
          <p:nvPr/>
        </p:nvSpPr>
        <p:spPr>
          <a:xfrm>
            <a:off x="594360" y="5550408"/>
            <a:ext cx="11018520" cy="65836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550408"/>
            <a:ext cx="2651760" cy="658368"/>
          </a:xfrm>
          <a:prstGeom prst="rect">
            <a:avLst/>
          </a:prstGeom>
          <a:noFill/>
        </p:spPr>
        <p:txBody>
          <a:bodyPr wrap="square" anchor="ctr" lIns="0" rIns="0" tIns="0" bIns="0">
            <a:spAutoFit/>
          </a:bodyPr>
          <a:lstStyle/>
          <a:p>
            <a:pPr algn="l"/>
            <a:r>
              <a:rPr sz="1200" b="1" i="0">
                <a:solidFill>
                  <a:srgbClr val="028090"/>
                </a:solidFill>
                <a:latin typeface="Courier New"/>
              </a:rPr>
              <a:t>RBAC (AccessControl)</a:t>
            </a:r>
          </a:p>
        </p:txBody>
      </p:sp>
      <p:sp>
        <p:nvSpPr>
          <p:cNvPr id="28" name="TextBox 27"/>
          <p:cNvSpPr txBox="1"/>
          <p:nvPr/>
        </p:nvSpPr>
        <p:spPr>
          <a:xfrm>
            <a:off x="3657600" y="5550408"/>
            <a:ext cx="7680960" cy="658368"/>
          </a:xfrm>
          <a:prstGeom prst="rect">
            <a:avLst/>
          </a:prstGeom>
          <a:noFill/>
        </p:spPr>
        <p:txBody>
          <a:bodyPr wrap="square" anchor="ctr" lIns="0" rIns="0" tIns="0" bIns="0">
            <a:spAutoFit/>
          </a:bodyPr>
          <a:lstStyle/>
          <a:p>
            <a:pPr algn="l">
              <a:lnSpc>
                <a:spcPct val="105000"/>
              </a:lnSpc>
            </a:pPr>
            <a:r>
              <a:rPr sz="1100" b="0" i="0">
                <a:solidFill>
                  <a:srgbClr val="17292D"/>
                </a:solidFill>
                <a:latin typeface="Calibri"/>
              </a:rPr>
              <a:t>Admin · EnrollmentOfficer · StudentRole — hierarchy, SSD/DSD, cardinality; 15 permission có target.action</a:t>
            </a:r>
          </a:p>
        </p:txBody>
      </p:sp>
      <p:sp>
        <p:nvSpPr>
          <p:cNvPr id="29" name="TextBox 28"/>
          <p:cNvSpPr txBox="1"/>
          <p:nvPr/>
        </p:nvSpPr>
        <p:spPr>
          <a:xfrm>
            <a:off x="594360" y="6382512"/>
            <a:ext cx="11018520" cy="457200"/>
          </a:xfrm>
          <a:prstGeom prst="rect">
            <a:avLst/>
          </a:prstGeom>
          <a:noFill/>
        </p:spPr>
        <p:txBody>
          <a:bodyPr wrap="square" anchor="t" lIns="0" rIns="0" tIns="0" bIns="0">
            <a:spAutoFit/>
          </a:bodyPr>
          <a:lstStyle/>
          <a:p>
            <a:pPr algn="ctr"/>
            <a:r>
              <a:rPr sz="1200" b="0" i="1">
                <a:solidFill>
                  <a:srgbClr val="5A7278"/>
                </a:solidFill>
                <a:latin typeface="Calibri"/>
              </a:rPr>
              <a:t>Trả lời sơ bộ RQ1 (pipeline end-to-end, mã biên dịch được) và RQ2 (đặc tả : mã sinh ≈ 1 : 4,3). RQ3–RQ4: mở rộng cùng bước kiểm chứng OCL.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4 · Đánh giá thực nghiệm</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Threats to validity — khái niệm</a:t>
            </a:r>
          </a:p>
        </p:txBody>
      </p:sp>
      <p:sp>
        <p:nvSpPr>
          <p:cNvPr id="4" name="Rounded Rectangle 3"/>
          <p:cNvSpPr/>
          <p:nvPr/>
        </p:nvSpPr>
        <p:spPr>
          <a:xfrm>
            <a:off x="594360" y="1645920"/>
            <a:ext cx="11018520" cy="1005840"/>
          </a:xfrm>
          <a:prstGeom prst="roundRect">
            <a:avLst>
              <a:gd name="adj" fmla="val 5500"/>
            </a:avLst>
          </a:prstGeom>
          <a:solidFill>
            <a:srgbClr val="E9F4F5"/>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10469880" cy="1005840"/>
          </a:xfrm>
          <a:prstGeom prst="rect">
            <a:avLst/>
          </a:prstGeom>
          <a:noFill/>
        </p:spPr>
        <p:txBody>
          <a:bodyPr wrap="square" anchor="ctr" lIns="0" rIns="0" tIns="0" bIns="0">
            <a:spAutoFit/>
          </a:bodyPr>
          <a:lstStyle/>
          <a:p>
            <a:pPr algn="l">
              <a:lnSpc>
                <a:spcPct val="115000"/>
              </a:lnSpc>
            </a:pPr>
            <a:r>
              <a:rPr sz="1350" b="0" i="0">
                <a:solidFill>
                  <a:srgbClr val="17292D"/>
                </a:solidFill>
                <a:latin typeface="Calibri"/>
              </a:rPr>
              <a:t>Là các nguy cơ khiến kết luận của đánh giá thực nghiệm có thể sai lệch hoặc không khái quát được — cần nhận diện và trình bày minh bạch (khung Wohlin et al.; Runeson &amp; Höst cho case study).</a:t>
            </a:r>
          </a:p>
        </p:txBody>
      </p:sp>
      <p:sp>
        <p:nvSpPr>
          <p:cNvPr id="6" name="Rounded Rectangle 5"/>
          <p:cNvSpPr/>
          <p:nvPr/>
        </p:nvSpPr>
        <p:spPr>
          <a:xfrm>
            <a:off x="594360" y="2880360"/>
            <a:ext cx="5440680" cy="137160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3081528"/>
            <a:ext cx="347472" cy="347472"/>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1</a:t>
            </a:r>
          </a:p>
        </p:txBody>
      </p:sp>
      <p:sp>
        <p:nvSpPr>
          <p:cNvPr id="8" name="TextBox 7"/>
          <p:cNvSpPr txBox="1"/>
          <p:nvPr/>
        </p:nvSpPr>
        <p:spPr>
          <a:xfrm>
            <a:off x="1307592" y="3044952"/>
            <a:ext cx="4480560" cy="365760"/>
          </a:xfrm>
          <a:prstGeom prst="rect">
            <a:avLst/>
          </a:prstGeom>
          <a:noFill/>
        </p:spPr>
        <p:txBody>
          <a:bodyPr wrap="square" anchor="t" lIns="0" rIns="0" tIns="0" bIns="0">
            <a:spAutoFit/>
          </a:bodyPr>
          <a:lstStyle/>
          <a:p>
            <a:pPr algn="l"/>
            <a:r>
              <a:rPr sz="1350" b="1" i="0">
                <a:solidFill>
                  <a:srgbClr val="028090"/>
                </a:solidFill>
                <a:latin typeface="Calibri"/>
              </a:rPr>
              <a:t>Internal validity</a:t>
            </a:r>
          </a:p>
        </p:txBody>
      </p:sp>
      <p:sp>
        <p:nvSpPr>
          <p:cNvPr id="9" name="TextBox 8"/>
          <p:cNvSpPr txBox="1"/>
          <p:nvPr/>
        </p:nvSpPr>
        <p:spPr>
          <a:xfrm>
            <a:off x="1307592" y="3429000"/>
            <a:ext cx="4480560" cy="731520"/>
          </a:xfrm>
          <a:prstGeom prst="rect">
            <a:avLst/>
          </a:prstGeom>
          <a:noFill/>
        </p:spPr>
        <p:txBody>
          <a:bodyPr wrap="square" anchor="t" lIns="0" rIns="0" tIns="0" bIns="0">
            <a:spAutoFit/>
          </a:bodyPr>
          <a:lstStyle/>
          <a:p>
            <a:pPr algn="l">
              <a:lnSpc>
                <a:spcPct val="110000"/>
              </a:lnSpc>
            </a:pPr>
            <a:r>
              <a:rPr sz="1050" b="0" i="0">
                <a:solidFill>
                  <a:srgbClr val="17292D"/>
                </a:solidFill>
                <a:latin typeface="Calibri"/>
              </a:rPr>
              <a:t>Kết quả có thật sự do phương pháp tạo ra, hay do yếu tố gây nhiễu (cách chọn kịch bản, người thực hiện)?</a:t>
            </a:r>
          </a:p>
        </p:txBody>
      </p:sp>
      <p:sp>
        <p:nvSpPr>
          <p:cNvPr id="10" name="Rounded Rectangle 9"/>
          <p:cNvSpPr/>
          <p:nvPr/>
        </p:nvSpPr>
        <p:spPr>
          <a:xfrm>
            <a:off x="6199632" y="2880360"/>
            <a:ext cx="5440680" cy="137160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28232" y="3081528"/>
            <a:ext cx="347472" cy="347472"/>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2</a:t>
            </a:r>
          </a:p>
        </p:txBody>
      </p:sp>
      <p:sp>
        <p:nvSpPr>
          <p:cNvPr id="12" name="TextBox 11"/>
          <p:cNvSpPr txBox="1"/>
          <p:nvPr/>
        </p:nvSpPr>
        <p:spPr>
          <a:xfrm>
            <a:off x="6912864" y="3044952"/>
            <a:ext cx="4480560" cy="365760"/>
          </a:xfrm>
          <a:prstGeom prst="rect">
            <a:avLst/>
          </a:prstGeom>
          <a:noFill/>
        </p:spPr>
        <p:txBody>
          <a:bodyPr wrap="square" anchor="t" lIns="0" rIns="0" tIns="0" bIns="0">
            <a:spAutoFit/>
          </a:bodyPr>
          <a:lstStyle/>
          <a:p>
            <a:pPr algn="l"/>
            <a:r>
              <a:rPr sz="1350" b="1" i="0">
                <a:solidFill>
                  <a:srgbClr val="028090"/>
                </a:solidFill>
                <a:latin typeface="Calibri"/>
              </a:rPr>
              <a:t>External validity</a:t>
            </a:r>
          </a:p>
        </p:txBody>
      </p:sp>
      <p:sp>
        <p:nvSpPr>
          <p:cNvPr id="13" name="TextBox 12"/>
          <p:cNvSpPr txBox="1"/>
          <p:nvPr/>
        </p:nvSpPr>
        <p:spPr>
          <a:xfrm>
            <a:off x="6912864" y="3429000"/>
            <a:ext cx="4480560" cy="731520"/>
          </a:xfrm>
          <a:prstGeom prst="rect">
            <a:avLst/>
          </a:prstGeom>
          <a:noFill/>
        </p:spPr>
        <p:txBody>
          <a:bodyPr wrap="square" anchor="t" lIns="0" rIns="0" tIns="0" bIns="0">
            <a:spAutoFit/>
          </a:bodyPr>
          <a:lstStyle/>
          <a:p>
            <a:pPr algn="l">
              <a:lnSpc>
                <a:spcPct val="110000"/>
              </a:lnSpc>
            </a:pPr>
            <a:r>
              <a:rPr sz="1050" b="0" i="0">
                <a:solidFill>
                  <a:srgbClr val="17292D"/>
                </a:solidFill>
                <a:latin typeface="Calibri"/>
              </a:rPr>
              <a:t>Kết quả có khái quát được ra ngoài case study — hệ thống khác, miền khác, nền tảng khác?</a:t>
            </a:r>
          </a:p>
        </p:txBody>
      </p:sp>
      <p:sp>
        <p:nvSpPr>
          <p:cNvPr id="14" name="Rounded Rectangle 13"/>
          <p:cNvSpPr/>
          <p:nvPr/>
        </p:nvSpPr>
        <p:spPr>
          <a:xfrm>
            <a:off x="594360" y="4416552"/>
            <a:ext cx="5440680" cy="137160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2960" y="4617720"/>
            <a:ext cx="347472" cy="347472"/>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3</a:t>
            </a:r>
          </a:p>
        </p:txBody>
      </p:sp>
      <p:sp>
        <p:nvSpPr>
          <p:cNvPr id="16" name="TextBox 15"/>
          <p:cNvSpPr txBox="1"/>
          <p:nvPr/>
        </p:nvSpPr>
        <p:spPr>
          <a:xfrm>
            <a:off x="1307592" y="4581144"/>
            <a:ext cx="4480560" cy="365760"/>
          </a:xfrm>
          <a:prstGeom prst="rect">
            <a:avLst/>
          </a:prstGeom>
          <a:noFill/>
        </p:spPr>
        <p:txBody>
          <a:bodyPr wrap="square" anchor="t" lIns="0" rIns="0" tIns="0" bIns="0">
            <a:spAutoFit/>
          </a:bodyPr>
          <a:lstStyle/>
          <a:p>
            <a:pPr algn="l"/>
            <a:r>
              <a:rPr sz="1350" b="1" i="0">
                <a:solidFill>
                  <a:srgbClr val="028090"/>
                </a:solidFill>
                <a:latin typeface="Calibri"/>
              </a:rPr>
              <a:t>Construct validity</a:t>
            </a:r>
          </a:p>
        </p:txBody>
      </p:sp>
      <p:sp>
        <p:nvSpPr>
          <p:cNvPr id="17" name="TextBox 16"/>
          <p:cNvSpPr txBox="1"/>
          <p:nvPr/>
        </p:nvSpPr>
        <p:spPr>
          <a:xfrm>
            <a:off x="1307592" y="4965192"/>
            <a:ext cx="4480560" cy="731520"/>
          </a:xfrm>
          <a:prstGeom prst="rect">
            <a:avLst/>
          </a:prstGeom>
          <a:noFill/>
        </p:spPr>
        <p:txBody>
          <a:bodyPr wrap="square" anchor="t" lIns="0" rIns="0" tIns="0" bIns="0">
            <a:spAutoFit/>
          </a:bodyPr>
          <a:lstStyle/>
          <a:p>
            <a:pPr algn="l">
              <a:lnSpc>
                <a:spcPct val="110000"/>
              </a:lnSpc>
            </a:pPr>
            <a:r>
              <a:rPr sz="1050" b="0" i="0">
                <a:solidFill>
                  <a:srgbClr val="17292D"/>
                </a:solidFill>
                <a:latin typeface="Calibri"/>
              </a:rPr>
              <a:t>Thước đo (LoC, thời gian, khảo sát) có đo đúng khái niệm muốn đo (năng suất, dễ hiểu)?</a:t>
            </a:r>
          </a:p>
        </p:txBody>
      </p:sp>
      <p:sp>
        <p:nvSpPr>
          <p:cNvPr id="18" name="Rounded Rectangle 17"/>
          <p:cNvSpPr/>
          <p:nvPr/>
        </p:nvSpPr>
        <p:spPr>
          <a:xfrm>
            <a:off x="6199632" y="4416552"/>
            <a:ext cx="5440680" cy="137160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28232" y="4617720"/>
            <a:ext cx="347472" cy="347472"/>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4</a:t>
            </a:r>
          </a:p>
        </p:txBody>
      </p:sp>
      <p:sp>
        <p:nvSpPr>
          <p:cNvPr id="20" name="TextBox 19"/>
          <p:cNvSpPr txBox="1"/>
          <p:nvPr/>
        </p:nvSpPr>
        <p:spPr>
          <a:xfrm>
            <a:off x="6912864" y="4581144"/>
            <a:ext cx="4480560" cy="365760"/>
          </a:xfrm>
          <a:prstGeom prst="rect">
            <a:avLst/>
          </a:prstGeom>
          <a:noFill/>
        </p:spPr>
        <p:txBody>
          <a:bodyPr wrap="square" anchor="t" lIns="0" rIns="0" tIns="0" bIns="0">
            <a:spAutoFit/>
          </a:bodyPr>
          <a:lstStyle/>
          <a:p>
            <a:pPr algn="l"/>
            <a:r>
              <a:rPr sz="1350" b="1" i="0">
                <a:solidFill>
                  <a:srgbClr val="028090"/>
                </a:solidFill>
                <a:latin typeface="Calibri"/>
              </a:rPr>
              <a:t>Conclusion validity</a:t>
            </a:r>
          </a:p>
        </p:txBody>
      </p:sp>
      <p:sp>
        <p:nvSpPr>
          <p:cNvPr id="21" name="TextBox 20"/>
          <p:cNvSpPr txBox="1"/>
          <p:nvPr/>
        </p:nvSpPr>
        <p:spPr>
          <a:xfrm>
            <a:off x="6912864" y="4965192"/>
            <a:ext cx="4480560" cy="731520"/>
          </a:xfrm>
          <a:prstGeom prst="rect">
            <a:avLst/>
          </a:prstGeom>
          <a:noFill/>
        </p:spPr>
        <p:txBody>
          <a:bodyPr wrap="square" anchor="t" lIns="0" rIns="0" tIns="0" bIns="0">
            <a:spAutoFit/>
          </a:bodyPr>
          <a:lstStyle/>
          <a:p>
            <a:pPr algn="l">
              <a:lnSpc>
                <a:spcPct val="110000"/>
              </a:lnSpc>
            </a:pPr>
            <a:r>
              <a:rPr sz="1050" b="0" i="0">
                <a:solidFill>
                  <a:srgbClr val="17292D"/>
                </a:solidFill>
                <a:latin typeface="Calibri"/>
              </a:rPr>
              <a:t>Suy luận rút ra từ dữ liệu có đủ vững — cỡ mẫu, độ lặp lại, kiểm định?</a:t>
            </a:r>
          </a:p>
        </p:txBody>
      </p:sp>
      <p:sp>
        <p:nvSpPr>
          <p:cNvPr id="22" name="TextBox 21"/>
          <p:cNvSpPr txBox="1"/>
          <p:nvPr/>
        </p:nvSpPr>
        <p:spPr>
          <a:xfrm>
            <a:off x="594360" y="5989320"/>
            <a:ext cx="11018520" cy="502920"/>
          </a:xfrm>
          <a:prstGeom prst="rect">
            <a:avLst/>
          </a:prstGeom>
          <a:noFill/>
        </p:spPr>
        <p:txBody>
          <a:bodyPr wrap="square" anchor="t" lIns="0" rIns="0" tIns="0" bIns="0">
            <a:spAutoFit/>
          </a:bodyPr>
          <a:lstStyle/>
          <a:p>
            <a:pPr algn="ctr">
              <a:lnSpc>
                <a:spcPct val="110000"/>
              </a:lnSpc>
            </a:pPr>
            <a:r>
              <a:rPr sz="1200" b="0" i="1">
                <a:solidFill>
                  <a:srgbClr val="5A7278"/>
                </a:solidFill>
                <a:latin typeface="Calibri"/>
              </a:rPr>
              <a:t>Trình bày threats to validity là chuẩn mực của nghiên cứu thực nghiệm trong SE — thể hiện tính nghiêm cẩn và trung thực về giới hạn của luận văn.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4 · Đánh giá thực nghiệm</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Threats to validity — nguy cơ &amp; biện pháp giảm thiểu</a:t>
            </a:r>
          </a:p>
        </p:txBody>
      </p:sp>
      <p:sp>
        <p:nvSpPr>
          <p:cNvPr id="4" name="Rounded Rectangle 3"/>
          <p:cNvSpPr/>
          <p:nvPr/>
        </p:nvSpPr>
        <p:spPr>
          <a:xfrm>
            <a:off x="594360" y="1691640"/>
            <a:ext cx="5440680" cy="205740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856232"/>
            <a:ext cx="4928616" cy="365760"/>
          </a:xfrm>
          <a:prstGeom prst="rect">
            <a:avLst/>
          </a:prstGeom>
          <a:noFill/>
        </p:spPr>
        <p:txBody>
          <a:bodyPr wrap="square" anchor="t" lIns="0" rIns="0" tIns="0" bIns="0">
            <a:spAutoFit/>
          </a:bodyPr>
          <a:lstStyle/>
          <a:p>
            <a:pPr algn="l"/>
            <a:r>
              <a:rPr sz="1400" b="1" i="0">
                <a:solidFill>
                  <a:srgbClr val="028090"/>
                </a:solidFill>
                <a:latin typeface="Calibri"/>
              </a:rPr>
              <a:t>Internal validity</a:t>
            </a:r>
          </a:p>
        </p:txBody>
      </p:sp>
      <p:sp>
        <p:nvSpPr>
          <p:cNvPr id="6" name="TextBox 5"/>
          <p:cNvSpPr txBox="1"/>
          <p:nvPr/>
        </p:nvSpPr>
        <p:spPr>
          <a:xfrm>
            <a:off x="850392" y="2240280"/>
            <a:ext cx="4928616" cy="685800"/>
          </a:xfrm>
          <a:prstGeom prst="rect">
            <a:avLst/>
          </a:prstGeom>
          <a:noFill/>
        </p:spPr>
        <p:txBody>
          <a:bodyPr wrap="square" anchor="t" lIns="0" rIns="0" tIns="0" bIns="0">
            <a:spAutoFit/>
          </a:bodyPr>
          <a:lstStyle/>
          <a:p>
            <a:pPr algn="l">
              <a:lnSpc>
                <a:spcPct val="110000"/>
              </a:lnSpc>
            </a:pPr>
            <a:r>
              <a:rPr sz="1150" b="0" i="0">
                <a:solidFill>
                  <a:srgbClr val="17292D"/>
                </a:solidFill>
                <a:latin typeface="Calibri"/>
              </a:rPr>
              <a:t>Case study do chính tác giả xây dựng → nguy cơ thiên lệch khi chọn kịch bản.</a:t>
            </a:r>
          </a:p>
        </p:txBody>
      </p:sp>
      <p:sp>
        <p:nvSpPr>
          <p:cNvPr id="7" name="TextBox 6"/>
          <p:cNvSpPr txBox="1"/>
          <p:nvPr/>
        </p:nvSpPr>
        <p:spPr>
          <a:xfrm>
            <a:off x="850392" y="2990088"/>
            <a:ext cx="4928616" cy="685800"/>
          </a:xfrm>
          <a:prstGeom prst="rect">
            <a:avLst/>
          </a:prstGeom>
          <a:noFill/>
        </p:spPr>
        <p:txBody>
          <a:bodyPr wrap="square" anchor="t" lIns="0" rIns="0" tIns="0" bIns="0">
            <a:spAutoFit/>
          </a:bodyPr>
          <a:lstStyle/>
          <a:p>
            <a:pPr algn="l">
              <a:lnSpc>
                <a:spcPct val="108000"/>
              </a:lnSpc>
            </a:pPr>
            <a:r>
              <a:rPr sz="1050" b="1" i="0">
                <a:solidFill>
                  <a:srgbClr val="1B7A5E"/>
                </a:solidFill>
                <a:latin typeface="Calibri"/>
              </a:rPr>
              <a:t>Giảm thiểu:  </a:t>
            </a:r>
            <a:r>
              <a:rPr sz="1050" b="0" i="0">
                <a:solidFill>
                  <a:srgbClr val="5A7278"/>
                </a:solidFill>
                <a:latin typeface="Calibri"/>
              </a:rPr>
              <a:t>Kịch bản cấm/cho phép định nghĩa trước từ đặc tả; mutation test sinh máy móc, không chọn tay.</a:t>
            </a:r>
          </a:p>
        </p:txBody>
      </p:sp>
      <p:sp>
        <p:nvSpPr>
          <p:cNvPr id="8" name="Rounded Rectangle 7"/>
          <p:cNvSpPr/>
          <p:nvPr/>
        </p:nvSpPr>
        <p:spPr>
          <a:xfrm>
            <a:off x="6199632" y="1691640"/>
            <a:ext cx="5440680" cy="205740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55664" y="1856232"/>
            <a:ext cx="4928616" cy="365760"/>
          </a:xfrm>
          <a:prstGeom prst="rect">
            <a:avLst/>
          </a:prstGeom>
          <a:noFill/>
        </p:spPr>
        <p:txBody>
          <a:bodyPr wrap="square" anchor="t" lIns="0" rIns="0" tIns="0" bIns="0">
            <a:spAutoFit/>
          </a:bodyPr>
          <a:lstStyle/>
          <a:p>
            <a:pPr algn="l"/>
            <a:r>
              <a:rPr sz="1400" b="1" i="0">
                <a:solidFill>
                  <a:srgbClr val="028090"/>
                </a:solidFill>
                <a:latin typeface="Calibri"/>
              </a:rPr>
              <a:t>External validity</a:t>
            </a:r>
          </a:p>
        </p:txBody>
      </p:sp>
      <p:sp>
        <p:nvSpPr>
          <p:cNvPr id="10" name="TextBox 9"/>
          <p:cNvSpPr txBox="1"/>
          <p:nvPr/>
        </p:nvSpPr>
        <p:spPr>
          <a:xfrm>
            <a:off x="6455664" y="2240280"/>
            <a:ext cx="4928616" cy="685800"/>
          </a:xfrm>
          <a:prstGeom prst="rect">
            <a:avLst/>
          </a:prstGeom>
          <a:noFill/>
        </p:spPr>
        <p:txBody>
          <a:bodyPr wrap="square" anchor="t" lIns="0" rIns="0" tIns="0" bIns="0">
            <a:spAutoFit/>
          </a:bodyPr>
          <a:lstStyle/>
          <a:p>
            <a:pPr algn="l">
              <a:lnSpc>
                <a:spcPct val="110000"/>
              </a:lnSpc>
            </a:pPr>
            <a:r>
              <a:rPr sz="1150" b="0" i="0">
                <a:solidFill>
                  <a:srgbClr val="17292D"/>
                </a:solidFill>
                <a:latin typeface="Calibri"/>
              </a:rPr>
              <a:t>Một case study, một nền tảng đích → khả năng khái quát hạn chế.</a:t>
            </a:r>
          </a:p>
        </p:txBody>
      </p:sp>
      <p:sp>
        <p:nvSpPr>
          <p:cNvPr id="11" name="TextBox 10"/>
          <p:cNvSpPr txBox="1"/>
          <p:nvPr/>
        </p:nvSpPr>
        <p:spPr>
          <a:xfrm>
            <a:off x="6455664" y="2990088"/>
            <a:ext cx="4928616" cy="685800"/>
          </a:xfrm>
          <a:prstGeom prst="rect">
            <a:avLst/>
          </a:prstGeom>
          <a:noFill/>
        </p:spPr>
        <p:txBody>
          <a:bodyPr wrap="square" anchor="t" lIns="0" rIns="0" tIns="0" bIns="0">
            <a:spAutoFit/>
          </a:bodyPr>
          <a:lstStyle/>
          <a:p>
            <a:pPr algn="l">
              <a:lnSpc>
                <a:spcPct val="108000"/>
              </a:lnSpc>
            </a:pPr>
            <a:r>
              <a:rPr sz="1050" b="1" i="0">
                <a:solidFill>
                  <a:srgbClr val="1B7A5E"/>
                </a:solidFill>
                <a:latin typeface="Calibri"/>
              </a:rPr>
              <a:t>Giảm thiểu:  </a:t>
            </a:r>
            <a:r>
              <a:rPr sz="1050" b="0" i="0">
                <a:solidFill>
                  <a:srgbClr val="5A7278"/>
                </a:solidFill>
                <a:latin typeface="Calibri"/>
              </a:rPr>
              <a:t>Phương pháp ở mức khái niệm, profile độc lập công nghệ; kiến trúc cho phép thay bộ template đích.</a:t>
            </a:r>
          </a:p>
        </p:txBody>
      </p:sp>
      <p:sp>
        <p:nvSpPr>
          <p:cNvPr id="12" name="Rounded Rectangle 11"/>
          <p:cNvSpPr/>
          <p:nvPr/>
        </p:nvSpPr>
        <p:spPr>
          <a:xfrm>
            <a:off x="594360" y="3913632"/>
            <a:ext cx="5440680" cy="205740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4078224"/>
            <a:ext cx="4928616" cy="365760"/>
          </a:xfrm>
          <a:prstGeom prst="rect">
            <a:avLst/>
          </a:prstGeom>
          <a:noFill/>
        </p:spPr>
        <p:txBody>
          <a:bodyPr wrap="square" anchor="t" lIns="0" rIns="0" tIns="0" bIns="0">
            <a:spAutoFit/>
          </a:bodyPr>
          <a:lstStyle/>
          <a:p>
            <a:pPr algn="l"/>
            <a:r>
              <a:rPr sz="1400" b="1" i="0">
                <a:solidFill>
                  <a:srgbClr val="028090"/>
                </a:solidFill>
                <a:latin typeface="Calibri"/>
              </a:rPr>
              <a:t>Construct validity</a:t>
            </a:r>
          </a:p>
        </p:txBody>
      </p:sp>
      <p:sp>
        <p:nvSpPr>
          <p:cNvPr id="14" name="TextBox 13"/>
          <p:cNvSpPr txBox="1"/>
          <p:nvPr/>
        </p:nvSpPr>
        <p:spPr>
          <a:xfrm>
            <a:off x="850392" y="4462272"/>
            <a:ext cx="4928616" cy="685800"/>
          </a:xfrm>
          <a:prstGeom prst="rect">
            <a:avLst/>
          </a:prstGeom>
          <a:noFill/>
        </p:spPr>
        <p:txBody>
          <a:bodyPr wrap="square" anchor="t" lIns="0" rIns="0" tIns="0" bIns="0">
            <a:spAutoFit/>
          </a:bodyPr>
          <a:lstStyle/>
          <a:p>
            <a:pPr algn="l">
              <a:lnSpc>
                <a:spcPct val="110000"/>
              </a:lnSpc>
            </a:pPr>
            <a:r>
              <a:rPr sz="1150" b="0" i="0">
                <a:solidFill>
                  <a:srgbClr val="17292D"/>
                </a:solidFill>
                <a:latin typeface="Calibri"/>
              </a:rPr>
              <a:t>LoC và thời gian là thước đo gián tiếp cho năng suất, mức dễ hiểu.</a:t>
            </a:r>
          </a:p>
        </p:txBody>
      </p:sp>
      <p:sp>
        <p:nvSpPr>
          <p:cNvPr id="15" name="TextBox 14"/>
          <p:cNvSpPr txBox="1"/>
          <p:nvPr/>
        </p:nvSpPr>
        <p:spPr>
          <a:xfrm>
            <a:off x="850392" y="5212080"/>
            <a:ext cx="4928616" cy="685800"/>
          </a:xfrm>
          <a:prstGeom prst="rect">
            <a:avLst/>
          </a:prstGeom>
          <a:noFill/>
        </p:spPr>
        <p:txBody>
          <a:bodyPr wrap="square" anchor="t" lIns="0" rIns="0" tIns="0" bIns="0">
            <a:spAutoFit/>
          </a:bodyPr>
          <a:lstStyle/>
          <a:p>
            <a:pPr algn="l">
              <a:lnSpc>
                <a:spcPct val="108000"/>
              </a:lnSpc>
            </a:pPr>
            <a:r>
              <a:rPr sz="1050" b="1" i="0">
                <a:solidFill>
                  <a:srgbClr val="1B7A5E"/>
                </a:solidFill>
                <a:latin typeface="Calibri"/>
              </a:rPr>
              <a:t>Giảm thiểu:  </a:t>
            </a:r>
            <a:r>
              <a:rPr sz="1050" b="0" i="0">
                <a:solidFill>
                  <a:srgbClr val="5A7278"/>
                </a:solidFill>
                <a:latin typeface="Calibri"/>
              </a:rPr>
              <a:t>Kết hợp nhiều thước đo; bổ sung khảo sát định tính với người đọc sơ đồ.</a:t>
            </a:r>
          </a:p>
        </p:txBody>
      </p:sp>
      <p:sp>
        <p:nvSpPr>
          <p:cNvPr id="16" name="Rounded Rectangle 15"/>
          <p:cNvSpPr/>
          <p:nvPr/>
        </p:nvSpPr>
        <p:spPr>
          <a:xfrm>
            <a:off x="6199632" y="3913632"/>
            <a:ext cx="5440680" cy="2057400"/>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4078224"/>
            <a:ext cx="4928616" cy="365760"/>
          </a:xfrm>
          <a:prstGeom prst="rect">
            <a:avLst/>
          </a:prstGeom>
          <a:noFill/>
        </p:spPr>
        <p:txBody>
          <a:bodyPr wrap="square" anchor="t" lIns="0" rIns="0" tIns="0" bIns="0">
            <a:spAutoFit/>
          </a:bodyPr>
          <a:lstStyle/>
          <a:p>
            <a:pPr algn="l"/>
            <a:r>
              <a:rPr sz="1400" b="1" i="0">
                <a:solidFill>
                  <a:srgbClr val="028090"/>
                </a:solidFill>
                <a:latin typeface="Calibri"/>
              </a:rPr>
              <a:t>Conclusion validity</a:t>
            </a:r>
          </a:p>
        </p:txBody>
      </p:sp>
      <p:sp>
        <p:nvSpPr>
          <p:cNvPr id="18" name="TextBox 17"/>
          <p:cNvSpPr txBox="1"/>
          <p:nvPr/>
        </p:nvSpPr>
        <p:spPr>
          <a:xfrm>
            <a:off x="6455664" y="4462272"/>
            <a:ext cx="4928616" cy="685800"/>
          </a:xfrm>
          <a:prstGeom prst="rect">
            <a:avLst/>
          </a:prstGeom>
          <a:noFill/>
        </p:spPr>
        <p:txBody>
          <a:bodyPr wrap="square" anchor="t" lIns="0" rIns="0" tIns="0" bIns="0">
            <a:spAutoFit/>
          </a:bodyPr>
          <a:lstStyle/>
          <a:p>
            <a:pPr algn="l">
              <a:lnSpc>
                <a:spcPct val="110000"/>
              </a:lnSpc>
            </a:pPr>
            <a:r>
              <a:rPr sz="1150" b="0" i="0">
                <a:solidFill>
                  <a:srgbClr val="17292D"/>
                </a:solidFill>
                <a:latin typeface="Calibri"/>
              </a:rPr>
              <a:t>Mẫu khảo sát nhỏ, chưa đủ để kiểm định thống kê.</a:t>
            </a:r>
          </a:p>
        </p:txBody>
      </p:sp>
      <p:sp>
        <p:nvSpPr>
          <p:cNvPr id="19" name="TextBox 18"/>
          <p:cNvSpPr txBox="1"/>
          <p:nvPr/>
        </p:nvSpPr>
        <p:spPr>
          <a:xfrm>
            <a:off x="6455664" y="5212080"/>
            <a:ext cx="4928616" cy="685800"/>
          </a:xfrm>
          <a:prstGeom prst="rect">
            <a:avLst/>
          </a:prstGeom>
          <a:noFill/>
        </p:spPr>
        <p:txBody>
          <a:bodyPr wrap="square" anchor="t" lIns="0" rIns="0" tIns="0" bIns="0">
            <a:spAutoFit/>
          </a:bodyPr>
          <a:lstStyle/>
          <a:p>
            <a:pPr algn="l">
              <a:lnSpc>
                <a:spcPct val="108000"/>
              </a:lnSpc>
            </a:pPr>
            <a:r>
              <a:rPr sz="1050" b="1" i="0">
                <a:solidFill>
                  <a:srgbClr val="1B7A5E"/>
                </a:solidFill>
                <a:latin typeface="Calibri"/>
              </a:rPr>
              <a:t>Giảm thiểu:  </a:t>
            </a:r>
            <a:r>
              <a:rPr sz="1050" b="0" i="0">
                <a:solidFill>
                  <a:srgbClr val="5A7278"/>
                </a:solidFill>
                <a:latin typeface="Calibri"/>
              </a:rPr>
              <a:t>Chỉ báo cáo mô tả, nêu rõ giới hạn; không tổng quát hóa quá phạm vi case study.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320040"/>
          </a:xfrm>
          <a:prstGeom prst="rect">
            <a:avLst/>
          </a:prstGeom>
          <a:noFill/>
        </p:spPr>
        <p:txBody>
          <a:bodyPr wrap="square" anchor="t" lIns="0" rIns="0" tIns="0" bIns="0">
            <a:spAutoFit/>
          </a:bodyPr>
          <a:lstStyle/>
          <a:p>
            <a:pPr algn="l"/>
            <a:r>
              <a:rPr sz="1250" b="1" i="0">
                <a:solidFill>
                  <a:srgbClr val="02C39A"/>
                </a:solidFill>
                <a:latin typeface="Calibri"/>
              </a:rPr>
              <a:t>Phần 5 · Tiến độ viết luận văn</a:t>
            </a:r>
          </a:p>
        </p:txBody>
      </p:sp>
      <p:sp>
        <p:nvSpPr>
          <p:cNvPr id="3" name="TextBox 2"/>
          <p:cNvSpPr txBox="1"/>
          <p:nvPr/>
        </p:nvSpPr>
        <p:spPr>
          <a:xfrm>
            <a:off x="594360" y="621792"/>
            <a:ext cx="10972800" cy="640080"/>
          </a:xfrm>
          <a:prstGeom prst="rect">
            <a:avLst/>
          </a:prstGeom>
          <a:noFill/>
        </p:spPr>
        <p:txBody>
          <a:bodyPr wrap="square" anchor="t" lIns="0" rIns="0" tIns="0" bIns="0">
            <a:spAutoFit/>
          </a:bodyPr>
          <a:lstStyle/>
          <a:p>
            <a:pPr algn="l"/>
            <a:r>
              <a:rPr sz="2700" b="1" i="0">
                <a:solidFill>
                  <a:srgbClr val="17292D"/>
                </a:solidFill>
                <a:latin typeface="Cambria"/>
              </a:rPr>
              <a:t>Tiến độ viết luận văn</a:t>
            </a:r>
          </a:p>
        </p:txBody>
      </p:sp>
      <p:sp>
        <p:nvSpPr>
          <p:cNvPr id="4" name="Rounded Rectangle 3"/>
          <p:cNvSpPr/>
          <p:nvPr/>
        </p:nvSpPr>
        <p:spPr>
          <a:xfrm>
            <a:off x="594360" y="1737360"/>
            <a:ext cx="11018520" cy="74980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37360"/>
            <a:ext cx="1234440" cy="749808"/>
          </a:xfrm>
          <a:prstGeom prst="rect">
            <a:avLst/>
          </a:prstGeom>
          <a:noFill/>
        </p:spPr>
        <p:txBody>
          <a:bodyPr wrap="square" anchor="ctr" lIns="0" rIns="0" tIns="0" bIns="0">
            <a:spAutoFit/>
          </a:bodyPr>
          <a:lstStyle/>
          <a:p>
            <a:pPr algn="l"/>
            <a:r>
              <a:rPr sz="1350" b="1" i="0">
                <a:solidFill>
                  <a:srgbClr val="028090"/>
                </a:solidFill>
                <a:latin typeface="Calibri"/>
              </a:rPr>
              <a:t>Chương 1</a:t>
            </a:r>
          </a:p>
        </p:txBody>
      </p:sp>
      <p:sp>
        <p:nvSpPr>
          <p:cNvPr id="6" name="TextBox 5"/>
          <p:cNvSpPr txBox="1"/>
          <p:nvPr/>
        </p:nvSpPr>
        <p:spPr>
          <a:xfrm>
            <a:off x="2194560" y="1737360"/>
            <a:ext cx="4480560" cy="749808"/>
          </a:xfrm>
          <a:prstGeom prst="rect">
            <a:avLst/>
          </a:prstGeom>
          <a:noFill/>
        </p:spPr>
        <p:txBody>
          <a:bodyPr wrap="square" anchor="ctr" lIns="0" rIns="0" tIns="0" bIns="0">
            <a:spAutoFit/>
          </a:bodyPr>
          <a:lstStyle/>
          <a:p>
            <a:pPr algn="l">
              <a:lnSpc>
                <a:spcPct val="105000"/>
              </a:lnSpc>
            </a:pPr>
            <a:r>
              <a:rPr sz="1200" b="0" i="0">
                <a:solidFill>
                  <a:srgbClr val="17292D"/>
                </a:solidFill>
                <a:latin typeface="Calibri"/>
              </a:rPr>
              <a:t>Giới thiệu: bài toán, mục tiêu, phạm vi</a:t>
            </a:r>
          </a:p>
        </p:txBody>
      </p:sp>
      <p:sp>
        <p:nvSpPr>
          <p:cNvPr id="7" name="Rounded Rectangle 6"/>
          <p:cNvSpPr/>
          <p:nvPr/>
        </p:nvSpPr>
        <p:spPr>
          <a:xfrm>
            <a:off x="6858000" y="1993391"/>
            <a:ext cx="3657600" cy="237744"/>
          </a:xfrm>
          <a:prstGeom prst="roundRect">
            <a:avLst>
              <a:gd name="adj" fmla="val 50000"/>
            </a:avLst>
          </a:prstGeom>
          <a:solidFill>
            <a:srgbClr val="DDE9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0" y="1993391"/>
            <a:ext cx="3291840" cy="237744"/>
          </a:xfrm>
          <a:prstGeom prst="roundRect">
            <a:avLst>
              <a:gd name="adj" fmla="val 5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0" y="1737360"/>
            <a:ext cx="914400" cy="749808"/>
          </a:xfrm>
          <a:prstGeom prst="rect">
            <a:avLst/>
          </a:prstGeom>
          <a:noFill/>
        </p:spPr>
        <p:txBody>
          <a:bodyPr wrap="square" anchor="ctr" lIns="0" rIns="0" tIns="0" bIns="0">
            <a:spAutoFit/>
          </a:bodyPr>
          <a:lstStyle/>
          <a:p>
            <a:pPr algn="l"/>
            <a:r>
              <a:rPr sz="1250" b="1" i="0">
                <a:solidFill>
                  <a:srgbClr val="17292D"/>
                </a:solidFill>
                <a:latin typeface="Calibri"/>
              </a:rPr>
              <a:t>90%</a:t>
            </a:r>
          </a:p>
        </p:txBody>
      </p:sp>
      <p:sp>
        <p:nvSpPr>
          <p:cNvPr id="10" name="Rounded Rectangle 9"/>
          <p:cNvSpPr/>
          <p:nvPr/>
        </p:nvSpPr>
        <p:spPr>
          <a:xfrm>
            <a:off x="594360" y="2624328"/>
            <a:ext cx="11018520" cy="74980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624328"/>
            <a:ext cx="1234440" cy="749808"/>
          </a:xfrm>
          <a:prstGeom prst="rect">
            <a:avLst/>
          </a:prstGeom>
          <a:noFill/>
        </p:spPr>
        <p:txBody>
          <a:bodyPr wrap="square" anchor="ctr" lIns="0" rIns="0" tIns="0" bIns="0">
            <a:spAutoFit/>
          </a:bodyPr>
          <a:lstStyle/>
          <a:p>
            <a:pPr algn="l"/>
            <a:r>
              <a:rPr sz="1350" b="1" i="0">
                <a:solidFill>
                  <a:srgbClr val="028090"/>
                </a:solidFill>
                <a:latin typeface="Calibri"/>
              </a:rPr>
              <a:t>Chương 2</a:t>
            </a:r>
          </a:p>
        </p:txBody>
      </p:sp>
      <p:sp>
        <p:nvSpPr>
          <p:cNvPr id="12" name="TextBox 11"/>
          <p:cNvSpPr txBox="1"/>
          <p:nvPr/>
        </p:nvSpPr>
        <p:spPr>
          <a:xfrm>
            <a:off x="2194560" y="2624328"/>
            <a:ext cx="4480560" cy="749808"/>
          </a:xfrm>
          <a:prstGeom prst="rect">
            <a:avLst/>
          </a:prstGeom>
          <a:noFill/>
        </p:spPr>
        <p:txBody>
          <a:bodyPr wrap="square" anchor="ctr" lIns="0" rIns="0" tIns="0" bIns="0">
            <a:spAutoFit/>
          </a:bodyPr>
          <a:lstStyle/>
          <a:p>
            <a:pPr algn="l">
              <a:lnSpc>
                <a:spcPct val="105000"/>
              </a:lnSpc>
            </a:pPr>
            <a:r>
              <a:rPr sz="1200" b="0" i="0">
                <a:solidFill>
                  <a:srgbClr val="17292D"/>
                </a:solidFill>
                <a:latin typeface="Calibri"/>
              </a:rPr>
              <a:t>Cơ sở lý thuyết: DDD, DCSL/AGL, RBAC</a:t>
            </a:r>
          </a:p>
        </p:txBody>
      </p:sp>
      <p:sp>
        <p:nvSpPr>
          <p:cNvPr id="13" name="Rounded Rectangle 12"/>
          <p:cNvSpPr/>
          <p:nvPr/>
        </p:nvSpPr>
        <p:spPr>
          <a:xfrm>
            <a:off x="6858000" y="2880360"/>
            <a:ext cx="3657600" cy="237744"/>
          </a:xfrm>
          <a:prstGeom prst="roundRect">
            <a:avLst>
              <a:gd name="adj" fmla="val 50000"/>
            </a:avLst>
          </a:prstGeom>
          <a:solidFill>
            <a:srgbClr val="DDE9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858000" y="2880360"/>
            <a:ext cx="2926080" cy="237744"/>
          </a:xfrm>
          <a:prstGeom prst="roundRect">
            <a:avLst>
              <a:gd name="adj" fmla="val 5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07040" y="2624328"/>
            <a:ext cx="914400" cy="749808"/>
          </a:xfrm>
          <a:prstGeom prst="rect">
            <a:avLst/>
          </a:prstGeom>
          <a:noFill/>
        </p:spPr>
        <p:txBody>
          <a:bodyPr wrap="square" anchor="ctr" lIns="0" rIns="0" tIns="0" bIns="0">
            <a:spAutoFit/>
          </a:bodyPr>
          <a:lstStyle/>
          <a:p>
            <a:pPr algn="l"/>
            <a:r>
              <a:rPr sz="1250" b="1" i="0">
                <a:solidFill>
                  <a:srgbClr val="17292D"/>
                </a:solidFill>
                <a:latin typeface="Calibri"/>
              </a:rPr>
              <a:t>80%</a:t>
            </a:r>
          </a:p>
        </p:txBody>
      </p:sp>
      <p:sp>
        <p:nvSpPr>
          <p:cNvPr id="16" name="Rounded Rectangle 15"/>
          <p:cNvSpPr/>
          <p:nvPr/>
        </p:nvSpPr>
        <p:spPr>
          <a:xfrm>
            <a:off x="594360" y="3511296"/>
            <a:ext cx="11018520" cy="74980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511296"/>
            <a:ext cx="1234440" cy="749808"/>
          </a:xfrm>
          <a:prstGeom prst="rect">
            <a:avLst/>
          </a:prstGeom>
          <a:noFill/>
        </p:spPr>
        <p:txBody>
          <a:bodyPr wrap="square" anchor="ctr" lIns="0" rIns="0" tIns="0" bIns="0">
            <a:spAutoFit/>
          </a:bodyPr>
          <a:lstStyle/>
          <a:p>
            <a:pPr algn="l"/>
            <a:r>
              <a:rPr sz="1350" b="1" i="0">
                <a:solidFill>
                  <a:srgbClr val="028090"/>
                </a:solidFill>
                <a:latin typeface="Calibri"/>
              </a:rPr>
              <a:t>Chương 3</a:t>
            </a:r>
          </a:p>
        </p:txBody>
      </p:sp>
      <p:sp>
        <p:nvSpPr>
          <p:cNvPr id="18" name="TextBox 17"/>
          <p:cNvSpPr txBox="1"/>
          <p:nvPr/>
        </p:nvSpPr>
        <p:spPr>
          <a:xfrm>
            <a:off x="2194560" y="3511296"/>
            <a:ext cx="4480560" cy="749808"/>
          </a:xfrm>
          <a:prstGeom prst="rect">
            <a:avLst/>
          </a:prstGeom>
          <a:noFill/>
        </p:spPr>
        <p:txBody>
          <a:bodyPr wrap="square" anchor="ctr" lIns="0" rIns="0" tIns="0" bIns="0">
            <a:spAutoFit/>
          </a:bodyPr>
          <a:lstStyle/>
          <a:p>
            <a:pPr algn="l">
              <a:lnSpc>
                <a:spcPct val="105000"/>
              </a:lnSpc>
            </a:pPr>
            <a:r>
              <a:rPr sz="1200" b="0" i="0">
                <a:solidFill>
                  <a:srgbClr val="17292D"/>
                </a:solidFill>
                <a:latin typeface="Calibri"/>
              </a:rPr>
              <a:t>Phương pháp: metamodel &amp; pipeline biến đổi</a:t>
            </a:r>
          </a:p>
        </p:txBody>
      </p:sp>
      <p:sp>
        <p:nvSpPr>
          <p:cNvPr id="19" name="Rounded Rectangle 18"/>
          <p:cNvSpPr/>
          <p:nvPr/>
        </p:nvSpPr>
        <p:spPr>
          <a:xfrm>
            <a:off x="6858000" y="3767328"/>
            <a:ext cx="3657600" cy="237744"/>
          </a:xfrm>
          <a:prstGeom prst="roundRect">
            <a:avLst>
              <a:gd name="adj" fmla="val 50000"/>
            </a:avLst>
          </a:prstGeom>
          <a:solidFill>
            <a:srgbClr val="DDE9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858000" y="3767328"/>
            <a:ext cx="2194560" cy="237744"/>
          </a:xfrm>
          <a:prstGeom prst="roundRect">
            <a:avLst>
              <a:gd name="adj" fmla="val 5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07040" y="3511296"/>
            <a:ext cx="914400" cy="749808"/>
          </a:xfrm>
          <a:prstGeom prst="rect">
            <a:avLst/>
          </a:prstGeom>
          <a:noFill/>
        </p:spPr>
        <p:txBody>
          <a:bodyPr wrap="square" anchor="ctr" lIns="0" rIns="0" tIns="0" bIns="0">
            <a:spAutoFit/>
          </a:bodyPr>
          <a:lstStyle/>
          <a:p>
            <a:pPr algn="l"/>
            <a:r>
              <a:rPr sz="1250" b="1" i="0">
                <a:solidFill>
                  <a:srgbClr val="17292D"/>
                </a:solidFill>
                <a:latin typeface="Calibri"/>
              </a:rPr>
              <a:t>60%</a:t>
            </a:r>
          </a:p>
        </p:txBody>
      </p:sp>
      <p:sp>
        <p:nvSpPr>
          <p:cNvPr id="22" name="Rounded Rectangle 21"/>
          <p:cNvSpPr/>
          <p:nvPr/>
        </p:nvSpPr>
        <p:spPr>
          <a:xfrm>
            <a:off x="594360" y="4398264"/>
            <a:ext cx="11018520" cy="74980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398264"/>
            <a:ext cx="1234440" cy="749808"/>
          </a:xfrm>
          <a:prstGeom prst="rect">
            <a:avLst/>
          </a:prstGeom>
          <a:noFill/>
        </p:spPr>
        <p:txBody>
          <a:bodyPr wrap="square" anchor="ctr" lIns="0" rIns="0" tIns="0" bIns="0">
            <a:spAutoFit/>
          </a:bodyPr>
          <a:lstStyle/>
          <a:p>
            <a:pPr algn="l"/>
            <a:r>
              <a:rPr sz="1350" b="1" i="0">
                <a:solidFill>
                  <a:srgbClr val="028090"/>
                </a:solidFill>
                <a:latin typeface="Calibri"/>
              </a:rPr>
              <a:t>Chương 4</a:t>
            </a:r>
          </a:p>
        </p:txBody>
      </p:sp>
      <p:sp>
        <p:nvSpPr>
          <p:cNvPr id="24" name="TextBox 23"/>
          <p:cNvSpPr txBox="1"/>
          <p:nvPr/>
        </p:nvSpPr>
        <p:spPr>
          <a:xfrm>
            <a:off x="2194560" y="4398264"/>
            <a:ext cx="4480560" cy="749808"/>
          </a:xfrm>
          <a:prstGeom prst="rect">
            <a:avLst/>
          </a:prstGeom>
          <a:noFill/>
        </p:spPr>
        <p:txBody>
          <a:bodyPr wrap="square" anchor="ctr" lIns="0" rIns="0" tIns="0" bIns="0">
            <a:spAutoFit/>
          </a:bodyPr>
          <a:lstStyle/>
          <a:p>
            <a:pPr algn="l">
              <a:lnSpc>
                <a:spcPct val="105000"/>
              </a:lnSpc>
            </a:pPr>
            <a:r>
              <a:rPr sz="1200" b="0" i="0">
                <a:solidFill>
                  <a:srgbClr val="17292D"/>
                </a:solidFill>
                <a:latin typeface="Calibri"/>
              </a:rPr>
              <a:t>Thực nghiệm: công cụ ddd-codegen &amp; CourseMan</a:t>
            </a:r>
          </a:p>
        </p:txBody>
      </p:sp>
      <p:sp>
        <p:nvSpPr>
          <p:cNvPr id="25" name="Rounded Rectangle 24"/>
          <p:cNvSpPr/>
          <p:nvPr/>
        </p:nvSpPr>
        <p:spPr>
          <a:xfrm>
            <a:off x="6858000" y="4654296"/>
            <a:ext cx="3657600" cy="237744"/>
          </a:xfrm>
          <a:prstGeom prst="roundRect">
            <a:avLst>
              <a:gd name="adj" fmla="val 50000"/>
            </a:avLst>
          </a:prstGeom>
          <a:solidFill>
            <a:srgbClr val="DDE9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858000" y="4654296"/>
            <a:ext cx="1463040" cy="237744"/>
          </a:xfrm>
          <a:prstGeom prst="roundRect">
            <a:avLst>
              <a:gd name="adj" fmla="val 5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607040" y="4398264"/>
            <a:ext cx="914400" cy="749808"/>
          </a:xfrm>
          <a:prstGeom prst="rect">
            <a:avLst/>
          </a:prstGeom>
          <a:noFill/>
        </p:spPr>
        <p:txBody>
          <a:bodyPr wrap="square" anchor="ctr" lIns="0" rIns="0" tIns="0" bIns="0">
            <a:spAutoFit/>
          </a:bodyPr>
          <a:lstStyle/>
          <a:p>
            <a:pPr algn="l"/>
            <a:r>
              <a:rPr sz="1250" b="1" i="0">
                <a:solidFill>
                  <a:srgbClr val="17292D"/>
                </a:solidFill>
                <a:latin typeface="Calibri"/>
              </a:rPr>
              <a:t>40%</a:t>
            </a:r>
          </a:p>
        </p:txBody>
      </p:sp>
      <p:sp>
        <p:nvSpPr>
          <p:cNvPr id="28" name="Rounded Rectangle 27"/>
          <p:cNvSpPr/>
          <p:nvPr/>
        </p:nvSpPr>
        <p:spPr>
          <a:xfrm>
            <a:off x="594360" y="5285231"/>
            <a:ext cx="11018520" cy="749808"/>
          </a:xfrm>
          <a:prstGeom prst="roundRect">
            <a:avLst>
              <a:gd name="adj" fmla="val 5500"/>
            </a:avLst>
          </a:prstGeom>
          <a:solidFill>
            <a:srgbClr val="F5FAFA"/>
          </a:solidFill>
          <a:ln w="9525">
            <a:solidFill>
              <a:srgbClr val="CFE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5285231"/>
            <a:ext cx="1234440" cy="749808"/>
          </a:xfrm>
          <a:prstGeom prst="rect">
            <a:avLst/>
          </a:prstGeom>
          <a:noFill/>
        </p:spPr>
        <p:txBody>
          <a:bodyPr wrap="square" anchor="ctr" lIns="0" rIns="0" tIns="0" bIns="0">
            <a:spAutoFit/>
          </a:bodyPr>
          <a:lstStyle/>
          <a:p>
            <a:pPr algn="l"/>
            <a:r>
              <a:rPr sz="1350" b="1" i="0">
                <a:solidFill>
                  <a:srgbClr val="028090"/>
                </a:solidFill>
                <a:latin typeface="Calibri"/>
              </a:rPr>
              <a:t>Chương 5</a:t>
            </a:r>
          </a:p>
        </p:txBody>
      </p:sp>
      <p:sp>
        <p:nvSpPr>
          <p:cNvPr id="30" name="TextBox 29"/>
          <p:cNvSpPr txBox="1"/>
          <p:nvPr/>
        </p:nvSpPr>
        <p:spPr>
          <a:xfrm>
            <a:off x="2194560" y="5285231"/>
            <a:ext cx="4480560" cy="749808"/>
          </a:xfrm>
          <a:prstGeom prst="rect">
            <a:avLst/>
          </a:prstGeom>
          <a:noFill/>
        </p:spPr>
        <p:txBody>
          <a:bodyPr wrap="square" anchor="ctr" lIns="0" rIns="0" tIns="0" bIns="0">
            <a:spAutoFit/>
          </a:bodyPr>
          <a:lstStyle/>
          <a:p>
            <a:pPr algn="l">
              <a:lnSpc>
                <a:spcPct val="105000"/>
              </a:lnSpc>
            </a:pPr>
            <a:r>
              <a:rPr sz="1200" b="0" i="0">
                <a:solidFill>
                  <a:srgbClr val="17292D"/>
                </a:solidFill>
                <a:latin typeface="Calibri"/>
              </a:rPr>
              <a:t>Kết luận &amp; hướng phát triển</a:t>
            </a:r>
          </a:p>
        </p:txBody>
      </p:sp>
      <p:sp>
        <p:nvSpPr>
          <p:cNvPr id="31" name="Rounded Rectangle 30"/>
          <p:cNvSpPr/>
          <p:nvPr/>
        </p:nvSpPr>
        <p:spPr>
          <a:xfrm>
            <a:off x="6858000" y="5541264"/>
            <a:ext cx="3657600" cy="237744"/>
          </a:xfrm>
          <a:prstGeom prst="roundRect">
            <a:avLst>
              <a:gd name="adj" fmla="val 50000"/>
            </a:avLst>
          </a:prstGeom>
          <a:solidFill>
            <a:srgbClr val="DDE9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858000" y="5541264"/>
            <a:ext cx="365760" cy="237744"/>
          </a:xfrm>
          <a:prstGeom prst="roundRect">
            <a:avLst>
              <a:gd name="adj" fmla="val 5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07040" y="5285231"/>
            <a:ext cx="914400" cy="749808"/>
          </a:xfrm>
          <a:prstGeom prst="rect">
            <a:avLst/>
          </a:prstGeom>
          <a:noFill/>
        </p:spPr>
        <p:txBody>
          <a:bodyPr wrap="square" anchor="ctr" lIns="0" rIns="0" tIns="0" bIns="0">
            <a:spAutoFit/>
          </a:bodyPr>
          <a:lstStyle/>
          <a:p>
            <a:pPr algn="l"/>
            <a:r>
              <a:rPr sz="1250" b="1" i="0">
                <a:solidFill>
                  <a:srgbClr val="17292D"/>
                </a:solidFill>
                <a:latin typeface="Calibri"/>
              </a:rPr>
              <a:t>10%</a:t>
            </a:r>
          </a:p>
        </p:txBody>
      </p:sp>
      <p:sp>
        <p:nvSpPr>
          <p:cNvPr id="34" name="TextBox 33"/>
          <p:cNvSpPr txBox="1"/>
          <p:nvPr/>
        </p:nvSpPr>
        <p:spPr>
          <a:xfrm>
            <a:off x="594360" y="6263639"/>
            <a:ext cx="11018520" cy="731520"/>
          </a:xfrm>
          <a:prstGeom prst="rect">
            <a:avLst/>
          </a:prstGeom>
          <a:noFill/>
        </p:spPr>
        <p:txBody>
          <a:bodyPr wrap="square" anchor="t" lIns="0" rIns="0" tIns="0" bIns="0">
            <a:spAutoFit/>
          </a:bodyPr>
          <a:lstStyle/>
          <a:p>
            <a:pPr algn="ctr">
              <a:lnSpc>
                <a:spcPct val="112000"/>
              </a:lnSpc>
            </a:pPr>
            <a:r>
              <a:rPr sz="1250" b="0" i="1">
                <a:solidFill>
                  <a:srgbClr val="5A7278"/>
                </a:solidFill>
                <a:latin typeface="Calibri"/>
              </a:rPr>
              <a:t>Kế hoạch: hoàn thiện Chương 3–4 song song với phần đánh giá định lượng; Chương 5 và rà soát toàn văn ở hai tuần cuối.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3438"/>
        </a:solidFill>
        <a:effectLst/>
      </p:bgPr>
    </p:bg>
    <p:spTree>
      <p:nvGrpSpPr>
        <p:cNvPr id="1" name=""/>
        <p:cNvGrpSpPr/>
        <p:nvPr/>
      </p:nvGrpSpPr>
      <p:grpSpPr/>
      <p:sp>
        <p:nvSpPr>
          <p:cNvPr id="2" name="TextBox 1"/>
          <p:cNvSpPr txBox="1"/>
          <p:nvPr/>
        </p:nvSpPr>
        <p:spPr>
          <a:xfrm>
            <a:off x="822960" y="457200"/>
            <a:ext cx="10515600" cy="640080"/>
          </a:xfrm>
          <a:prstGeom prst="rect">
            <a:avLst/>
          </a:prstGeom>
          <a:noFill/>
        </p:spPr>
        <p:txBody>
          <a:bodyPr wrap="square" anchor="t" lIns="0" rIns="0" tIns="0" bIns="0">
            <a:spAutoFit/>
          </a:bodyPr>
          <a:lstStyle/>
          <a:p>
            <a:pPr algn="l"/>
            <a:r>
              <a:rPr sz="2900" b="1" i="0">
                <a:solidFill>
                  <a:srgbClr val="FFFFFF"/>
                </a:solidFill>
                <a:latin typeface="Cambria"/>
              </a:rPr>
              <a:t>Công việc tiếp theo</a:t>
            </a:r>
          </a:p>
        </p:txBody>
      </p:sp>
      <p:sp>
        <p:nvSpPr>
          <p:cNvPr id="3" name="Oval 2"/>
          <p:cNvSpPr/>
          <p:nvPr/>
        </p:nvSpPr>
        <p:spPr>
          <a:xfrm>
            <a:off x="868680" y="1453896"/>
            <a:ext cx="384048" cy="384048"/>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0A3438"/>
                </a:solidFill>
                <a:latin typeface="Calibri"/>
              </a:rPr>
              <a:t>1</a:t>
            </a:r>
          </a:p>
        </p:txBody>
      </p:sp>
      <p:sp>
        <p:nvSpPr>
          <p:cNvPr id="4" name="TextBox 3"/>
          <p:cNvSpPr txBox="1"/>
          <p:nvPr/>
        </p:nvSpPr>
        <p:spPr>
          <a:xfrm>
            <a:off x="1463040" y="1417320"/>
            <a:ext cx="5852160" cy="1188720"/>
          </a:xfrm>
          <a:prstGeom prst="rect">
            <a:avLst/>
          </a:prstGeom>
          <a:noFill/>
        </p:spPr>
        <p:txBody>
          <a:bodyPr wrap="square" anchor="t" lIns="0" rIns="0" tIns="0" bIns="0">
            <a:spAutoFit/>
          </a:bodyPr>
          <a:lstStyle/>
          <a:p>
            <a:pPr algn="l">
              <a:spcAft>
                <a:spcPts val="200"/>
              </a:spcAft>
            </a:pPr>
            <a:r>
              <a:rPr sz="1550" b="1" i="0">
                <a:solidFill>
                  <a:srgbClr val="FFFFFF"/>
                </a:solidFill>
                <a:latin typeface="Calibri"/>
              </a:rPr>
              <a:t>Đánh giá định lượng</a:t>
            </a:r>
          </a:p>
          <a:p>
            <a:pPr algn="l">
              <a:lnSpc>
                <a:spcPct val="112000"/>
              </a:lnSpc>
            </a:pPr>
            <a:r>
              <a:rPr sz="1250" b="0" i="0">
                <a:solidFill>
                  <a:srgbClr val="C4DDDF"/>
                </a:solidFill>
                <a:latin typeface="Calibri"/>
              </a:rPr>
              <a:t>Đo LoC đặc tả vs mã sinh ra; thời gian thêm role/permission mới so với viết tay; khảo sát mức dễ hiểu với người đọc sơ đồ.</a:t>
            </a:r>
          </a:p>
        </p:txBody>
      </p:sp>
      <p:sp>
        <p:nvSpPr>
          <p:cNvPr id="5" name="Oval 4"/>
          <p:cNvSpPr/>
          <p:nvPr/>
        </p:nvSpPr>
        <p:spPr>
          <a:xfrm>
            <a:off x="868680" y="2779776"/>
            <a:ext cx="384048" cy="384048"/>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0A3438"/>
                </a:solidFill>
                <a:latin typeface="Calibri"/>
              </a:rPr>
              <a:t>2</a:t>
            </a:r>
          </a:p>
        </p:txBody>
      </p:sp>
      <p:sp>
        <p:nvSpPr>
          <p:cNvPr id="6" name="TextBox 5"/>
          <p:cNvSpPr txBox="1"/>
          <p:nvPr/>
        </p:nvSpPr>
        <p:spPr>
          <a:xfrm>
            <a:off x="1463040" y="2743200"/>
            <a:ext cx="5852160" cy="1188720"/>
          </a:xfrm>
          <a:prstGeom prst="rect">
            <a:avLst/>
          </a:prstGeom>
          <a:noFill/>
        </p:spPr>
        <p:txBody>
          <a:bodyPr wrap="square" anchor="t" lIns="0" rIns="0" tIns="0" bIns="0">
            <a:spAutoFit/>
          </a:bodyPr>
          <a:lstStyle/>
          <a:p>
            <a:pPr algn="l">
              <a:spcAft>
                <a:spcPts val="200"/>
              </a:spcAft>
            </a:pPr>
            <a:r>
              <a:rPr sz="1550" b="1" i="0">
                <a:solidFill>
                  <a:srgbClr val="FFFFFF"/>
                </a:solidFill>
                <a:latin typeface="Calibri"/>
              </a:rPr>
              <a:t>Kiểm chứng ràng buộc OCL</a:t>
            </a:r>
          </a:p>
          <a:p>
            <a:pPr algn="l">
              <a:lnSpc>
                <a:spcPct val="112000"/>
              </a:lnSpc>
            </a:pPr>
            <a:r>
              <a:rPr sz="1250" b="0" i="0">
                <a:solidFill>
                  <a:srgbClr val="C4DDDF"/>
                </a:solidFill>
                <a:latin typeface="Calibri"/>
              </a:rPr>
              <a:t>Nối OCL subset parser vào bước kiểm chứng mô hình trước khi sinh mã; thực thi SSD/DSD, cardinality đã đặc tả.</a:t>
            </a:r>
          </a:p>
        </p:txBody>
      </p:sp>
      <p:sp>
        <p:nvSpPr>
          <p:cNvPr id="7" name="Oval 6"/>
          <p:cNvSpPr/>
          <p:nvPr/>
        </p:nvSpPr>
        <p:spPr>
          <a:xfrm>
            <a:off x="868680" y="4105656"/>
            <a:ext cx="384048" cy="384048"/>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0A3438"/>
                </a:solidFill>
                <a:latin typeface="Calibri"/>
              </a:rPr>
              <a:t>3</a:t>
            </a:r>
          </a:p>
        </p:txBody>
      </p:sp>
      <p:sp>
        <p:nvSpPr>
          <p:cNvPr id="8" name="TextBox 7"/>
          <p:cNvSpPr txBox="1"/>
          <p:nvPr/>
        </p:nvSpPr>
        <p:spPr>
          <a:xfrm>
            <a:off x="1463040" y="4069080"/>
            <a:ext cx="5852160" cy="1188720"/>
          </a:xfrm>
          <a:prstGeom prst="rect">
            <a:avLst/>
          </a:prstGeom>
          <a:noFill/>
        </p:spPr>
        <p:txBody>
          <a:bodyPr wrap="square" anchor="t" lIns="0" rIns="0" tIns="0" bIns="0">
            <a:spAutoFit/>
          </a:bodyPr>
          <a:lstStyle/>
          <a:p>
            <a:pPr algn="l">
              <a:spcAft>
                <a:spcPts val="200"/>
              </a:spcAft>
            </a:pPr>
            <a:r>
              <a:rPr sz="1550" b="1" i="0">
                <a:solidFill>
                  <a:srgbClr val="FFFFFF"/>
                </a:solidFill>
                <a:latin typeface="Calibri"/>
              </a:rPr>
              <a:t>Hoàn thiện luận văn</a:t>
            </a:r>
          </a:p>
          <a:p>
            <a:pPr algn="l">
              <a:lnSpc>
                <a:spcPct val="112000"/>
              </a:lnSpc>
            </a:pPr>
            <a:r>
              <a:rPr sz="1250" b="0" i="0">
                <a:solidFill>
                  <a:srgbClr val="C4DDDF"/>
                </a:solidFill>
                <a:latin typeface="Calibri"/>
              </a:rPr>
              <a:t>Chương 3–4 hoàn chỉnh, bổ sung kết quả đánh giá vào Chương 4, viết Chương 5 và rà soát toàn văn.</a:t>
            </a:r>
          </a:p>
        </p:txBody>
      </p:sp>
      <p:sp>
        <p:nvSpPr>
          <p:cNvPr id="9" name="Rounded Rectangle 8"/>
          <p:cNvSpPr/>
          <p:nvPr/>
        </p:nvSpPr>
        <p:spPr>
          <a:xfrm>
            <a:off x="7635240" y="1417320"/>
            <a:ext cx="3977639" cy="3840480"/>
          </a:xfrm>
          <a:prstGeom prst="roundRect">
            <a:avLst>
              <a:gd name="adj" fmla="val 5500"/>
            </a:avLst>
          </a:prstGeom>
          <a:solidFill>
            <a:srgbClr val="0F454C"/>
          </a:solidFill>
          <a:ln w="9525">
            <a:solidFill>
              <a:srgbClr val="1E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79" y="1645920"/>
            <a:ext cx="3383280" cy="365760"/>
          </a:xfrm>
          <a:prstGeom prst="rect">
            <a:avLst/>
          </a:prstGeom>
          <a:noFill/>
        </p:spPr>
        <p:txBody>
          <a:bodyPr wrap="square" anchor="t" lIns="0" rIns="0" tIns="0" bIns="0">
            <a:spAutoFit/>
          </a:bodyPr>
          <a:lstStyle/>
          <a:p>
            <a:pPr algn="l"/>
            <a:r>
              <a:rPr sz="1400" b="1" i="0">
                <a:solidFill>
                  <a:srgbClr val="02C39A"/>
                </a:solidFill>
                <a:latin typeface="Calibri"/>
              </a:rPr>
              <a:t>Hướng phát triển</a:t>
            </a:r>
          </a:p>
        </p:txBody>
      </p:sp>
      <p:sp>
        <p:nvSpPr>
          <p:cNvPr id="11" name="TextBox 10"/>
          <p:cNvSpPr txBox="1"/>
          <p:nvPr/>
        </p:nvSpPr>
        <p:spPr>
          <a:xfrm>
            <a:off x="7955279" y="2103120"/>
            <a:ext cx="274320" cy="365760"/>
          </a:xfrm>
          <a:prstGeom prst="rect">
            <a:avLst/>
          </a:prstGeom>
          <a:noFill/>
        </p:spPr>
        <p:txBody>
          <a:bodyPr wrap="square" anchor="t" lIns="0" rIns="0" tIns="0" bIns="0">
            <a:spAutoFit/>
          </a:bodyPr>
          <a:lstStyle/>
          <a:p>
            <a:pPr algn="l"/>
            <a:r>
              <a:rPr sz="1300" b="1" i="0">
                <a:solidFill>
                  <a:srgbClr val="8AE6C9"/>
                </a:solidFill>
                <a:latin typeface="Calibri"/>
              </a:rPr>
              <a:t>→</a:t>
            </a:r>
          </a:p>
        </p:txBody>
      </p:sp>
      <p:sp>
        <p:nvSpPr>
          <p:cNvPr id="12" name="TextBox 11"/>
          <p:cNvSpPr txBox="1"/>
          <p:nvPr/>
        </p:nvSpPr>
        <p:spPr>
          <a:xfrm>
            <a:off x="8275320" y="2103120"/>
            <a:ext cx="3200400" cy="685800"/>
          </a:xfrm>
          <a:prstGeom prst="rect">
            <a:avLst/>
          </a:prstGeom>
          <a:noFill/>
        </p:spPr>
        <p:txBody>
          <a:bodyPr wrap="square" anchor="t" lIns="0" rIns="0" tIns="0" bIns="0">
            <a:spAutoFit/>
          </a:bodyPr>
          <a:lstStyle/>
          <a:p>
            <a:pPr algn="l">
              <a:lnSpc>
                <a:spcPct val="108000"/>
              </a:lnSpc>
            </a:pPr>
            <a:r>
              <a:rPr sz="1250" b="0" i="0">
                <a:solidFill>
                  <a:srgbClr val="FFFFFF"/>
                </a:solidFill>
                <a:latin typeface="Calibri"/>
              </a:rPr>
              <a:t>RBAC cross-domain giữa các bounded context</a:t>
            </a:r>
          </a:p>
        </p:txBody>
      </p:sp>
      <p:sp>
        <p:nvSpPr>
          <p:cNvPr id="13" name="TextBox 12"/>
          <p:cNvSpPr txBox="1"/>
          <p:nvPr/>
        </p:nvSpPr>
        <p:spPr>
          <a:xfrm>
            <a:off x="7955279" y="2880360"/>
            <a:ext cx="274320" cy="365760"/>
          </a:xfrm>
          <a:prstGeom prst="rect">
            <a:avLst/>
          </a:prstGeom>
          <a:noFill/>
        </p:spPr>
        <p:txBody>
          <a:bodyPr wrap="square" anchor="t" lIns="0" rIns="0" tIns="0" bIns="0">
            <a:spAutoFit/>
          </a:bodyPr>
          <a:lstStyle/>
          <a:p>
            <a:pPr algn="l"/>
            <a:r>
              <a:rPr sz="1300" b="1" i="0">
                <a:solidFill>
                  <a:srgbClr val="8AE6C9"/>
                </a:solidFill>
                <a:latin typeface="Calibri"/>
              </a:rPr>
              <a:t>→</a:t>
            </a:r>
          </a:p>
        </p:txBody>
      </p:sp>
      <p:sp>
        <p:nvSpPr>
          <p:cNvPr id="14" name="TextBox 13"/>
          <p:cNvSpPr txBox="1"/>
          <p:nvPr/>
        </p:nvSpPr>
        <p:spPr>
          <a:xfrm>
            <a:off x="8275320" y="2880360"/>
            <a:ext cx="3200400" cy="685800"/>
          </a:xfrm>
          <a:prstGeom prst="rect">
            <a:avLst/>
          </a:prstGeom>
          <a:noFill/>
        </p:spPr>
        <p:txBody>
          <a:bodyPr wrap="square" anchor="t" lIns="0" rIns="0" tIns="0" bIns="0">
            <a:spAutoFit/>
          </a:bodyPr>
          <a:lstStyle/>
          <a:p>
            <a:pPr algn="l">
              <a:lnSpc>
                <a:spcPct val="108000"/>
              </a:lnSpc>
            </a:pPr>
            <a:r>
              <a:rPr sz="1250" b="0" i="0">
                <a:solidFill>
                  <a:srgbClr val="FFFFFF"/>
                </a:solidFill>
                <a:latin typeface="Calibri"/>
              </a:rPr>
              <a:t>Thực thi SSD/DSD (RBAC₂) ở runtime guard</a:t>
            </a:r>
          </a:p>
        </p:txBody>
      </p:sp>
      <p:sp>
        <p:nvSpPr>
          <p:cNvPr id="15" name="TextBox 14"/>
          <p:cNvSpPr txBox="1"/>
          <p:nvPr/>
        </p:nvSpPr>
        <p:spPr>
          <a:xfrm>
            <a:off x="7955279" y="3657600"/>
            <a:ext cx="274320" cy="365760"/>
          </a:xfrm>
          <a:prstGeom prst="rect">
            <a:avLst/>
          </a:prstGeom>
          <a:noFill/>
        </p:spPr>
        <p:txBody>
          <a:bodyPr wrap="square" anchor="t" lIns="0" rIns="0" tIns="0" bIns="0">
            <a:spAutoFit/>
          </a:bodyPr>
          <a:lstStyle/>
          <a:p>
            <a:pPr algn="l"/>
            <a:r>
              <a:rPr sz="1300" b="1" i="0">
                <a:solidFill>
                  <a:srgbClr val="8AE6C9"/>
                </a:solidFill>
                <a:latin typeface="Calibri"/>
              </a:rPr>
              <a:t>→</a:t>
            </a:r>
          </a:p>
        </p:txBody>
      </p:sp>
      <p:sp>
        <p:nvSpPr>
          <p:cNvPr id="16" name="TextBox 15"/>
          <p:cNvSpPr txBox="1"/>
          <p:nvPr/>
        </p:nvSpPr>
        <p:spPr>
          <a:xfrm>
            <a:off x="8275320" y="3657600"/>
            <a:ext cx="3200400" cy="685800"/>
          </a:xfrm>
          <a:prstGeom prst="rect">
            <a:avLst/>
          </a:prstGeom>
          <a:noFill/>
        </p:spPr>
        <p:txBody>
          <a:bodyPr wrap="square" anchor="t" lIns="0" rIns="0" tIns="0" bIns="0">
            <a:spAutoFit/>
          </a:bodyPr>
          <a:lstStyle/>
          <a:p>
            <a:pPr algn="l">
              <a:lnSpc>
                <a:spcPct val="108000"/>
              </a:lnSpc>
            </a:pPr>
            <a:r>
              <a:rPr sz="1250" b="0" i="0">
                <a:solidFill>
                  <a:srgbClr val="FFFFFF"/>
                </a:solidFill>
                <a:latin typeface="Calibri"/>
              </a:rPr>
              <a:t>Đầu vào Mermaid; kiểm chứng USE tự động</a:t>
            </a:r>
          </a:p>
        </p:txBody>
      </p:sp>
      <p:sp>
        <p:nvSpPr>
          <p:cNvPr id="17" name="TextBox 16"/>
          <p:cNvSpPr txBox="1"/>
          <p:nvPr/>
        </p:nvSpPr>
        <p:spPr>
          <a:xfrm>
            <a:off x="7955279" y="4434840"/>
            <a:ext cx="274320" cy="365760"/>
          </a:xfrm>
          <a:prstGeom prst="rect">
            <a:avLst/>
          </a:prstGeom>
          <a:noFill/>
        </p:spPr>
        <p:txBody>
          <a:bodyPr wrap="square" anchor="t" lIns="0" rIns="0" tIns="0" bIns="0">
            <a:spAutoFit/>
          </a:bodyPr>
          <a:lstStyle/>
          <a:p>
            <a:pPr algn="l"/>
            <a:r>
              <a:rPr sz="1300" b="1" i="0">
                <a:solidFill>
                  <a:srgbClr val="8AE6C9"/>
                </a:solidFill>
                <a:latin typeface="Calibri"/>
              </a:rPr>
              <a:t>→</a:t>
            </a:r>
          </a:p>
        </p:txBody>
      </p:sp>
      <p:sp>
        <p:nvSpPr>
          <p:cNvPr id="18" name="TextBox 17"/>
          <p:cNvSpPr txBox="1"/>
          <p:nvPr/>
        </p:nvSpPr>
        <p:spPr>
          <a:xfrm>
            <a:off x="8275320" y="4434840"/>
            <a:ext cx="3200400" cy="685800"/>
          </a:xfrm>
          <a:prstGeom prst="rect">
            <a:avLst/>
          </a:prstGeom>
          <a:noFill/>
        </p:spPr>
        <p:txBody>
          <a:bodyPr wrap="square" anchor="t" lIns="0" rIns="0" tIns="0" bIns="0">
            <a:spAutoFit/>
          </a:bodyPr>
          <a:lstStyle/>
          <a:p>
            <a:pPr algn="l">
              <a:lnSpc>
                <a:spcPct val="108000"/>
              </a:lnSpc>
            </a:pPr>
            <a:r>
              <a:rPr sz="1250" b="0" i="0">
                <a:solidFill>
                  <a:srgbClr val="FFFFFF"/>
                </a:solidFill>
                <a:latin typeface="Calibri"/>
              </a:rPr>
              <a:t>Sinh test e2e kèm theo mã</a:t>
            </a:r>
          </a:p>
        </p:txBody>
      </p:sp>
      <p:sp>
        <p:nvSpPr>
          <p:cNvPr id="19" name="TextBox 18"/>
          <p:cNvSpPr txBox="1"/>
          <p:nvPr/>
        </p:nvSpPr>
        <p:spPr>
          <a:xfrm>
            <a:off x="868680" y="5760720"/>
            <a:ext cx="10515600" cy="548640"/>
          </a:xfrm>
          <a:prstGeom prst="rect">
            <a:avLst/>
          </a:prstGeom>
          <a:noFill/>
        </p:spPr>
        <p:txBody>
          <a:bodyPr wrap="square" anchor="t" lIns="0" rIns="0" tIns="0" bIns="0">
            <a:spAutoFit/>
          </a:bodyPr>
          <a:lstStyle/>
          <a:p>
            <a:pPr algn="l"/>
            <a:r>
              <a:rPr sz="1800" b="1" i="0">
                <a:solidFill>
                  <a:srgbClr val="FFFFFF"/>
                </a:solidFill>
                <a:latin typeface="Calibri"/>
              </a:rPr>
              <a:t>Trân trọng cảm ơn thầy/cô và hội đồng —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